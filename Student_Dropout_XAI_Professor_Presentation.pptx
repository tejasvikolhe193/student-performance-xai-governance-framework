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TO EVALUATOR (Speaking Script):</a:t>
            </a:r>
          </a:p>
          <a:p>
            <a:r>
              <a:t>"Good morning sir. Student attrition in technical secondary education is a major issue—when a student drops out, they lose career mobility and institutional resources are wasted. Our project replicates and significantly extends a recent 2025 IEEE paper by Silva et al. We built an end-to-end pipeline that not only catches dropouts with high sensitivity, but also uses Explainable AI so counselors know why a student is struggling, backed by strict algorithmic fairness auditing."</a:t>
            </a:r>
          </a:p>
          <a:p/>
          <a:p>
            <a:r>
              <a:t>KEY DEFENSE POINTS &amp; METHODOLOGY:</a:t>
            </a:r>
          </a:p>
          <a:p>
            <a:r>
              <a:t>• Target domain: Secondary Vocational Education in Brazilian Federal Institutes.</a:t>
            </a:r>
          </a:p>
          <a:p>
            <a:r>
              <a:t>• Replication baseline: Silva et al. (IEEE RITA 2025).</a:t>
            </a:r>
          </a:p>
          <a:p>
            <a:r>
              <a:t>• Key extension: Integrated operational GPA, full 48-experiment benchmark, SHAP/LIME, EEOC Four-Fifths fairness audits, and web command center.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TO EVALUATOR (Speaking Script):</a:t>
            </a:r>
          </a:p>
          <a:p>
            <a:r>
              <a:t>"We analyzed 15,084 real students from Brazilian Federal Institutes. Notice the heavy imbalance: 77.6% graduated, while only 22.4% dropped out. While the base paper excluded GPA to look only at pre-enrollment signals, we incorporated early academic metrics to create a genuine operational early-warning system, and added full multi-dimensional fairness auditing."</a:t>
            </a:r>
          </a:p>
          <a:p/>
          <a:p>
            <a:r>
              <a:t>KEY DEFENSE POINTS &amp; METHODOLOGY:</a:t>
            </a:r>
          </a:p>
          <a:p>
            <a:r>
              <a:t>• Filtered from 48,311 down to 15,084 secondary technical records.</a:t>
            </a:r>
          </a:p>
          <a:p>
            <a:r>
              <a:t>• Strict 80/20 train/test vault partition: 12,067 train, 3,017 held-out test.</a:t>
            </a:r>
          </a:p>
          <a:p>
            <a:r>
              <a:t>• Silva et al. focused on pre-enrollment; we added first-year operational GPA + full governance.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TO EVALUATOR (Speaking Script):</a:t>
            </a:r>
          </a:p>
          <a:p>
            <a:r>
              <a:t>"Here is what our EDA revealed: Attendance and GPA are cliffhanger variables. Dropping below 70% attendance or 5.0 GPA massively accelerates dropout risk. Furthermore, socioeconomic factors like laptop ownership show a clear divide. In preprocessing, we eliminated identifier leakage, clipped outliers using 1.5x IQR Winsorization so no student data was lost, and produced a clean 33-feature matrix."</a:t>
            </a:r>
          </a:p>
          <a:p/>
          <a:p>
            <a:r>
              <a:t>KEY DEFENSE POINTS &amp; METHODOLOGY:</a:t>
            </a:r>
          </a:p>
          <a:p>
            <a:r>
              <a:t>• Attendance Cliff: &lt;70% attendance results in 3.5x higher dropout rate.</a:t>
            </a:r>
          </a:p>
          <a:p>
            <a:r>
              <a:t>• Academic Cliff: Dropout cluster sharply below 5.0 GPA.</a:t>
            </a:r>
          </a:p>
          <a:p>
            <a:r>
              <a:t>• Winsorization preserves vulnerable student records instead of deleting outliers.</a:t>
            </a:r>
          </a:p>
          <a:p>
            <a:r>
              <a:t>• 33 features strictly formatted for tree-based XAI.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TO EVALUATOR (Speaking Script):</a:t>
            </a:r>
          </a:p>
          <a:p>
            <a:r>
              <a:t>"To ensure we didn't just pick an arbitrary model, we designed a 48-experiment benchmark matrix. We tested 4 balancing techniques against 3 feature selection methods across 4 model families. In education, Recall is our priority because failing to catch a dropping out student has a severe cost, while a false alarm is harmless."</a:t>
            </a:r>
          </a:p>
          <a:p/>
          <a:p>
            <a:r>
              <a:t>KEY DEFENSE POINTS &amp; METHODOLOGY:</a:t>
            </a:r>
          </a:p>
          <a:p>
            <a:r>
              <a:t>• 4 x 3 x 4 = 48 systematic configurations.</a:t>
            </a:r>
          </a:p>
          <a:p>
            <a:r>
              <a:t>• Balancing applied strictly to training folds.</a:t>
            </a:r>
          </a:p>
          <a:p>
            <a:r>
              <a:t>• Clinical metric priority: Recall 1st (sensitivity to at-risk students), Precision 2nd (staff efficiency).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TO EVALUATOR (Speaking Script):</a:t>
            </a:r>
          </a:p>
          <a:p>
            <a:r>
              <a:t>"Here are the empirical results on our 3,017 held-out students. While SVM had the highest raw recall, its precision collapsed to 23%. Our Random Forest with UnderSampling achieved the optimal balance: an 84.8% recall and 83.6% precision with a 0.951 ROC-AUC, making it our institutional champion."</a:t>
            </a:r>
          </a:p>
          <a:p/>
          <a:p>
            <a:r>
              <a:t>KEY DEFENSE POINTS &amp; METHODOLOGY:</a:t>
            </a:r>
          </a:p>
          <a:p>
            <a:r>
              <a:t>• Random Forest caught 573 out of 676 true dropouts.</a:t>
            </a:r>
          </a:p>
          <a:p>
            <a:r>
              <a:t>• False positive burden was kept to just 112 students across the entire institution.</a:t>
            </a:r>
          </a:p>
          <a:p>
            <a:r>
              <a:t>• SVM failed due to hyper-aggressive threshold collapse (flagged nearly everyone).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TO EVALUATOR (Speaking Script):</a:t>
            </a:r>
          </a:p>
          <a:p>
            <a:r>
              <a:t>"To explain the Random Forest, we used SHAP TreeExplainer. As you can see in the beeswarm plot, Cumulative GPA is the #1 driver, followed immediately by Attendance Rate and Course Failures. Blue dots representing low GPA and low attendance push students strongly to the right into the high-risk dropout zone."</a:t>
            </a:r>
          </a:p>
          <a:p/>
          <a:p>
            <a:r>
              <a:t>KEY DEFENSE POINTS &amp; METHODOLOGY:</a:t>
            </a:r>
          </a:p>
          <a:p>
            <a:r>
              <a:t>• Computed across all 3,017 test vault students using exact TreeExplainer.</a:t>
            </a:r>
          </a:p>
          <a:p>
            <a:r>
              <a:t>• GPA alone accounts for more attribution than all other features combined.</a:t>
            </a:r>
          </a:p>
          <a:p>
            <a:r>
              <a:t>• Proves model uses causal behavioral and academic signals, not demographic proxies.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TO EVALUATOR (Speaking Script):</a:t>
            </a:r>
          </a:p>
          <a:p>
            <a:r>
              <a:t>"Macro SHAP gives the overall picture, but counselors work with individual students. Using LIME, we generate local risk breakdowns showing the exact factors driving that student's score. Furthermore, our counterfactual sensitivity analysis calculates what specific changes—like raising attendance by 15%—are needed to flip the student back to safety."</a:t>
            </a:r>
          </a:p>
          <a:p/>
          <a:p>
            <a:r>
              <a:t>KEY DEFENSE POINTS &amp; METHODOLOGY:</a:t>
            </a:r>
          </a:p>
          <a:p>
            <a:r>
              <a:t>• Three distinct clinical archetypes: Crisis (99%), Borderline (65%), Safe (3%).</a:t>
            </a:r>
          </a:p>
          <a:p>
            <a:r>
              <a:t>• Counterfactual threshold: attendance +17% flips Student #43 from high-risk to safe zone.</a:t>
            </a:r>
          </a:p>
          <a:p>
            <a:r>
              <a:t>• Directly powers the interactive slider in Tab 3 of the live portal.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TO EVALUATOR (Speaking Script):</a:t>
            </a:r>
          </a:p>
          <a:p>
            <a:r>
              <a:t>"In Phase 4, we audited for bias using the EEOC Four-Fifths rule. Our model passed the race equity audit with a 1.18 Disparate Impact ratio. To go beyond single dimensions, we evaluated an 8-group Intersectional Matrix across Gender, Race, and Income using 100% real empirical data, proving that vulnerable compound groups maintain high sensitivity without disparate over-flagging."</a:t>
            </a:r>
          </a:p>
          <a:p/>
          <a:p>
            <a:r>
              <a:t>KEY DEFENSE POINTS &amp; METHODOLOGY:</a:t>
            </a:r>
          </a:p>
          <a:p>
            <a:r>
              <a:t>• EEOC 80% Rule: 0.80 &lt;= Disparate Impact &lt;= 1.25.</a:t>
            </a:r>
          </a:p>
          <a:p>
            <a:r>
              <a:t>• Race passed with 1.18 Disparate Impact ratio.</a:t>
            </a:r>
          </a:p>
          <a:p>
            <a:r>
              <a:t>• Over-flagging in low-income/adults tracks higher baseline real-world dropout, confirmed by equal recall parity.</a:t>
            </a:r>
          </a:p>
          <a:p>
            <a:r>
              <a:t>• Zero synthetic records: All 3,017 test students traced back to raw institutional files.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TO EVALUATOR (Speaking Script):</a:t>
            </a:r>
          </a:p>
          <a:p>
            <a:r>
              <a:t>"We addressed two critical edge cases: first, we separated active students from administrative zero-GPA dropouts, proving our model catches active students with 80.8% recall. Second, we disaggregated adult courses to account for higher baseline attrition. Finally, we bound the model to a 5-pillar Governance Charter ensuring human counselors always maintain final authority."</a:t>
            </a:r>
          </a:p>
          <a:p/>
          <a:p>
            <a:r>
              <a:t>KEY DEFENSE POINTS &amp; METHODOLOGY:</a:t>
            </a:r>
          </a:p>
          <a:p>
            <a:r>
              <a:t>• Active student test (GPA &gt; 0, N=2,722) delivers 80.8% Recall — not cheating on Day 1 dropouts.</a:t>
            </a:r>
          </a:p>
          <a:p>
            <a:r>
              <a:t>• Modality disaggregation confirms flags align with real-world adult work conflicts.</a:t>
            </a:r>
          </a:p>
          <a:p>
            <a:r>
              <a:t>• Governance charter establishes legally compliant, advisory-only deployment guardrails.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TO EVALUATOR (Speaking Script):</a:t>
            </a:r>
          </a:p>
          <a:p>
            <a:r>
              <a:t>"In summary, we took a research paper from IEEE and expanded it into a production-grade, fair, and explainable governance system. Let me now transition to our live Unified AI Governance Command Center to demonstrate how it works."</a:t>
            </a:r>
          </a:p>
          <a:p/>
          <a:p>
            <a:r>
              <a:t>KEY DEFENSE POINTS &amp; METHODOLOGY:</a:t>
            </a:r>
          </a:p>
          <a:p>
            <a:r>
              <a:t>• Step 2 Transition: Open unified_governance_portal.html in browser.</a:t>
            </a:r>
          </a:p>
          <a:p>
            <a:r>
              <a:t>• Follow the 2-minute route: Tab 1 -&gt; Tab 2 -&gt; Tab 3 (highlight Student #43 slider) -&gt; Tab 4 -&gt; Tab 5.</a:t>
            </a:r>
          </a:p>
          <a:p>
            <a:r>
              <a:t>• Demonstrates fully working engineering artifact.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TO EVALUATOR (Speaking Script):</a:t>
            </a:r>
          </a:p>
          <a:p>
            <a:r>
              <a:t>"Strict Evaluator Defense: When asked why you only used this dataset, emphasize demographic authenticity. UCI and OULAD do not have self-declared Race and Family Income variables needed for EEOC fairness audits. When asked why Random Forest over Deep Learning, cite NeurIPS tabular benchmarks showing tree ensembles beat DNNs on tabular data."</a:t>
            </a:r>
          </a:p>
          <a:p/>
          <a:p>
            <a:r>
              <a:t>KEY DEFENSE POINTS &amp; METHODOLOGY:</a:t>
            </a:r>
          </a:p>
          <a:p>
            <a:r>
              <a:t>• UCI/OULAD lack demographic triad needed for intersectional fairness.</a:t>
            </a:r>
          </a:p>
          <a:p>
            <a:r>
              <a:t>• RF provides exact polynomial TreeExplainer SHAP attribution.</a:t>
            </a:r>
          </a:p>
          <a:p>
            <a:r>
              <a:t>• Pipeline architecture is modular and ready for additional datasets.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TO EVALUATOR (Speaking Script):</a:t>
            </a:r>
          </a:p>
          <a:p>
            <a:r>
              <a:t>"Strict Evaluator Defense: Defend GPA inclusion as an operational upgrade over Silva et al.'s pre-enrollment limitation. Reiterate that zero synthetic students were audited for fairness—all 3,017 test students are authentic human records. Mention phase1_outputs reproducibility."</a:t>
            </a:r>
          </a:p>
          <a:p/>
          <a:p>
            <a:r>
              <a:t>KEY DEFENSE POINTS &amp; METHODOLOGY:</a:t>
            </a:r>
          </a:p>
          <a:p>
            <a:r>
              <a:t>• Silva et al. focused on pre-enrollment; operational early-warning requires first-term GPA.</a:t>
            </a:r>
          </a:p>
          <a:p>
            <a:r>
              <a:t>• Zero synthetic students in fairness audit.</a:t>
            </a:r>
          </a:p>
          <a:p>
            <a:r>
              <a:t>• End-to-end reproducible pipeline from raw 48k to clean 15k.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00"/>
            <a:ext cx="12188952" cy="2286000"/>
          </a:xfrm>
          <a:prstGeom prst="rect">
            <a:avLst/>
          </a:prstGeom>
          <a:solidFill>
            <a:srgbClr val="0F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777240"/>
            <a:ext cx="128016" cy="36576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777240"/>
            <a:ext cx="10515600" cy="1737360"/>
          </a:xfrm>
          <a:prstGeom prst="rect">
            <a:avLst/>
          </a:prstGeom>
          <a:noFill/>
        </p:spPr>
        <p:txBody>
          <a:bodyPr wrap="square">
            <a:spAutoFit/>
          </a:bodyPr>
          <a:lstStyle/>
          <a:p>
            <a:pPr algn="l"/>
            <a:r>
              <a:rPr sz="3800" b="1" i="0">
                <a:solidFill>
                  <a:srgbClr val="FFFFFF"/>
                </a:solidFill>
              </a:rPr>
              <a:t>Student Dropout Explainable AI &amp;
Governance Framework</a:t>
            </a:r>
          </a:p>
        </p:txBody>
      </p:sp>
      <p:sp>
        <p:nvSpPr>
          <p:cNvPr id="6" name="TextBox 5"/>
          <p:cNvSpPr txBox="1"/>
          <p:nvPr/>
        </p:nvSpPr>
        <p:spPr>
          <a:xfrm>
            <a:off x="777240" y="2606040"/>
            <a:ext cx="10515600" cy="457200"/>
          </a:xfrm>
          <a:prstGeom prst="rect">
            <a:avLst/>
          </a:prstGeom>
          <a:noFill/>
        </p:spPr>
        <p:txBody>
          <a:bodyPr wrap="square">
            <a:spAutoFit/>
          </a:bodyPr>
          <a:lstStyle/>
          <a:p>
            <a:pPr algn="l"/>
            <a:r>
              <a:rPr sz="1600" b="0" i="0">
                <a:solidFill>
                  <a:srgbClr val="93C5FD"/>
                </a:solidFill>
              </a:rPr>
              <a:t>An Institutional Early-Warning &amp; Algorithmic Fairness Audit System</a:t>
            </a:r>
          </a:p>
        </p:txBody>
      </p:sp>
      <p:sp>
        <p:nvSpPr>
          <p:cNvPr id="7" name="TextBox 6"/>
          <p:cNvSpPr txBox="1"/>
          <p:nvPr/>
        </p:nvSpPr>
        <p:spPr>
          <a:xfrm>
            <a:off x="777240" y="3154680"/>
            <a:ext cx="10515600" cy="731520"/>
          </a:xfrm>
          <a:prstGeom prst="rect">
            <a:avLst/>
          </a:prstGeom>
          <a:noFill/>
        </p:spPr>
        <p:txBody>
          <a:bodyPr wrap="square">
            <a:spAutoFit/>
          </a:bodyPr>
          <a:lstStyle/>
          <a:p>
            <a:pPr algn="l"/>
            <a:r>
              <a:rPr sz="1200" b="0" i="1">
                <a:solidFill>
                  <a:srgbClr val="BFDBFF"/>
                </a:solidFill>
              </a:rPr>
              <a:t>Comprehensive Replication &amp; Production Extension of:
Silva et al., "An Investigation Into Dropout Indicators in Secondary Technical Education Using Explainable AI" (IEEE RITA, 2025)</a:t>
            </a:r>
          </a:p>
        </p:txBody>
      </p:sp>
      <p:sp>
        <p:nvSpPr>
          <p:cNvPr id="8" name="Rectangle 7"/>
          <p:cNvSpPr/>
          <p:nvPr/>
        </p:nvSpPr>
        <p:spPr>
          <a:xfrm>
            <a:off x="777240" y="3977639"/>
            <a:ext cx="3383280" cy="868680"/>
          </a:xfrm>
          <a:prstGeom prst="rect">
            <a:avLst/>
          </a:prstGeom>
          <a:solidFill>
            <a:srgbClr val="1E293B"/>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23360"/>
            <a:ext cx="3108960" cy="274320"/>
          </a:xfrm>
          <a:prstGeom prst="rect">
            <a:avLst/>
          </a:prstGeom>
          <a:noFill/>
        </p:spPr>
        <p:txBody>
          <a:bodyPr wrap="square">
            <a:spAutoFit/>
          </a:bodyPr>
          <a:lstStyle/>
          <a:p>
            <a:pPr algn="l"/>
            <a:r>
              <a:rPr sz="1100" b="1" i="0">
                <a:solidFill>
                  <a:srgbClr val="DC2626"/>
                </a:solidFill>
              </a:rPr>
              <a:t>The Crisis</a:t>
            </a:r>
          </a:p>
        </p:txBody>
      </p:sp>
      <p:sp>
        <p:nvSpPr>
          <p:cNvPr id="10" name="TextBox 9"/>
          <p:cNvSpPr txBox="1"/>
          <p:nvPr/>
        </p:nvSpPr>
        <p:spPr>
          <a:xfrm>
            <a:off x="914400" y="4297680"/>
            <a:ext cx="3108960" cy="502920"/>
          </a:xfrm>
          <a:prstGeom prst="rect">
            <a:avLst/>
          </a:prstGeom>
          <a:noFill/>
        </p:spPr>
        <p:txBody>
          <a:bodyPr wrap="square">
            <a:spAutoFit/>
          </a:bodyPr>
          <a:lstStyle/>
          <a:p>
            <a:pPr algn="l"/>
            <a:r>
              <a:rPr sz="950" b="0" i="0">
                <a:solidFill>
                  <a:srgbClr val="E2E8F0"/>
                </a:solidFill>
              </a:rPr>
              <a:t>Technical secondary dropout costs institutional budgets and limits socioeconomic mobility.</a:t>
            </a:r>
          </a:p>
        </p:txBody>
      </p:sp>
      <p:sp>
        <p:nvSpPr>
          <p:cNvPr id="11" name="Rectangle 10"/>
          <p:cNvSpPr/>
          <p:nvPr/>
        </p:nvSpPr>
        <p:spPr>
          <a:xfrm>
            <a:off x="4389120" y="3977639"/>
            <a:ext cx="3383280" cy="868680"/>
          </a:xfrm>
          <a:prstGeom prst="rect">
            <a:avLst/>
          </a:prstGeom>
          <a:solidFill>
            <a:srgbClr val="1E293B"/>
          </a:solidFill>
          <a:ln w="19050">
            <a:solidFill>
              <a:srgbClr val="059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4023360"/>
            <a:ext cx="3108960" cy="274320"/>
          </a:xfrm>
          <a:prstGeom prst="rect">
            <a:avLst/>
          </a:prstGeom>
          <a:noFill/>
        </p:spPr>
        <p:txBody>
          <a:bodyPr wrap="square">
            <a:spAutoFit/>
          </a:bodyPr>
          <a:lstStyle/>
          <a:p>
            <a:pPr algn="l"/>
            <a:r>
              <a:rPr sz="1100" b="1" i="0">
                <a:solidFill>
                  <a:srgbClr val="059652"/>
                </a:solidFill>
              </a:rPr>
              <a:t>The Objective</a:t>
            </a:r>
          </a:p>
        </p:txBody>
      </p:sp>
      <p:sp>
        <p:nvSpPr>
          <p:cNvPr id="13" name="TextBox 12"/>
          <p:cNvSpPr txBox="1"/>
          <p:nvPr/>
        </p:nvSpPr>
        <p:spPr>
          <a:xfrm>
            <a:off x="4526280" y="4297680"/>
            <a:ext cx="3108960" cy="502920"/>
          </a:xfrm>
          <a:prstGeom prst="rect">
            <a:avLst/>
          </a:prstGeom>
          <a:noFill/>
        </p:spPr>
        <p:txBody>
          <a:bodyPr wrap="square">
            <a:spAutoFit/>
          </a:bodyPr>
          <a:lstStyle/>
          <a:p>
            <a:pPr algn="l"/>
            <a:r>
              <a:rPr sz="950" b="0" i="0">
                <a:solidFill>
                  <a:srgbClr val="E2E8F0"/>
                </a:solidFill>
              </a:rPr>
              <a:t>Predict dropout risk with high recall, furnish causal XAI explanations, and certify fairness.</a:t>
            </a:r>
          </a:p>
        </p:txBody>
      </p:sp>
      <p:sp>
        <p:nvSpPr>
          <p:cNvPr id="14" name="Rectangle 13"/>
          <p:cNvSpPr/>
          <p:nvPr/>
        </p:nvSpPr>
        <p:spPr>
          <a:xfrm>
            <a:off x="8001000" y="3977639"/>
            <a:ext cx="3383280" cy="868680"/>
          </a:xfrm>
          <a:prstGeom prst="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4023360"/>
            <a:ext cx="3108960" cy="274320"/>
          </a:xfrm>
          <a:prstGeom prst="rect">
            <a:avLst/>
          </a:prstGeom>
          <a:noFill/>
        </p:spPr>
        <p:txBody>
          <a:bodyPr wrap="square">
            <a:spAutoFit/>
          </a:bodyPr>
          <a:lstStyle/>
          <a:p>
            <a:pPr algn="l"/>
            <a:r>
              <a:rPr sz="1100" b="1" i="0">
                <a:solidFill>
                  <a:srgbClr val="2563EB"/>
                </a:solidFill>
              </a:rPr>
              <a:t>Core Deliverables</a:t>
            </a:r>
          </a:p>
        </p:txBody>
      </p:sp>
      <p:sp>
        <p:nvSpPr>
          <p:cNvPr id="16" name="TextBox 15"/>
          <p:cNvSpPr txBox="1"/>
          <p:nvPr/>
        </p:nvSpPr>
        <p:spPr>
          <a:xfrm>
            <a:off x="8138160" y="4297680"/>
            <a:ext cx="3108960" cy="502920"/>
          </a:xfrm>
          <a:prstGeom prst="rect">
            <a:avLst/>
          </a:prstGeom>
          <a:noFill/>
        </p:spPr>
        <p:txBody>
          <a:bodyPr wrap="square">
            <a:spAutoFit/>
          </a:bodyPr>
          <a:lstStyle/>
          <a:p>
            <a:pPr algn="l"/>
            <a:r>
              <a:rPr sz="950" b="0" i="0">
                <a:solidFill>
                  <a:srgbClr val="E2E8F0"/>
                </a:solidFill>
              </a:rPr>
              <a:t>48-experiment benchmark, SHAP/LIME cards, 8-group fairness matrix, &amp; live web portal.</a:t>
            </a:r>
          </a:p>
        </p:txBody>
      </p:sp>
      <p:sp>
        <p:nvSpPr>
          <p:cNvPr id="17" name="Rectangle 16"/>
          <p:cNvSpPr/>
          <p:nvPr/>
        </p:nvSpPr>
        <p:spPr>
          <a:xfrm>
            <a:off x="777240" y="5029200"/>
            <a:ext cx="2286000" cy="8686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065776"/>
            <a:ext cx="2103120" cy="457200"/>
          </a:xfrm>
          <a:prstGeom prst="rect">
            <a:avLst/>
          </a:prstGeom>
          <a:noFill/>
        </p:spPr>
        <p:txBody>
          <a:bodyPr wrap="square">
            <a:spAutoFit/>
          </a:bodyPr>
          <a:lstStyle/>
          <a:p>
            <a:pPr algn="ctr"/>
            <a:r>
              <a:rPr sz="2300" b="1" i="0">
                <a:solidFill>
                  <a:srgbClr val="FFFFFF"/>
                </a:solidFill>
              </a:rPr>
              <a:t>15,084</a:t>
            </a:r>
          </a:p>
        </p:txBody>
      </p:sp>
      <p:sp>
        <p:nvSpPr>
          <p:cNvPr id="19" name="TextBox 18"/>
          <p:cNvSpPr txBox="1"/>
          <p:nvPr/>
        </p:nvSpPr>
        <p:spPr>
          <a:xfrm>
            <a:off x="868680" y="5504688"/>
            <a:ext cx="2103120" cy="320040"/>
          </a:xfrm>
          <a:prstGeom prst="rect">
            <a:avLst/>
          </a:prstGeom>
          <a:noFill/>
        </p:spPr>
        <p:txBody>
          <a:bodyPr wrap="square">
            <a:spAutoFit/>
          </a:bodyPr>
          <a:lstStyle/>
          <a:p>
            <a:pPr algn="ctr"/>
            <a:r>
              <a:rPr sz="950" b="0" i="0">
                <a:solidFill>
                  <a:srgbClr val="BFDBFF"/>
                </a:solidFill>
              </a:rPr>
              <a:t>Student Cohort</a:t>
            </a:r>
          </a:p>
        </p:txBody>
      </p:sp>
      <p:sp>
        <p:nvSpPr>
          <p:cNvPr id="20" name="Rectangle 19"/>
          <p:cNvSpPr/>
          <p:nvPr/>
        </p:nvSpPr>
        <p:spPr>
          <a:xfrm>
            <a:off x="3566160" y="5029200"/>
            <a:ext cx="2286000" cy="8686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0" y="5065776"/>
            <a:ext cx="2103120" cy="457200"/>
          </a:xfrm>
          <a:prstGeom prst="rect">
            <a:avLst/>
          </a:prstGeom>
          <a:noFill/>
        </p:spPr>
        <p:txBody>
          <a:bodyPr wrap="square">
            <a:spAutoFit/>
          </a:bodyPr>
          <a:lstStyle/>
          <a:p>
            <a:pPr algn="ctr"/>
            <a:r>
              <a:rPr sz="2300" b="1" i="0">
                <a:solidFill>
                  <a:srgbClr val="FFFFFF"/>
                </a:solidFill>
              </a:rPr>
              <a:t>48</a:t>
            </a:r>
          </a:p>
        </p:txBody>
      </p:sp>
      <p:sp>
        <p:nvSpPr>
          <p:cNvPr id="22" name="TextBox 21"/>
          <p:cNvSpPr txBox="1"/>
          <p:nvPr/>
        </p:nvSpPr>
        <p:spPr>
          <a:xfrm>
            <a:off x="3657600" y="5504688"/>
            <a:ext cx="2103120" cy="320040"/>
          </a:xfrm>
          <a:prstGeom prst="rect">
            <a:avLst/>
          </a:prstGeom>
          <a:noFill/>
        </p:spPr>
        <p:txBody>
          <a:bodyPr wrap="square">
            <a:spAutoFit/>
          </a:bodyPr>
          <a:lstStyle/>
          <a:p>
            <a:pPr algn="ctr"/>
            <a:r>
              <a:rPr sz="950" b="0" i="0">
                <a:solidFill>
                  <a:srgbClr val="BFDBFF"/>
                </a:solidFill>
              </a:rPr>
              <a:t>Benchmark Experiments</a:t>
            </a:r>
          </a:p>
        </p:txBody>
      </p:sp>
      <p:sp>
        <p:nvSpPr>
          <p:cNvPr id="23" name="Rectangle 22"/>
          <p:cNvSpPr/>
          <p:nvPr/>
        </p:nvSpPr>
        <p:spPr>
          <a:xfrm>
            <a:off x="6355080" y="5029200"/>
            <a:ext cx="2286000" cy="8686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5065776"/>
            <a:ext cx="2103120" cy="457200"/>
          </a:xfrm>
          <a:prstGeom prst="rect">
            <a:avLst/>
          </a:prstGeom>
          <a:noFill/>
        </p:spPr>
        <p:txBody>
          <a:bodyPr wrap="square">
            <a:spAutoFit/>
          </a:bodyPr>
          <a:lstStyle/>
          <a:p>
            <a:pPr algn="ctr"/>
            <a:r>
              <a:rPr sz="2300" b="1" i="0">
                <a:solidFill>
                  <a:srgbClr val="FFFFFF"/>
                </a:solidFill>
              </a:rPr>
              <a:t>3,017</a:t>
            </a:r>
          </a:p>
        </p:txBody>
      </p:sp>
      <p:sp>
        <p:nvSpPr>
          <p:cNvPr id="25" name="TextBox 24"/>
          <p:cNvSpPr txBox="1"/>
          <p:nvPr/>
        </p:nvSpPr>
        <p:spPr>
          <a:xfrm>
            <a:off x="6446520" y="5504688"/>
            <a:ext cx="2103120" cy="320040"/>
          </a:xfrm>
          <a:prstGeom prst="rect">
            <a:avLst/>
          </a:prstGeom>
          <a:noFill/>
        </p:spPr>
        <p:txBody>
          <a:bodyPr wrap="square">
            <a:spAutoFit/>
          </a:bodyPr>
          <a:lstStyle/>
          <a:p>
            <a:pPr algn="ctr"/>
            <a:r>
              <a:rPr sz="950" b="0" i="0">
                <a:solidFill>
                  <a:srgbClr val="BFDBFF"/>
                </a:solidFill>
              </a:rPr>
              <a:t>Held-Out Test Vault</a:t>
            </a:r>
          </a:p>
        </p:txBody>
      </p:sp>
      <p:sp>
        <p:nvSpPr>
          <p:cNvPr id="26" name="Rectangle 25"/>
          <p:cNvSpPr/>
          <p:nvPr/>
        </p:nvSpPr>
        <p:spPr>
          <a:xfrm>
            <a:off x="9144000" y="5029200"/>
            <a:ext cx="2286000" cy="8686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5065776"/>
            <a:ext cx="2103120" cy="457200"/>
          </a:xfrm>
          <a:prstGeom prst="rect">
            <a:avLst/>
          </a:prstGeom>
          <a:noFill/>
        </p:spPr>
        <p:txBody>
          <a:bodyPr wrap="square">
            <a:spAutoFit/>
          </a:bodyPr>
          <a:lstStyle/>
          <a:p>
            <a:pPr algn="ctr"/>
            <a:r>
              <a:rPr sz="2300" b="1" i="0">
                <a:solidFill>
                  <a:srgbClr val="FFFFFF"/>
                </a:solidFill>
              </a:rPr>
              <a:t>8+</a:t>
            </a:r>
          </a:p>
        </p:txBody>
      </p:sp>
      <p:sp>
        <p:nvSpPr>
          <p:cNvPr id="28" name="TextBox 27"/>
          <p:cNvSpPr txBox="1"/>
          <p:nvPr/>
        </p:nvSpPr>
        <p:spPr>
          <a:xfrm>
            <a:off x="9235440" y="5504688"/>
            <a:ext cx="2103120" cy="320040"/>
          </a:xfrm>
          <a:prstGeom prst="rect">
            <a:avLst/>
          </a:prstGeom>
          <a:noFill/>
        </p:spPr>
        <p:txBody>
          <a:bodyPr wrap="square">
            <a:spAutoFit/>
          </a:bodyPr>
          <a:lstStyle/>
          <a:p>
            <a:pPr algn="ctr"/>
            <a:r>
              <a:rPr sz="950" b="0" i="0">
                <a:solidFill>
                  <a:srgbClr val="BFDBFF"/>
                </a:solidFill>
              </a:rPr>
              <a:t>Demographic Slices</a:t>
            </a:r>
          </a:p>
        </p:txBody>
      </p:sp>
      <p:sp>
        <p:nvSpPr>
          <p:cNvPr id="29" name="TextBox 28"/>
          <p:cNvSpPr txBox="1"/>
          <p:nvPr/>
        </p:nvSpPr>
        <p:spPr>
          <a:xfrm>
            <a:off x="777240" y="6172200"/>
            <a:ext cx="10515600" cy="320040"/>
          </a:xfrm>
          <a:prstGeom prst="rect">
            <a:avLst/>
          </a:prstGeom>
          <a:noFill/>
        </p:spPr>
        <p:txBody>
          <a:bodyPr wrap="square">
            <a:spAutoFit/>
          </a:bodyPr>
          <a:lstStyle/>
          <a:p>
            <a:pPr algn="l"/>
            <a:r>
              <a:rPr sz="1000" b="0" i="0">
                <a:solidFill>
                  <a:srgbClr val="94A3B8"/>
                </a:solidFill>
              </a:rPr>
              <a:t>Department of Computer Engineering  |  IEEE RITA 2025 Replication &amp; Extension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66928"/>
          </a:xfrm>
          <a:prstGeom prst="rect">
            <a:avLst/>
          </a:prstGeom>
          <a:noFill/>
        </p:spPr>
        <p:txBody>
          <a:bodyPr wrap="square">
            <a:spAutoFit/>
          </a:bodyPr>
          <a:lstStyle/>
          <a:p>
            <a:pPr algn="l"/>
            <a:r>
              <a:rPr sz="2300" b="1" i="0">
                <a:solidFill>
                  <a:srgbClr val="FFFFFF"/>
                </a:solidFill>
              </a:rPr>
              <a:t>Slide 2: Institutional Dataset &amp; Research Baseline</a:t>
            </a:r>
          </a:p>
        </p:txBody>
      </p:sp>
      <p:sp>
        <p:nvSpPr>
          <p:cNvPr id="5" name="TextBox 4"/>
          <p:cNvSpPr txBox="1"/>
          <p:nvPr/>
        </p:nvSpPr>
        <p:spPr>
          <a:xfrm>
            <a:off x="365760" y="640080"/>
            <a:ext cx="11430000" cy="411480"/>
          </a:xfrm>
          <a:prstGeom prst="rect">
            <a:avLst/>
          </a:prstGeom>
          <a:noFill/>
        </p:spPr>
        <p:txBody>
          <a:bodyPr wrap="square">
            <a:spAutoFit/>
          </a:bodyPr>
          <a:lstStyle/>
          <a:p>
            <a:pPr algn="l"/>
            <a:r>
              <a:rPr sz="1100" b="0" i="0">
                <a:solidFill>
                  <a:srgbClr val="BFDBFF"/>
                </a:solidFill>
              </a:rPr>
              <a:t>Official administrative student database — Brazilian Federal Institutes (Institutos Federais)</a:t>
            </a:r>
          </a:p>
        </p:txBody>
      </p:sp>
      <p:sp>
        <p:nvSpPr>
          <p:cNvPr id="6" name="Rectangle 5"/>
          <p:cNvSpPr/>
          <p:nvPr/>
        </p:nvSpPr>
        <p:spPr>
          <a:xfrm>
            <a:off x="0" y="6565392"/>
            <a:ext cx="12188952"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74536"/>
            <a:ext cx="9601200" cy="256032"/>
          </a:xfrm>
          <a:prstGeom prst="rect">
            <a:avLst/>
          </a:prstGeom>
          <a:noFill/>
        </p:spPr>
        <p:txBody>
          <a:bodyPr wrap="square">
            <a:spAutoFit/>
          </a:bodyPr>
          <a:lstStyle/>
          <a:p>
            <a:pPr algn="l"/>
            <a:r>
              <a:rPr sz="850" b="0" i="0">
                <a:solidFill>
                  <a:srgbClr val="FFFFFF"/>
                </a:solidFill>
              </a:rPr>
              <a:t>Student Dropout XAI &amp; Governance Framework  |  Evaluation Presentation &amp; Defense</a:t>
            </a:r>
          </a:p>
        </p:txBody>
      </p:sp>
      <p:sp>
        <p:nvSpPr>
          <p:cNvPr id="8" name="TextBox 7"/>
          <p:cNvSpPr txBox="1"/>
          <p:nvPr/>
        </p:nvSpPr>
        <p:spPr>
          <a:xfrm>
            <a:off x="10515600" y="6574536"/>
            <a:ext cx="1371600" cy="256032"/>
          </a:xfrm>
          <a:prstGeom prst="rect">
            <a:avLst/>
          </a:prstGeom>
          <a:noFill/>
        </p:spPr>
        <p:txBody>
          <a:bodyPr wrap="square">
            <a:spAutoFit/>
          </a:bodyPr>
          <a:lstStyle/>
          <a:p>
            <a:pPr algn="r"/>
            <a:r>
              <a:rPr sz="850" b="0" i="0">
                <a:solidFill>
                  <a:srgbClr val="FFFFFF"/>
                </a:solidFill>
              </a:rPr>
              <a:t>Slide 2 of 10</a:t>
            </a:r>
          </a:p>
        </p:txBody>
      </p:sp>
      <p:sp>
        <p:nvSpPr>
          <p:cNvPr id="9" name="Rectangle 8"/>
          <p:cNvSpPr/>
          <p:nvPr/>
        </p:nvSpPr>
        <p:spPr>
          <a:xfrm>
            <a:off x="320040" y="1280160"/>
            <a:ext cx="4023360" cy="5074920"/>
          </a:xfrm>
          <a:prstGeom prst="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371600"/>
            <a:ext cx="3749039" cy="320040"/>
          </a:xfrm>
          <a:prstGeom prst="rect">
            <a:avLst/>
          </a:prstGeom>
          <a:noFill/>
        </p:spPr>
        <p:txBody>
          <a:bodyPr wrap="square">
            <a:spAutoFit/>
          </a:bodyPr>
          <a:lstStyle/>
          <a:p>
            <a:pPr algn="l"/>
            <a:r>
              <a:rPr sz="1300" b="1" i="0">
                <a:solidFill>
                  <a:srgbClr val="1E3A8A"/>
                </a:solidFill>
              </a:rPr>
              <a:t>Cohort &amp; Split Specification</a:t>
            </a:r>
          </a:p>
        </p:txBody>
      </p:sp>
      <p:sp>
        <p:nvSpPr>
          <p:cNvPr id="11" name="TextBox 10"/>
          <p:cNvSpPr txBox="1"/>
          <p:nvPr/>
        </p:nvSpPr>
        <p:spPr>
          <a:xfrm>
            <a:off x="457200" y="1783080"/>
            <a:ext cx="3749039" cy="548640"/>
          </a:xfrm>
          <a:prstGeom prst="rect">
            <a:avLst/>
          </a:prstGeom>
          <a:noFill/>
        </p:spPr>
        <p:txBody>
          <a:bodyPr wrap="square">
            <a:spAutoFit/>
          </a:bodyPr>
          <a:lstStyle/>
          <a:p>
            <a:pPr algn="l"/>
            <a:r>
              <a:rPr sz="1050" b="0" i="0">
                <a:solidFill>
                  <a:srgbClr val="1F2937"/>
                </a:solidFill>
              </a:rPr>
              <a:t>  • Raw Population: Filtered from 48,311 administrative records down to 15,084 secondary technical students</a:t>
            </a:r>
          </a:p>
        </p:txBody>
      </p:sp>
      <p:sp>
        <p:nvSpPr>
          <p:cNvPr id="12" name="TextBox 11"/>
          <p:cNvSpPr txBox="1"/>
          <p:nvPr/>
        </p:nvSpPr>
        <p:spPr>
          <a:xfrm>
            <a:off x="457200" y="2286000"/>
            <a:ext cx="3749039" cy="548640"/>
          </a:xfrm>
          <a:prstGeom prst="rect">
            <a:avLst/>
          </a:prstGeom>
          <a:noFill/>
        </p:spPr>
        <p:txBody>
          <a:bodyPr wrap="square">
            <a:spAutoFit/>
          </a:bodyPr>
          <a:lstStyle/>
          <a:p>
            <a:pPr algn="l"/>
            <a:r>
              <a:rPr sz="1050" b="0" i="0">
                <a:solidFill>
                  <a:srgbClr val="1F2937"/>
                </a:solidFill>
              </a:rPr>
              <a:t>  • 4 Educational Modalities: Integrado (high-school), Subsequente (post-secondary), Concomitante, &amp; Integrado EJA (adult evening)</a:t>
            </a:r>
          </a:p>
        </p:txBody>
      </p:sp>
      <p:sp>
        <p:nvSpPr>
          <p:cNvPr id="13" name="TextBox 12"/>
          <p:cNvSpPr txBox="1"/>
          <p:nvPr/>
        </p:nvSpPr>
        <p:spPr>
          <a:xfrm>
            <a:off x="457200" y="2788920"/>
            <a:ext cx="3749039" cy="548640"/>
          </a:xfrm>
          <a:prstGeom prst="rect">
            <a:avLst/>
          </a:prstGeom>
          <a:noFill/>
        </p:spPr>
        <p:txBody>
          <a:bodyPr wrap="square">
            <a:spAutoFit/>
          </a:bodyPr>
          <a:lstStyle/>
          <a:p>
            <a:pPr algn="l"/>
            <a:r>
              <a:rPr sz="1050" b="0" i="0">
                <a:solidFill>
                  <a:srgbClr val="1F2937"/>
                </a:solidFill>
              </a:rPr>
              <a:t>  • Target Outcome (Binary): Class 0 (Graduates) = 11,703 (77.6%)  |  Class 1 (Dropouts) = 3,381 (22.4%)</a:t>
            </a:r>
          </a:p>
        </p:txBody>
      </p:sp>
      <p:sp>
        <p:nvSpPr>
          <p:cNvPr id="14" name="TextBox 13"/>
          <p:cNvSpPr txBox="1"/>
          <p:nvPr/>
        </p:nvSpPr>
        <p:spPr>
          <a:xfrm>
            <a:off x="457200" y="3291840"/>
            <a:ext cx="3749039" cy="548640"/>
          </a:xfrm>
          <a:prstGeom prst="rect">
            <a:avLst/>
          </a:prstGeom>
          <a:noFill/>
        </p:spPr>
        <p:txBody>
          <a:bodyPr wrap="square">
            <a:spAutoFit/>
          </a:bodyPr>
          <a:lstStyle/>
          <a:p>
            <a:pPr algn="l"/>
            <a:r>
              <a:rPr sz="1050" b="0" i="0">
                <a:solidFill>
                  <a:srgbClr val="1F2937"/>
                </a:solidFill>
              </a:rPr>
              <a:t>  • Imbalance Ratio: ~3.5 to 1 graduate-to-dropout ratio</a:t>
            </a:r>
          </a:p>
        </p:txBody>
      </p:sp>
      <p:sp>
        <p:nvSpPr>
          <p:cNvPr id="15" name="TextBox 14"/>
          <p:cNvSpPr txBox="1"/>
          <p:nvPr/>
        </p:nvSpPr>
        <p:spPr>
          <a:xfrm>
            <a:off x="457200" y="3794760"/>
            <a:ext cx="3749039" cy="548640"/>
          </a:xfrm>
          <a:prstGeom prst="rect">
            <a:avLst/>
          </a:prstGeom>
          <a:noFill/>
        </p:spPr>
        <p:txBody>
          <a:bodyPr wrap="square">
            <a:spAutoFit/>
          </a:bodyPr>
          <a:lstStyle/>
          <a:p>
            <a:pPr algn="l"/>
            <a:r>
              <a:rPr sz="1050" b="0" i="0">
                <a:solidFill>
                  <a:srgbClr val="1F2937"/>
                </a:solidFill>
              </a:rPr>
              <a:t>  • Stratified Partition: 80% Training Set (12,067 records) used strictly for tuning/balancing</a:t>
            </a:r>
          </a:p>
        </p:txBody>
      </p:sp>
      <p:sp>
        <p:nvSpPr>
          <p:cNvPr id="16" name="TextBox 15"/>
          <p:cNvSpPr txBox="1"/>
          <p:nvPr/>
        </p:nvSpPr>
        <p:spPr>
          <a:xfrm>
            <a:off x="457200" y="4297680"/>
            <a:ext cx="3749039" cy="548640"/>
          </a:xfrm>
          <a:prstGeom prst="rect">
            <a:avLst/>
          </a:prstGeom>
          <a:noFill/>
        </p:spPr>
        <p:txBody>
          <a:bodyPr wrap="square">
            <a:spAutoFit/>
          </a:bodyPr>
          <a:lstStyle/>
          <a:p>
            <a:pPr algn="l"/>
            <a:r>
              <a:rPr sz="1050" b="0" i="0">
                <a:solidFill>
                  <a:srgbClr val="1F2937"/>
                </a:solidFill>
              </a:rPr>
              <a:t>  • Honest Test Vault: 20% Held-Out Vault (3,017 records) kept completely untouched for final evaluation</a:t>
            </a:r>
          </a:p>
        </p:txBody>
      </p:sp>
      <p:sp>
        <p:nvSpPr>
          <p:cNvPr id="17" name="Rectangle 16"/>
          <p:cNvSpPr/>
          <p:nvPr/>
        </p:nvSpPr>
        <p:spPr>
          <a:xfrm>
            <a:off x="457200" y="5029200"/>
            <a:ext cx="3749039" cy="1188720"/>
          </a:xfrm>
          <a:prstGeom prst="rect">
            <a:avLst/>
          </a:prstGeom>
          <a:solidFill>
            <a:srgbClr val="FEF2F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02352"/>
            <a:ext cx="3566160" cy="256032"/>
          </a:xfrm>
          <a:prstGeom prst="rect">
            <a:avLst/>
          </a:prstGeom>
          <a:noFill/>
        </p:spPr>
        <p:txBody>
          <a:bodyPr wrap="square">
            <a:spAutoFit/>
          </a:bodyPr>
          <a:lstStyle/>
          <a:p>
            <a:pPr algn="l"/>
            <a:r>
              <a:rPr sz="1050" b="1" i="0">
                <a:solidFill>
                  <a:srgbClr val="DC2626"/>
                </a:solidFill>
              </a:rPr>
              <a:t>Key Challenge: Real-World Class Imbalance</a:t>
            </a:r>
          </a:p>
        </p:txBody>
      </p:sp>
      <p:sp>
        <p:nvSpPr>
          <p:cNvPr id="19" name="TextBox 18"/>
          <p:cNvSpPr txBox="1"/>
          <p:nvPr/>
        </p:nvSpPr>
        <p:spPr>
          <a:xfrm>
            <a:off x="548640" y="5376672"/>
            <a:ext cx="3566160" cy="777240"/>
          </a:xfrm>
          <a:prstGeom prst="rect">
            <a:avLst/>
          </a:prstGeom>
          <a:noFill/>
        </p:spPr>
        <p:txBody>
          <a:bodyPr wrap="square">
            <a:spAutoFit/>
          </a:bodyPr>
          <a:lstStyle/>
          <a:p>
            <a:pPr algn="l"/>
            <a:r>
              <a:rPr sz="950" b="0" i="0">
                <a:solidFill>
                  <a:srgbClr val="1F2937"/>
                </a:solidFill>
              </a:rPr>
              <a:t>A trivial baseline predicting 'all graduate' gets 77.6% accuracy but 0.0% Recall — failing every student in jeopardy.</a:t>
            </a:r>
          </a:p>
        </p:txBody>
      </p:sp>
      <p:sp>
        <p:nvSpPr>
          <p:cNvPr id="20" name="TextBox 19"/>
          <p:cNvSpPr txBox="1"/>
          <p:nvPr/>
        </p:nvSpPr>
        <p:spPr>
          <a:xfrm>
            <a:off x="4572000" y="1280160"/>
            <a:ext cx="7223760" cy="320040"/>
          </a:xfrm>
          <a:prstGeom prst="rect">
            <a:avLst/>
          </a:prstGeom>
          <a:noFill/>
        </p:spPr>
        <p:txBody>
          <a:bodyPr wrap="square">
            <a:spAutoFit/>
          </a:bodyPr>
          <a:lstStyle/>
          <a:p>
            <a:pPr algn="l"/>
            <a:r>
              <a:rPr sz="1300" b="1" i="0">
                <a:solidFill>
                  <a:srgbClr val="1E3A8A"/>
                </a:solidFill>
              </a:rPr>
              <a:t>Our Extended Framework vs. Base Paper (Silva et al. 2025)</a:t>
            </a:r>
          </a:p>
        </p:txBody>
      </p:sp>
      <p:sp>
        <p:nvSpPr>
          <p:cNvPr id="21" name="Rectangle 20"/>
          <p:cNvSpPr/>
          <p:nvPr/>
        </p:nvSpPr>
        <p:spPr>
          <a:xfrm>
            <a:off x="4572000" y="1664208"/>
            <a:ext cx="2011680" cy="457200"/>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26864" y="1700784"/>
            <a:ext cx="1901952" cy="402336"/>
          </a:xfrm>
          <a:prstGeom prst="rect">
            <a:avLst/>
          </a:prstGeom>
          <a:noFill/>
        </p:spPr>
        <p:txBody>
          <a:bodyPr wrap="square">
            <a:spAutoFit/>
          </a:bodyPr>
          <a:lstStyle/>
          <a:p>
            <a:pPr algn="l"/>
            <a:r>
              <a:rPr sz="950" b="1" i="0">
                <a:solidFill>
                  <a:srgbClr val="FFFFFF"/>
                </a:solidFill>
              </a:rPr>
              <a:t>Research Dimension</a:t>
            </a:r>
          </a:p>
        </p:txBody>
      </p:sp>
      <p:sp>
        <p:nvSpPr>
          <p:cNvPr id="23" name="Rectangle 22"/>
          <p:cNvSpPr/>
          <p:nvPr/>
        </p:nvSpPr>
        <p:spPr>
          <a:xfrm>
            <a:off x="6675120" y="1664208"/>
            <a:ext cx="2560320" cy="457200"/>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9983" y="1700784"/>
            <a:ext cx="2450591" cy="402336"/>
          </a:xfrm>
          <a:prstGeom prst="rect">
            <a:avLst/>
          </a:prstGeom>
          <a:noFill/>
        </p:spPr>
        <p:txBody>
          <a:bodyPr wrap="square">
            <a:spAutoFit/>
          </a:bodyPr>
          <a:lstStyle/>
          <a:p>
            <a:pPr algn="l"/>
            <a:r>
              <a:rPr sz="950" b="1" i="0">
                <a:solidFill>
                  <a:srgbClr val="FFFFFF"/>
                </a:solidFill>
              </a:rPr>
              <a:t>Silva et al. (IEEE RITA 2025)</a:t>
            </a:r>
          </a:p>
        </p:txBody>
      </p:sp>
      <p:sp>
        <p:nvSpPr>
          <p:cNvPr id="25" name="Rectangle 24"/>
          <p:cNvSpPr/>
          <p:nvPr/>
        </p:nvSpPr>
        <p:spPr>
          <a:xfrm>
            <a:off x="9326880" y="1664208"/>
            <a:ext cx="2468880" cy="457200"/>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81744" y="1700784"/>
            <a:ext cx="2359152" cy="402336"/>
          </a:xfrm>
          <a:prstGeom prst="rect">
            <a:avLst/>
          </a:prstGeom>
          <a:noFill/>
        </p:spPr>
        <p:txBody>
          <a:bodyPr wrap="square">
            <a:spAutoFit/>
          </a:bodyPr>
          <a:lstStyle/>
          <a:p>
            <a:pPr algn="l"/>
            <a:r>
              <a:rPr sz="950" b="1" i="0">
                <a:solidFill>
                  <a:srgbClr val="FFFFFF"/>
                </a:solidFill>
              </a:rPr>
              <a:t>Our Extended Governance Framework</a:t>
            </a:r>
          </a:p>
        </p:txBody>
      </p:sp>
      <p:sp>
        <p:nvSpPr>
          <p:cNvPr id="27" name="Rectangle 26"/>
          <p:cNvSpPr/>
          <p:nvPr/>
        </p:nvSpPr>
        <p:spPr>
          <a:xfrm>
            <a:off x="4572000" y="2139696"/>
            <a:ext cx="2011680" cy="45720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26864" y="2176272"/>
            <a:ext cx="1901952" cy="402336"/>
          </a:xfrm>
          <a:prstGeom prst="rect">
            <a:avLst/>
          </a:prstGeom>
          <a:noFill/>
        </p:spPr>
        <p:txBody>
          <a:bodyPr wrap="square">
            <a:spAutoFit/>
          </a:bodyPr>
          <a:lstStyle/>
          <a:p>
            <a:pPr algn="l"/>
            <a:r>
              <a:rPr sz="900" b="1" i="0">
                <a:solidFill>
                  <a:srgbClr val="1F2937"/>
                </a:solidFill>
              </a:rPr>
              <a:t>Target Cohort</a:t>
            </a:r>
          </a:p>
        </p:txBody>
      </p:sp>
      <p:sp>
        <p:nvSpPr>
          <p:cNvPr id="29" name="Rectangle 28"/>
          <p:cNvSpPr/>
          <p:nvPr/>
        </p:nvSpPr>
        <p:spPr>
          <a:xfrm>
            <a:off x="6675120" y="2139696"/>
            <a:ext cx="2560320" cy="45720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29983" y="2176272"/>
            <a:ext cx="2450591" cy="402336"/>
          </a:xfrm>
          <a:prstGeom prst="rect">
            <a:avLst/>
          </a:prstGeom>
          <a:noFill/>
        </p:spPr>
        <p:txBody>
          <a:bodyPr wrap="square">
            <a:spAutoFit/>
          </a:bodyPr>
          <a:lstStyle/>
          <a:p>
            <a:pPr algn="l"/>
            <a:r>
              <a:rPr sz="900" b="0" i="0">
                <a:solidFill>
                  <a:srgbClr val="1F2937"/>
                </a:solidFill>
              </a:rPr>
              <a:t>Secondary Technical (Brazil)</a:t>
            </a:r>
          </a:p>
        </p:txBody>
      </p:sp>
      <p:sp>
        <p:nvSpPr>
          <p:cNvPr id="31" name="Rectangle 30"/>
          <p:cNvSpPr/>
          <p:nvPr/>
        </p:nvSpPr>
        <p:spPr>
          <a:xfrm>
            <a:off x="9326880" y="2139696"/>
            <a:ext cx="2468880" cy="45720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81744" y="2176272"/>
            <a:ext cx="2359152" cy="402336"/>
          </a:xfrm>
          <a:prstGeom prst="rect">
            <a:avLst/>
          </a:prstGeom>
          <a:noFill/>
        </p:spPr>
        <p:txBody>
          <a:bodyPr wrap="square">
            <a:spAutoFit/>
          </a:bodyPr>
          <a:lstStyle/>
          <a:p>
            <a:pPr algn="l"/>
            <a:r>
              <a:rPr sz="900" b="0" i="0">
                <a:solidFill>
                  <a:srgbClr val="059652"/>
                </a:solidFill>
              </a:rPr>
              <a:t>Same 15,084 students, identical institutional context</a:t>
            </a:r>
          </a:p>
        </p:txBody>
      </p:sp>
      <p:sp>
        <p:nvSpPr>
          <p:cNvPr id="33" name="Rectangle 32"/>
          <p:cNvSpPr/>
          <p:nvPr/>
        </p:nvSpPr>
        <p:spPr>
          <a:xfrm>
            <a:off x="4572000" y="2615184"/>
            <a:ext cx="2011680" cy="45720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26864" y="2651760"/>
            <a:ext cx="1901952" cy="402336"/>
          </a:xfrm>
          <a:prstGeom prst="rect">
            <a:avLst/>
          </a:prstGeom>
          <a:noFill/>
        </p:spPr>
        <p:txBody>
          <a:bodyPr wrap="square">
            <a:spAutoFit/>
          </a:bodyPr>
          <a:lstStyle/>
          <a:p>
            <a:pPr algn="l"/>
            <a:r>
              <a:rPr sz="900" b="1" i="0">
                <a:solidFill>
                  <a:srgbClr val="1F2937"/>
                </a:solidFill>
              </a:rPr>
              <a:t>Feature Domain</a:t>
            </a:r>
          </a:p>
        </p:txBody>
      </p:sp>
      <p:sp>
        <p:nvSpPr>
          <p:cNvPr id="35" name="Rectangle 34"/>
          <p:cNvSpPr/>
          <p:nvPr/>
        </p:nvSpPr>
        <p:spPr>
          <a:xfrm>
            <a:off x="6675120" y="2615184"/>
            <a:ext cx="2560320" cy="45720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29983" y="2651760"/>
            <a:ext cx="2450591" cy="402336"/>
          </a:xfrm>
          <a:prstGeom prst="rect">
            <a:avLst/>
          </a:prstGeom>
          <a:noFill/>
        </p:spPr>
        <p:txBody>
          <a:bodyPr wrap="square">
            <a:spAutoFit/>
          </a:bodyPr>
          <a:lstStyle/>
          <a:p>
            <a:pPr algn="l"/>
            <a:r>
              <a:rPr sz="900" b="0" i="0">
                <a:solidFill>
                  <a:srgbClr val="1F2937"/>
                </a:solidFill>
              </a:rPr>
              <a:t>Pre-enrollment signals only (excluded GPA)</a:t>
            </a:r>
          </a:p>
        </p:txBody>
      </p:sp>
      <p:sp>
        <p:nvSpPr>
          <p:cNvPr id="37" name="Rectangle 36"/>
          <p:cNvSpPr/>
          <p:nvPr/>
        </p:nvSpPr>
        <p:spPr>
          <a:xfrm>
            <a:off x="9326880" y="2615184"/>
            <a:ext cx="2468880" cy="45720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81744" y="2651760"/>
            <a:ext cx="2359152" cy="402336"/>
          </a:xfrm>
          <a:prstGeom prst="rect">
            <a:avLst/>
          </a:prstGeom>
          <a:noFill/>
        </p:spPr>
        <p:txBody>
          <a:bodyPr wrap="square">
            <a:spAutoFit/>
          </a:bodyPr>
          <a:lstStyle/>
          <a:p>
            <a:pPr algn="l"/>
            <a:r>
              <a:rPr sz="900" b="0" i="0">
                <a:solidFill>
                  <a:srgbClr val="059652"/>
                </a:solidFill>
              </a:rPr>
              <a:t>GPA (ira) added for operational early-warning guidance</a:t>
            </a:r>
          </a:p>
        </p:txBody>
      </p:sp>
      <p:sp>
        <p:nvSpPr>
          <p:cNvPr id="39" name="Rectangle 38"/>
          <p:cNvSpPr/>
          <p:nvPr/>
        </p:nvSpPr>
        <p:spPr>
          <a:xfrm>
            <a:off x="4572000" y="3090672"/>
            <a:ext cx="2011680" cy="45720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26864" y="3127248"/>
            <a:ext cx="1901952" cy="402336"/>
          </a:xfrm>
          <a:prstGeom prst="rect">
            <a:avLst/>
          </a:prstGeom>
          <a:noFill/>
        </p:spPr>
        <p:txBody>
          <a:bodyPr wrap="square">
            <a:spAutoFit/>
          </a:bodyPr>
          <a:lstStyle/>
          <a:p>
            <a:pPr algn="l"/>
            <a:r>
              <a:rPr sz="900" b="1" i="0">
                <a:solidFill>
                  <a:srgbClr val="1F2937"/>
                </a:solidFill>
              </a:rPr>
              <a:t>Class Balancing</a:t>
            </a:r>
          </a:p>
        </p:txBody>
      </p:sp>
      <p:sp>
        <p:nvSpPr>
          <p:cNvPr id="41" name="Rectangle 40"/>
          <p:cNvSpPr/>
          <p:nvPr/>
        </p:nvSpPr>
        <p:spPr>
          <a:xfrm>
            <a:off x="6675120" y="3090672"/>
            <a:ext cx="2560320" cy="45720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29983" y="3127248"/>
            <a:ext cx="2450591" cy="402336"/>
          </a:xfrm>
          <a:prstGeom prst="rect">
            <a:avLst/>
          </a:prstGeom>
          <a:noFill/>
        </p:spPr>
        <p:txBody>
          <a:bodyPr wrap="square">
            <a:spAutoFit/>
          </a:bodyPr>
          <a:lstStyle/>
          <a:p>
            <a:pPr algn="l"/>
            <a:r>
              <a:rPr sz="900" b="0" i="0">
                <a:solidFill>
                  <a:srgbClr val="1F2937"/>
                </a:solidFill>
              </a:rPr>
              <a:t>Single standard sampling</a:t>
            </a:r>
          </a:p>
        </p:txBody>
      </p:sp>
      <p:sp>
        <p:nvSpPr>
          <p:cNvPr id="43" name="Rectangle 42"/>
          <p:cNvSpPr/>
          <p:nvPr/>
        </p:nvSpPr>
        <p:spPr>
          <a:xfrm>
            <a:off x="9326880" y="3090672"/>
            <a:ext cx="2468880" cy="45720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81744" y="3127248"/>
            <a:ext cx="2359152" cy="402336"/>
          </a:xfrm>
          <a:prstGeom prst="rect">
            <a:avLst/>
          </a:prstGeom>
          <a:noFill/>
        </p:spPr>
        <p:txBody>
          <a:bodyPr wrap="square">
            <a:spAutoFit/>
          </a:bodyPr>
          <a:lstStyle/>
          <a:p>
            <a:pPr algn="l"/>
            <a:r>
              <a:rPr sz="900" b="0" i="0">
                <a:solidFill>
                  <a:srgbClr val="059652"/>
                </a:solidFill>
              </a:rPr>
              <a:t>4 strategies: Unbalanced, UnderSampling, SMOTE, SMOTEENN</a:t>
            </a:r>
          </a:p>
        </p:txBody>
      </p:sp>
      <p:sp>
        <p:nvSpPr>
          <p:cNvPr id="45" name="Rectangle 44"/>
          <p:cNvSpPr/>
          <p:nvPr/>
        </p:nvSpPr>
        <p:spPr>
          <a:xfrm>
            <a:off x="4572000" y="3566160"/>
            <a:ext cx="2011680" cy="45720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26864" y="3602736"/>
            <a:ext cx="1901952" cy="402336"/>
          </a:xfrm>
          <a:prstGeom prst="rect">
            <a:avLst/>
          </a:prstGeom>
          <a:noFill/>
        </p:spPr>
        <p:txBody>
          <a:bodyPr wrap="square">
            <a:spAutoFit/>
          </a:bodyPr>
          <a:lstStyle/>
          <a:p>
            <a:pPr algn="l"/>
            <a:r>
              <a:rPr sz="900" b="1" i="0">
                <a:solidFill>
                  <a:srgbClr val="1F2937"/>
                </a:solidFill>
              </a:rPr>
              <a:t>Benchmarking</a:t>
            </a:r>
          </a:p>
        </p:txBody>
      </p:sp>
      <p:sp>
        <p:nvSpPr>
          <p:cNvPr id="47" name="Rectangle 46"/>
          <p:cNvSpPr/>
          <p:nvPr/>
        </p:nvSpPr>
        <p:spPr>
          <a:xfrm>
            <a:off x="6675120" y="3566160"/>
            <a:ext cx="2560320" cy="45720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729983" y="3602736"/>
            <a:ext cx="2450591" cy="402336"/>
          </a:xfrm>
          <a:prstGeom prst="rect">
            <a:avLst/>
          </a:prstGeom>
          <a:noFill/>
        </p:spPr>
        <p:txBody>
          <a:bodyPr wrap="square">
            <a:spAutoFit/>
          </a:bodyPr>
          <a:lstStyle/>
          <a:p>
            <a:pPr algn="l"/>
            <a:r>
              <a:rPr sz="900" b="0" i="0">
                <a:solidFill>
                  <a:srgbClr val="1F2937"/>
                </a:solidFill>
              </a:rPr>
              <a:t>Isolated model comparisons</a:t>
            </a:r>
          </a:p>
        </p:txBody>
      </p:sp>
      <p:sp>
        <p:nvSpPr>
          <p:cNvPr id="49" name="Rectangle 48"/>
          <p:cNvSpPr/>
          <p:nvPr/>
        </p:nvSpPr>
        <p:spPr>
          <a:xfrm>
            <a:off x="9326880" y="3566160"/>
            <a:ext cx="2468880" cy="45720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381744" y="3602736"/>
            <a:ext cx="2359152" cy="402336"/>
          </a:xfrm>
          <a:prstGeom prst="rect">
            <a:avLst/>
          </a:prstGeom>
          <a:noFill/>
        </p:spPr>
        <p:txBody>
          <a:bodyPr wrap="square">
            <a:spAutoFit/>
          </a:bodyPr>
          <a:lstStyle/>
          <a:p>
            <a:pPr algn="l"/>
            <a:r>
              <a:rPr sz="900" b="0" i="0">
                <a:solidFill>
                  <a:srgbClr val="059652"/>
                </a:solidFill>
              </a:rPr>
              <a:t>48 systematically tuned experiments with 5-fold CV</a:t>
            </a:r>
          </a:p>
        </p:txBody>
      </p:sp>
      <p:sp>
        <p:nvSpPr>
          <p:cNvPr id="51" name="Rectangle 50"/>
          <p:cNvSpPr/>
          <p:nvPr/>
        </p:nvSpPr>
        <p:spPr>
          <a:xfrm>
            <a:off x="4572000" y="4041648"/>
            <a:ext cx="2011680" cy="45720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626864" y="4078224"/>
            <a:ext cx="1901952" cy="402336"/>
          </a:xfrm>
          <a:prstGeom prst="rect">
            <a:avLst/>
          </a:prstGeom>
          <a:noFill/>
        </p:spPr>
        <p:txBody>
          <a:bodyPr wrap="square">
            <a:spAutoFit/>
          </a:bodyPr>
          <a:lstStyle/>
          <a:p>
            <a:pPr algn="l"/>
            <a:r>
              <a:rPr sz="900" b="1" i="0">
                <a:solidFill>
                  <a:srgbClr val="1F2937"/>
                </a:solidFill>
              </a:rPr>
              <a:t>Model Accuracy</a:t>
            </a:r>
          </a:p>
        </p:txBody>
      </p:sp>
      <p:sp>
        <p:nvSpPr>
          <p:cNvPr id="53" name="Rectangle 52"/>
          <p:cNvSpPr/>
          <p:nvPr/>
        </p:nvSpPr>
        <p:spPr>
          <a:xfrm>
            <a:off x="6675120" y="4041648"/>
            <a:ext cx="2560320" cy="45720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729983" y="4078224"/>
            <a:ext cx="2450591" cy="402336"/>
          </a:xfrm>
          <a:prstGeom prst="rect">
            <a:avLst/>
          </a:prstGeom>
          <a:noFill/>
        </p:spPr>
        <p:txBody>
          <a:bodyPr wrap="square">
            <a:spAutoFit/>
          </a:bodyPr>
          <a:lstStyle/>
          <a:p>
            <a:pPr algn="l"/>
            <a:r>
              <a:rPr sz="900" b="0" i="0">
                <a:solidFill>
                  <a:srgbClr val="1F2937"/>
                </a:solidFill>
              </a:rPr>
              <a:t>Baseline Recall ~82%, Precision ~64%</a:t>
            </a:r>
          </a:p>
        </p:txBody>
      </p:sp>
      <p:sp>
        <p:nvSpPr>
          <p:cNvPr id="55" name="Rectangle 54"/>
          <p:cNvSpPr/>
          <p:nvPr/>
        </p:nvSpPr>
        <p:spPr>
          <a:xfrm>
            <a:off x="9326880" y="4041648"/>
            <a:ext cx="2468880" cy="45720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381744" y="4078224"/>
            <a:ext cx="2359152" cy="402336"/>
          </a:xfrm>
          <a:prstGeom prst="rect">
            <a:avLst/>
          </a:prstGeom>
          <a:noFill/>
        </p:spPr>
        <p:txBody>
          <a:bodyPr wrap="square">
            <a:spAutoFit/>
          </a:bodyPr>
          <a:lstStyle/>
          <a:p>
            <a:pPr algn="l"/>
            <a:r>
              <a:rPr sz="900" b="0" i="0">
                <a:solidFill>
                  <a:srgbClr val="059652"/>
                </a:solidFill>
              </a:rPr>
              <a:t>Champion RF: 84.8% Recall, 83.6% Precision, 0.951 AUC</a:t>
            </a:r>
          </a:p>
        </p:txBody>
      </p:sp>
      <p:sp>
        <p:nvSpPr>
          <p:cNvPr id="57" name="Rectangle 56"/>
          <p:cNvSpPr/>
          <p:nvPr/>
        </p:nvSpPr>
        <p:spPr>
          <a:xfrm>
            <a:off x="4572000" y="4517136"/>
            <a:ext cx="2011680" cy="45720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626864" y="4553712"/>
            <a:ext cx="1901952" cy="402336"/>
          </a:xfrm>
          <a:prstGeom prst="rect">
            <a:avLst/>
          </a:prstGeom>
          <a:noFill/>
        </p:spPr>
        <p:txBody>
          <a:bodyPr wrap="square">
            <a:spAutoFit/>
          </a:bodyPr>
          <a:lstStyle/>
          <a:p>
            <a:pPr algn="l"/>
            <a:r>
              <a:rPr sz="900" b="1" i="0">
                <a:solidFill>
                  <a:srgbClr val="1F2937"/>
                </a:solidFill>
              </a:rPr>
              <a:t>Explainability</a:t>
            </a:r>
          </a:p>
        </p:txBody>
      </p:sp>
      <p:sp>
        <p:nvSpPr>
          <p:cNvPr id="59" name="Rectangle 58"/>
          <p:cNvSpPr/>
          <p:nvPr/>
        </p:nvSpPr>
        <p:spPr>
          <a:xfrm>
            <a:off x="6675120" y="4517136"/>
            <a:ext cx="2560320" cy="45720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729983" y="4553712"/>
            <a:ext cx="2450591" cy="402336"/>
          </a:xfrm>
          <a:prstGeom prst="rect">
            <a:avLst/>
          </a:prstGeom>
          <a:noFill/>
        </p:spPr>
        <p:txBody>
          <a:bodyPr wrap="square">
            <a:spAutoFit/>
          </a:bodyPr>
          <a:lstStyle/>
          <a:p>
            <a:pPr algn="l"/>
            <a:r>
              <a:rPr sz="900" b="0" i="0">
                <a:solidFill>
                  <a:srgbClr val="1F2937"/>
                </a:solidFill>
              </a:rPr>
              <a:t>Basic global importance</a:t>
            </a:r>
          </a:p>
        </p:txBody>
      </p:sp>
      <p:sp>
        <p:nvSpPr>
          <p:cNvPr id="61" name="Rectangle 60"/>
          <p:cNvSpPr/>
          <p:nvPr/>
        </p:nvSpPr>
        <p:spPr>
          <a:xfrm>
            <a:off x="9326880" y="4517136"/>
            <a:ext cx="2468880" cy="45720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381744" y="4553712"/>
            <a:ext cx="2359152" cy="402336"/>
          </a:xfrm>
          <a:prstGeom prst="rect">
            <a:avLst/>
          </a:prstGeom>
          <a:noFill/>
        </p:spPr>
        <p:txBody>
          <a:bodyPr wrap="square">
            <a:spAutoFit/>
          </a:bodyPr>
          <a:lstStyle/>
          <a:p>
            <a:pPr algn="l"/>
            <a:r>
              <a:rPr sz="900" b="0" i="0">
                <a:solidFill>
                  <a:srgbClr val="059652"/>
                </a:solidFill>
              </a:rPr>
              <a:t>Dual SHAP (Macro Beeswarm) + LIME (Micro cards)</a:t>
            </a:r>
          </a:p>
        </p:txBody>
      </p:sp>
      <p:sp>
        <p:nvSpPr>
          <p:cNvPr id="63" name="Rectangle 62"/>
          <p:cNvSpPr/>
          <p:nvPr/>
        </p:nvSpPr>
        <p:spPr>
          <a:xfrm>
            <a:off x="4572000" y="4992624"/>
            <a:ext cx="2011680" cy="45720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626864" y="5029200"/>
            <a:ext cx="1901952" cy="402336"/>
          </a:xfrm>
          <a:prstGeom prst="rect">
            <a:avLst/>
          </a:prstGeom>
          <a:noFill/>
        </p:spPr>
        <p:txBody>
          <a:bodyPr wrap="square">
            <a:spAutoFit/>
          </a:bodyPr>
          <a:lstStyle/>
          <a:p>
            <a:pPr algn="l"/>
            <a:r>
              <a:rPr sz="900" b="1" i="0">
                <a:solidFill>
                  <a:srgbClr val="1F2937"/>
                </a:solidFill>
              </a:rPr>
              <a:t>Counterfactuals</a:t>
            </a:r>
          </a:p>
        </p:txBody>
      </p:sp>
      <p:sp>
        <p:nvSpPr>
          <p:cNvPr id="65" name="Rectangle 64"/>
          <p:cNvSpPr/>
          <p:nvPr/>
        </p:nvSpPr>
        <p:spPr>
          <a:xfrm>
            <a:off x="6675120" y="4992624"/>
            <a:ext cx="2560320" cy="45720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729983" y="5029200"/>
            <a:ext cx="2450591" cy="402336"/>
          </a:xfrm>
          <a:prstGeom prst="rect">
            <a:avLst/>
          </a:prstGeom>
          <a:noFill/>
        </p:spPr>
        <p:txBody>
          <a:bodyPr wrap="square">
            <a:spAutoFit/>
          </a:bodyPr>
          <a:lstStyle/>
          <a:p>
            <a:pPr algn="l"/>
            <a:r>
              <a:rPr sz="900" b="0" i="0">
                <a:solidFill>
                  <a:srgbClr val="1F2937"/>
                </a:solidFill>
              </a:rPr>
              <a:t>None</a:t>
            </a:r>
          </a:p>
        </p:txBody>
      </p:sp>
      <p:sp>
        <p:nvSpPr>
          <p:cNvPr id="67" name="Rectangle 66"/>
          <p:cNvSpPr/>
          <p:nvPr/>
        </p:nvSpPr>
        <p:spPr>
          <a:xfrm>
            <a:off x="9326880" y="4992624"/>
            <a:ext cx="2468880" cy="45720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381744" y="5029200"/>
            <a:ext cx="2359152" cy="402336"/>
          </a:xfrm>
          <a:prstGeom prst="rect">
            <a:avLst/>
          </a:prstGeom>
          <a:noFill/>
        </p:spPr>
        <p:txBody>
          <a:bodyPr wrap="square">
            <a:spAutoFit/>
          </a:bodyPr>
          <a:lstStyle/>
          <a:p>
            <a:pPr algn="l"/>
            <a:r>
              <a:rPr sz="900" b="0" i="0">
                <a:solidFill>
                  <a:srgbClr val="059652"/>
                </a:solidFill>
              </a:rPr>
              <a:t>What-If intervention simulation with actionable thresholds</a:t>
            </a:r>
          </a:p>
        </p:txBody>
      </p:sp>
      <p:sp>
        <p:nvSpPr>
          <p:cNvPr id="69" name="Rectangle 68"/>
          <p:cNvSpPr/>
          <p:nvPr/>
        </p:nvSpPr>
        <p:spPr>
          <a:xfrm>
            <a:off x="4572000" y="5468112"/>
            <a:ext cx="2011680" cy="45720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626864" y="5504688"/>
            <a:ext cx="1901952" cy="402336"/>
          </a:xfrm>
          <a:prstGeom prst="rect">
            <a:avLst/>
          </a:prstGeom>
          <a:noFill/>
        </p:spPr>
        <p:txBody>
          <a:bodyPr wrap="square">
            <a:spAutoFit/>
          </a:bodyPr>
          <a:lstStyle/>
          <a:p>
            <a:pPr algn="l"/>
            <a:r>
              <a:rPr sz="900" b="1" i="0">
                <a:solidFill>
                  <a:srgbClr val="1F2937"/>
                </a:solidFill>
              </a:rPr>
              <a:t>Fairness Audit</a:t>
            </a:r>
          </a:p>
        </p:txBody>
      </p:sp>
      <p:sp>
        <p:nvSpPr>
          <p:cNvPr id="71" name="Rectangle 70"/>
          <p:cNvSpPr/>
          <p:nvPr/>
        </p:nvSpPr>
        <p:spPr>
          <a:xfrm>
            <a:off x="6675120" y="5468112"/>
            <a:ext cx="2560320" cy="45720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729983" y="5504688"/>
            <a:ext cx="2450591" cy="402336"/>
          </a:xfrm>
          <a:prstGeom prst="rect">
            <a:avLst/>
          </a:prstGeom>
          <a:noFill/>
        </p:spPr>
        <p:txBody>
          <a:bodyPr wrap="square">
            <a:spAutoFit/>
          </a:bodyPr>
          <a:lstStyle/>
          <a:p>
            <a:pPr algn="l"/>
            <a:r>
              <a:rPr sz="900" b="0" i="0">
                <a:solidFill>
                  <a:srgbClr val="1F2937"/>
                </a:solidFill>
              </a:rPr>
              <a:t>None</a:t>
            </a:r>
          </a:p>
        </p:txBody>
      </p:sp>
      <p:sp>
        <p:nvSpPr>
          <p:cNvPr id="73" name="Rectangle 72"/>
          <p:cNvSpPr/>
          <p:nvPr/>
        </p:nvSpPr>
        <p:spPr>
          <a:xfrm>
            <a:off x="9326880" y="5468112"/>
            <a:ext cx="2468880" cy="45720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381744" y="5504688"/>
            <a:ext cx="2359152" cy="402336"/>
          </a:xfrm>
          <a:prstGeom prst="rect">
            <a:avLst/>
          </a:prstGeom>
          <a:noFill/>
        </p:spPr>
        <p:txBody>
          <a:bodyPr wrap="square">
            <a:spAutoFit/>
          </a:bodyPr>
          <a:lstStyle/>
          <a:p>
            <a:pPr algn="l"/>
            <a:r>
              <a:rPr sz="900" b="0" i="0">
                <a:solidFill>
                  <a:srgbClr val="059652"/>
                </a:solidFill>
              </a:rPr>
              <a:t>EEOC Four-Fifths rule on Gender, Race, Income, Age, Access</a:t>
            </a:r>
          </a:p>
        </p:txBody>
      </p:sp>
      <p:sp>
        <p:nvSpPr>
          <p:cNvPr id="75" name="Rectangle 74"/>
          <p:cNvSpPr/>
          <p:nvPr/>
        </p:nvSpPr>
        <p:spPr>
          <a:xfrm>
            <a:off x="4572000" y="5943600"/>
            <a:ext cx="2011680" cy="45720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626864" y="5980176"/>
            <a:ext cx="1901952" cy="402336"/>
          </a:xfrm>
          <a:prstGeom prst="rect">
            <a:avLst/>
          </a:prstGeom>
          <a:noFill/>
        </p:spPr>
        <p:txBody>
          <a:bodyPr wrap="square">
            <a:spAutoFit/>
          </a:bodyPr>
          <a:lstStyle/>
          <a:p>
            <a:pPr algn="l"/>
            <a:r>
              <a:rPr sz="900" b="1" i="0">
                <a:solidFill>
                  <a:srgbClr val="1F2937"/>
                </a:solidFill>
              </a:rPr>
              <a:t>Institutional Charter</a:t>
            </a:r>
          </a:p>
        </p:txBody>
      </p:sp>
      <p:sp>
        <p:nvSpPr>
          <p:cNvPr id="77" name="Rectangle 76"/>
          <p:cNvSpPr/>
          <p:nvPr/>
        </p:nvSpPr>
        <p:spPr>
          <a:xfrm>
            <a:off x="6675120" y="5943600"/>
            <a:ext cx="2560320" cy="45720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729983" y="5980176"/>
            <a:ext cx="2450591" cy="402336"/>
          </a:xfrm>
          <a:prstGeom prst="rect">
            <a:avLst/>
          </a:prstGeom>
          <a:noFill/>
        </p:spPr>
        <p:txBody>
          <a:bodyPr wrap="square">
            <a:spAutoFit/>
          </a:bodyPr>
          <a:lstStyle/>
          <a:p>
            <a:pPr algn="l"/>
            <a:r>
              <a:rPr sz="900" b="0" i="0">
                <a:solidFill>
                  <a:srgbClr val="1F2937"/>
                </a:solidFill>
              </a:rPr>
              <a:t>None</a:t>
            </a:r>
          </a:p>
        </p:txBody>
      </p:sp>
      <p:sp>
        <p:nvSpPr>
          <p:cNvPr id="79" name="Rectangle 78"/>
          <p:cNvSpPr/>
          <p:nvPr/>
        </p:nvSpPr>
        <p:spPr>
          <a:xfrm>
            <a:off x="9326880" y="5943600"/>
            <a:ext cx="2468880" cy="45720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381744" y="5980176"/>
            <a:ext cx="2359152" cy="402336"/>
          </a:xfrm>
          <a:prstGeom prst="rect">
            <a:avLst/>
          </a:prstGeom>
          <a:noFill/>
        </p:spPr>
        <p:txBody>
          <a:bodyPr wrap="square">
            <a:spAutoFit/>
          </a:bodyPr>
          <a:lstStyle/>
          <a:p>
            <a:pPr algn="l"/>
            <a:r>
              <a:rPr sz="900" b="0" i="0">
                <a:solidFill>
                  <a:srgbClr val="059652"/>
                </a:solidFill>
              </a:rPr>
              <a:t>5-Pillar binding AI charter with student appeal rights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66928"/>
          </a:xfrm>
          <a:prstGeom prst="rect">
            <a:avLst/>
          </a:prstGeom>
          <a:noFill/>
        </p:spPr>
        <p:txBody>
          <a:bodyPr wrap="square">
            <a:spAutoFit/>
          </a:bodyPr>
          <a:lstStyle/>
          <a:p>
            <a:pPr algn="l"/>
            <a:r>
              <a:rPr sz="2300" b="1" i="0">
                <a:solidFill>
                  <a:srgbClr val="FFFFFF"/>
                </a:solidFill>
              </a:rPr>
              <a:t>Slide 3: Exploratory Data Analysis &amp; Data Preprocessing Pipeline</a:t>
            </a:r>
          </a:p>
        </p:txBody>
      </p:sp>
      <p:sp>
        <p:nvSpPr>
          <p:cNvPr id="5" name="TextBox 4"/>
          <p:cNvSpPr txBox="1"/>
          <p:nvPr/>
        </p:nvSpPr>
        <p:spPr>
          <a:xfrm>
            <a:off x="365760" y="640080"/>
            <a:ext cx="11430000" cy="411480"/>
          </a:xfrm>
          <a:prstGeom prst="rect">
            <a:avLst/>
          </a:prstGeom>
          <a:noFill/>
        </p:spPr>
        <p:txBody>
          <a:bodyPr wrap="square">
            <a:spAutoFit/>
          </a:bodyPr>
          <a:lstStyle/>
          <a:p>
            <a:pPr algn="l"/>
            <a:r>
              <a:rPr sz="1100" b="0" i="0">
                <a:solidFill>
                  <a:srgbClr val="BFDBFF"/>
                </a:solidFill>
              </a:rPr>
              <a:t>Four critical empirical findings that informed our feature engineering and modeling</a:t>
            </a:r>
          </a:p>
        </p:txBody>
      </p:sp>
      <p:sp>
        <p:nvSpPr>
          <p:cNvPr id="6" name="Rectangle 5"/>
          <p:cNvSpPr/>
          <p:nvPr/>
        </p:nvSpPr>
        <p:spPr>
          <a:xfrm>
            <a:off x="0" y="6565392"/>
            <a:ext cx="12188952"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74536"/>
            <a:ext cx="9601200" cy="256032"/>
          </a:xfrm>
          <a:prstGeom prst="rect">
            <a:avLst/>
          </a:prstGeom>
          <a:noFill/>
        </p:spPr>
        <p:txBody>
          <a:bodyPr wrap="square">
            <a:spAutoFit/>
          </a:bodyPr>
          <a:lstStyle/>
          <a:p>
            <a:pPr algn="l"/>
            <a:r>
              <a:rPr sz="850" b="0" i="0">
                <a:solidFill>
                  <a:srgbClr val="FFFFFF"/>
                </a:solidFill>
              </a:rPr>
              <a:t>Student Dropout XAI &amp; Governance Framework  |  Evaluation Presentation &amp; Defense</a:t>
            </a:r>
          </a:p>
        </p:txBody>
      </p:sp>
      <p:sp>
        <p:nvSpPr>
          <p:cNvPr id="8" name="TextBox 7"/>
          <p:cNvSpPr txBox="1"/>
          <p:nvPr/>
        </p:nvSpPr>
        <p:spPr>
          <a:xfrm>
            <a:off x="10515600" y="6574536"/>
            <a:ext cx="1371600" cy="256032"/>
          </a:xfrm>
          <a:prstGeom prst="rect">
            <a:avLst/>
          </a:prstGeom>
          <a:noFill/>
        </p:spPr>
        <p:txBody>
          <a:bodyPr wrap="square">
            <a:spAutoFit/>
          </a:bodyPr>
          <a:lstStyle/>
          <a:p>
            <a:pPr algn="r"/>
            <a:r>
              <a:rPr sz="850" b="0" i="0">
                <a:solidFill>
                  <a:srgbClr val="FFFFFF"/>
                </a:solidFill>
              </a:rPr>
              <a:t>Slide 3 of 10</a:t>
            </a:r>
          </a:p>
        </p:txBody>
      </p:sp>
      <p:sp>
        <p:nvSpPr>
          <p:cNvPr id="9" name="TextBox 8"/>
          <p:cNvSpPr txBox="1"/>
          <p:nvPr/>
        </p:nvSpPr>
        <p:spPr>
          <a:xfrm>
            <a:off x="320040" y="1280160"/>
            <a:ext cx="5669280" cy="320040"/>
          </a:xfrm>
          <a:prstGeom prst="rect">
            <a:avLst/>
          </a:prstGeom>
          <a:noFill/>
        </p:spPr>
        <p:txBody>
          <a:bodyPr wrap="square">
            <a:spAutoFit/>
          </a:bodyPr>
          <a:lstStyle/>
          <a:p>
            <a:pPr algn="l"/>
            <a:r>
              <a:rPr sz="1300" b="1" i="0">
                <a:solidFill>
                  <a:srgbClr val="1E3A8A"/>
                </a:solidFill>
              </a:rPr>
              <a:t>Four Decisive EDA Findings</a:t>
            </a:r>
          </a:p>
        </p:txBody>
      </p:sp>
      <p:sp>
        <p:nvSpPr>
          <p:cNvPr id="10" name="Rectangle 9"/>
          <p:cNvSpPr/>
          <p:nvPr/>
        </p:nvSpPr>
        <p:spPr>
          <a:xfrm>
            <a:off x="320040" y="1664208"/>
            <a:ext cx="5669280" cy="1051560"/>
          </a:xfrm>
          <a:prstGeom prst="rect">
            <a:avLst/>
          </a:prstGeom>
          <a:solidFill>
            <a:srgbClr val="F1F5F9"/>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664208"/>
            <a:ext cx="109728" cy="10515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1719072"/>
            <a:ext cx="5349240" cy="274320"/>
          </a:xfrm>
          <a:prstGeom prst="rect">
            <a:avLst/>
          </a:prstGeom>
          <a:noFill/>
        </p:spPr>
        <p:txBody>
          <a:bodyPr wrap="square">
            <a:spAutoFit/>
          </a:bodyPr>
          <a:lstStyle/>
          <a:p>
            <a:pPr algn="l"/>
            <a:r>
              <a:rPr sz="1100" b="1" i="0">
                <a:solidFill>
                  <a:srgbClr val="DC2626"/>
                </a:solidFill>
              </a:rPr>
              <a:t>Finding 1: Attendance Cliff</a:t>
            </a:r>
          </a:p>
        </p:txBody>
      </p:sp>
      <p:sp>
        <p:nvSpPr>
          <p:cNvPr id="13" name="TextBox 12"/>
          <p:cNvSpPr txBox="1"/>
          <p:nvPr/>
        </p:nvSpPr>
        <p:spPr>
          <a:xfrm>
            <a:off x="530352" y="2011680"/>
            <a:ext cx="5349240" cy="658368"/>
          </a:xfrm>
          <a:prstGeom prst="rect">
            <a:avLst/>
          </a:prstGeom>
          <a:noFill/>
        </p:spPr>
        <p:txBody>
          <a:bodyPr wrap="square">
            <a:spAutoFit/>
          </a:bodyPr>
          <a:lstStyle/>
          <a:p>
            <a:pPr algn="l"/>
            <a:r>
              <a:rPr sz="980" b="0" i="0">
                <a:solidFill>
                  <a:srgbClr val="1F2937"/>
                </a:solidFill>
              </a:rPr>
              <a:t>Brazilian Federal Institutes mandate &gt;=75% attendance. Students below 70% attendance exhibited a 3.5x higher dropout rate. Attendance is the #1 behavioral early-warning indicator.</a:t>
            </a:r>
          </a:p>
        </p:txBody>
      </p:sp>
      <p:sp>
        <p:nvSpPr>
          <p:cNvPr id="14" name="Rectangle 13"/>
          <p:cNvSpPr/>
          <p:nvPr/>
        </p:nvSpPr>
        <p:spPr>
          <a:xfrm>
            <a:off x="320040" y="2807208"/>
            <a:ext cx="5669280" cy="1051560"/>
          </a:xfrm>
          <a:prstGeom prst="rect">
            <a:avLst/>
          </a:prstGeom>
          <a:solidFill>
            <a:srgbClr val="F1F5F9"/>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2807208"/>
            <a:ext cx="109728" cy="10515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862072"/>
            <a:ext cx="5349240" cy="274320"/>
          </a:xfrm>
          <a:prstGeom prst="rect">
            <a:avLst/>
          </a:prstGeom>
          <a:noFill/>
        </p:spPr>
        <p:txBody>
          <a:bodyPr wrap="square">
            <a:spAutoFit/>
          </a:bodyPr>
          <a:lstStyle/>
          <a:p>
            <a:pPr algn="l"/>
            <a:r>
              <a:rPr sz="1100" b="1" i="0">
                <a:solidFill>
                  <a:srgbClr val="D97706"/>
                </a:solidFill>
              </a:rPr>
              <a:t>Finding 2: Academic Cliff</a:t>
            </a:r>
          </a:p>
        </p:txBody>
      </p:sp>
      <p:sp>
        <p:nvSpPr>
          <p:cNvPr id="17" name="TextBox 16"/>
          <p:cNvSpPr txBox="1"/>
          <p:nvPr/>
        </p:nvSpPr>
        <p:spPr>
          <a:xfrm>
            <a:off x="530352" y="3154680"/>
            <a:ext cx="5349240" cy="658368"/>
          </a:xfrm>
          <a:prstGeom prst="rect">
            <a:avLst/>
          </a:prstGeom>
          <a:noFill/>
        </p:spPr>
        <p:txBody>
          <a:bodyPr wrap="square">
            <a:spAutoFit/>
          </a:bodyPr>
          <a:lstStyle/>
          <a:p>
            <a:pPr algn="l"/>
            <a:r>
              <a:rPr sz="980" b="0" i="0">
                <a:solidFill>
                  <a:srgbClr val="1F2937"/>
                </a:solidFill>
              </a:rPr>
              <a:t>Graduating students average 7.2 / 10.0 GPA. Dropouts cluster heavily below 5.0 / 10.0. The 5.0 boundary acts as a decisive mathematical cliff separating retention from attrition.</a:t>
            </a:r>
          </a:p>
        </p:txBody>
      </p:sp>
      <p:sp>
        <p:nvSpPr>
          <p:cNvPr id="18" name="Rectangle 17"/>
          <p:cNvSpPr/>
          <p:nvPr/>
        </p:nvSpPr>
        <p:spPr>
          <a:xfrm>
            <a:off x="320040" y="3950208"/>
            <a:ext cx="5669280" cy="1051560"/>
          </a:xfrm>
          <a:prstGeom prst="rect">
            <a:avLst/>
          </a:prstGeom>
          <a:solidFill>
            <a:srgbClr val="F1F5F9"/>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3950208"/>
            <a:ext cx="109728" cy="10515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4005072"/>
            <a:ext cx="5349240" cy="274320"/>
          </a:xfrm>
          <a:prstGeom prst="rect">
            <a:avLst/>
          </a:prstGeom>
          <a:noFill/>
        </p:spPr>
        <p:txBody>
          <a:bodyPr wrap="square">
            <a:spAutoFit/>
          </a:bodyPr>
          <a:lstStyle/>
          <a:p>
            <a:pPr algn="l"/>
            <a:r>
              <a:rPr sz="1100" b="1" i="0">
                <a:solidFill>
                  <a:srgbClr val="7C3AED"/>
                </a:solidFill>
              </a:rPr>
              <a:t>Finding 3: The Digital Divide</a:t>
            </a:r>
          </a:p>
        </p:txBody>
      </p:sp>
      <p:sp>
        <p:nvSpPr>
          <p:cNvPr id="21" name="TextBox 20"/>
          <p:cNvSpPr txBox="1"/>
          <p:nvPr/>
        </p:nvSpPr>
        <p:spPr>
          <a:xfrm>
            <a:off x="530352" y="4297680"/>
            <a:ext cx="5349240" cy="658368"/>
          </a:xfrm>
          <a:prstGeom prst="rect">
            <a:avLst/>
          </a:prstGeom>
          <a:noFill/>
        </p:spPr>
        <p:txBody>
          <a:bodyPr wrap="square">
            <a:spAutoFit/>
          </a:bodyPr>
          <a:lstStyle/>
          <a:p>
            <a:pPr algn="l"/>
            <a:r>
              <a:rPr sz="980" b="0" i="0">
                <a:solidFill>
                  <a:srgbClr val="1F2937"/>
                </a:solidFill>
              </a:rPr>
              <a:t>Students lacking a computer/laptop at home exhibited a 28.4% dropout rate vs. 18.1% for laptop owners (10.3 percentage point gap) — highlighting structural socioeconomic risk.</a:t>
            </a:r>
          </a:p>
        </p:txBody>
      </p:sp>
      <p:sp>
        <p:nvSpPr>
          <p:cNvPr id="22" name="Rectangle 21"/>
          <p:cNvSpPr/>
          <p:nvPr/>
        </p:nvSpPr>
        <p:spPr>
          <a:xfrm>
            <a:off x="320040" y="5093208"/>
            <a:ext cx="5669280" cy="1051560"/>
          </a:xfrm>
          <a:prstGeom prst="rect">
            <a:avLst/>
          </a:prstGeom>
          <a:solidFill>
            <a:srgbClr val="F1F5F9"/>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 y="5093208"/>
            <a:ext cx="10972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5148072"/>
            <a:ext cx="5349240" cy="274320"/>
          </a:xfrm>
          <a:prstGeom prst="rect">
            <a:avLst/>
          </a:prstGeom>
          <a:noFill/>
        </p:spPr>
        <p:txBody>
          <a:bodyPr wrap="square">
            <a:spAutoFit/>
          </a:bodyPr>
          <a:lstStyle/>
          <a:p>
            <a:pPr algn="l"/>
            <a:r>
              <a:rPr sz="1100" b="1" i="0">
                <a:solidFill>
                  <a:srgbClr val="2563EB"/>
                </a:solidFill>
              </a:rPr>
              <a:t>Finding 4: Educational Modality Split</a:t>
            </a:r>
          </a:p>
        </p:txBody>
      </p:sp>
      <p:sp>
        <p:nvSpPr>
          <p:cNvPr id="25" name="TextBox 24"/>
          <p:cNvSpPr txBox="1"/>
          <p:nvPr/>
        </p:nvSpPr>
        <p:spPr>
          <a:xfrm>
            <a:off x="530352" y="5440680"/>
            <a:ext cx="5349240" cy="658368"/>
          </a:xfrm>
          <a:prstGeom prst="rect">
            <a:avLst/>
          </a:prstGeom>
          <a:noFill/>
        </p:spPr>
        <p:txBody>
          <a:bodyPr wrap="square">
            <a:spAutoFit/>
          </a:bodyPr>
          <a:lstStyle/>
          <a:p>
            <a:pPr algn="l"/>
            <a:r>
              <a:rPr sz="980" b="0" i="0">
                <a:solidFill>
                  <a:srgbClr val="1F2937"/>
                </a:solidFill>
              </a:rPr>
              <a:t>Traditional high-school teens (Integrado) drop out at only 16.3%, whereas working adults in evening school (Subsequente/EJA) drop out at 34.6%–39.5% due to workplace/financial pressures.</a:t>
            </a:r>
          </a:p>
        </p:txBody>
      </p:sp>
      <p:sp>
        <p:nvSpPr>
          <p:cNvPr id="26" name="TextBox 25"/>
          <p:cNvSpPr txBox="1"/>
          <p:nvPr/>
        </p:nvSpPr>
        <p:spPr>
          <a:xfrm>
            <a:off x="6263640" y="1280160"/>
            <a:ext cx="5577840" cy="320040"/>
          </a:xfrm>
          <a:prstGeom prst="rect">
            <a:avLst/>
          </a:prstGeom>
          <a:noFill/>
        </p:spPr>
        <p:txBody>
          <a:bodyPr wrap="square">
            <a:spAutoFit/>
          </a:bodyPr>
          <a:lstStyle/>
          <a:p>
            <a:pPr algn="l"/>
            <a:r>
              <a:rPr sz="1300" b="1" i="0">
                <a:solidFill>
                  <a:srgbClr val="1E3A8A"/>
                </a:solidFill>
              </a:rPr>
              <a:t>5-Step Preprocessing Pipeline</a:t>
            </a:r>
          </a:p>
        </p:txBody>
      </p:sp>
      <p:sp>
        <p:nvSpPr>
          <p:cNvPr id="27" name="Rectangle 26"/>
          <p:cNvSpPr/>
          <p:nvPr/>
        </p:nvSpPr>
        <p:spPr>
          <a:xfrm>
            <a:off x="6263640" y="1664208"/>
            <a:ext cx="777240" cy="78638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1865376"/>
            <a:ext cx="777240" cy="411480"/>
          </a:xfrm>
          <a:prstGeom prst="rect">
            <a:avLst/>
          </a:prstGeom>
          <a:noFill/>
        </p:spPr>
        <p:txBody>
          <a:bodyPr wrap="square">
            <a:spAutoFit/>
          </a:bodyPr>
          <a:lstStyle/>
          <a:p>
            <a:pPr algn="ctr"/>
            <a:r>
              <a:rPr sz="1100" b="1" i="0">
                <a:solidFill>
                  <a:srgbClr val="FFFFFF"/>
                </a:solidFill>
              </a:rPr>
              <a:t>Step 1</a:t>
            </a:r>
          </a:p>
        </p:txBody>
      </p:sp>
      <p:sp>
        <p:nvSpPr>
          <p:cNvPr id="29" name="Rectangle 28"/>
          <p:cNvSpPr/>
          <p:nvPr/>
        </p:nvSpPr>
        <p:spPr>
          <a:xfrm>
            <a:off x="7114032" y="1664208"/>
            <a:ext cx="4754880" cy="786384"/>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1719072"/>
            <a:ext cx="4553712" cy="256032"/>
          </a:xfrm>
          <a:prstGeom prst="rect">
            <a:avLst/>
          </a:prstGeom>
          <a:noFill/>
        </p:spPr>
        <p:txBody>
          <a:bodyPr wrap="square">
            <a:spAutoFit/>
          </a:bodyPr>
          <a:lstStyle/>
          <a:p>
            <a:pPr algn="l"/>
            <a:r>
              <a:rPr sz="1050" b="1" i="0">
                <a:solidFill>
                  <a:srgbClr val="1E3A8A"/>
                </a:solidFill>
              </a:rPr>
              <a:t>Identifier Leakage Removal</a:t>
            </a:r>
          </a:p>
        </p:txBody>
      </p:sp>
      <p:sp>
        <p:nvSpPr>
          <p:cNvPr id="31" name="TextBox 30"/>
          <p:cNvSpPr txBox="1"/>
          <p:nvPr/>
        </p:nvSpPr>
        <p:spPr>
          <a:xfrm>
            <a:off x="7223760" y="1975104"/>
            <a:ext cx="4553712" cy="438912"/>
          </a:xfrm>
          <a:prstGeom prst="rect">
            <a:avLst/>
          </a:prstGeom>
          <a:noFill/>
        </p:spPr>
        <p:txBody>
          <a:bodyPr wrap="square">
            <a:spAutoFit/>
          </a:bodyPr>
          <a:lstStyle/>
          <a:p>
            <a:pPr algn="l"/>
            <a:r>
              <a:rPr sz="919" b="0" i="0">
                <a:solidFill>
                  <a:srgbClr val="1F2937"/>
                </a:solidFill>
              </a:rPr>
              <a:t>Dropped administrative IDs (matricula, CPF, student keys) to prevent synthetic target memorization.</a:t>
            </a:r>
          </a:p>
        </p:txBody>
      </p:sp>
      <p:sp>
        <p:nvSpPr>
          <p:cNvPr id="32" name="Rectangle 31"/>
          <p:cNvSpPr/>
          <p:nvPr/>
        </p:nvSpPr>
        <p:spPr>
          <a:xfrm>
            <a:off x="6263640" y="2560320"/>
            <a:ext cx="777240" cy="78638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3640" y="2761488"/>
            <a:ext cx="777240" cy="411480"/>
          </a:xfrm>
          <a:prstGeom prst="rect">
            <a:avLst/>
          </a:prstGeom>
          <a:noFill/>
        </p:spPr>
        <p:txBody>
          <a:bodyPr wrap="square">
            <a:spAutoFit/>
          </a:bodyPr>
          <a:lstStyle/>
          <a:p>
            <a:pPr algn="ctr"/>
            <a:r>
              <a:rPr sz="1100" b="1" i="0">
                <a:solidFill>
                  <a:srgbClr val="FFFFFF"/>
                </a:solidFill>
              </a:rPr>
              <a:t>Step 2</a:t>
            </a:r>
          </a:p>
        </p:txBody>
      </p:sp>
      <p:sp>
        <p:nvSpPr>
          <p:cNvPr id="34" name="Rectangle 33"/>
          <p:cNvSpPr/>
          <p:nvPr/>
        </p:nvSpPr>
        <p:spPr>
          <a:xfrm>
            <a:off x="7114032" y="2560320"/>
            <a:ext cx="4754880" cy="786384"/>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23760" y="2615184"/>
            <a:ext cx="4553712" cy="256032"/>
          </a:xfrm>
          <a:prstGeom prst="rect">
            <a:avLst/>
          </a:prstGeom>
          <a:noFill/>
        </p:spPr>
        <p:txBody>
          <a:bodyPr wrap="square">
            <a:spAutoFit/>
          </a:bodyPr>
          <a:lstStyle/>
          <a:p>
            <a:pPr algn="l"/>
            <a:r>
              <a:rPr sz="1050" b="1" i="0">
                <a:solidFill>
                  <a:srgbClr val="1E3A8A"/>
                </a:solidFill>
              </a:rPr>
              <a:t>Missing Value Pruning</a:t>
            </a:r>
          </a:p>
        </p:txBody>
      </p:sp>
      <p:sp>
        <p:nvSpPr>
          <p:cNvPr id="36" name="TextBox 35"/>
          <p:cNvSpPr txBox="1"/>
          <p:nvPr/>
        </p:nvSpPr>
        <p:spPr>
          <a:xfrm>
            <a:off x="7223760" y="2871215"/>
            <a:ext cx="4553712" cy="438912"/>
          </a:xfrm>
          <a:prstGeom prst="rect">
            <a:avLst/>
          </a:prstGeom>
          <a:noFill/>
        </p:spPr>
        <p:txBody>
          <a:bodyPr wrap="square">
            <a:spAutoFit/>
          </a:bodyPr>
          <a:lstStyle/>
          <a:p>
            <a:pPr algn="l"/>
            <a:r>
              <a:rPr sz="919" b="0" i="0">
                <a:solidFill>
                  <a:srgbClr val="1F2937"/>
                </a:solidFill>
              </a:rPr>
              <a:t>Identified and removed 4 columns with &gt;20% missing values; median-imputed negligible technical gaps.</a:t>
            </a:r>
          </a:p>
        </p:txBody>
      </p:sp>
      <p:sp>
        <p:nvSpPr>
          <p:cNvPr id="37" name="Rectangle 36"/>
          <p:cNvSpPr/>
          <p:nvPr/>
        </p:nvSpPr>
        <p:spPr>
          <a:xfrm>
            <a:off x="6263640" y="3456432"/>
            <a:ext cx="777240" cy="78638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63640" y="3657600"/>
            <a:ext cx="777240" cy="411480"/>
          </a:xfrm>
          <a:prstGeom prst="rect">
            <a:avLst/>
          </a:prstGeom>
          <a:noFill/>
        </p:spPr>
        <p:txBody>
          <a:bodyPr wrap="square">
            <a:spAutoFit/>
          </a:bodyPr>
          <a:lstStyle/>
          <a:p>
            <a:pPr algn="ctr"/>
            <a:r>
              <a:rPr sz="1100" b="1" i="0">
                <a:solidFill>
                  <a:srgbClr val="FFFFFF"/>
                </a:solidFill>
              </a:rPr>
              <a:t>Step 3</a:t>
            </a:r>
          </a:p>
        </p:txBody>
      </p:sp>
      <p:sp>
        <p:nvSpPr>
          <p:cNvPr id="39" name="Rectangle 38"/>
          <p:cNvSpPr/>
          <p:nvPr/>
        </p:nvSpPr>
        <p:spPr>
          <a:xfrm>
            <a:off x="7114032" y="3456432"/>
            <a:ext cx="4754880" cy="786384"/>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3511296"/>
            <a:ext cx="4553712" cy="256032"/>
          </a:xfrm>
          <a:prstGeom prst="rect">
            <a:avLst/>
          </a:prstGeom>
          <a:noFill/>
        </p:spPr>
        <p:txBody>
          <a:bodyPr wrap="square">
            <a:spAutoFit/>
          </a:bodyPr>
          <a:lstStyle/>
          <a:p>
            <a:pPr algn="l"/>
            <a:r>
              <a:rPr sz="1050" b="1" i="0">
                <a:solidFill>
                  <a:srgbClr val="1E3A8A"/>
                </a:solidFill>
              </a:rPr>
              <a:t>1.5x IQR Winsorization</a:t>
            </a:r>
          </a:p>
        </p:txBody>
      </p:sp>
      <p:sp>
        <p:nvSpPr>
          <p:cNvPr id="41" name="TextBox 40"/>
          <p:cNvSpPr txBox="1"/>
          <p:nvPr/>
        </p:nvSpPr>
        <p:spPr>
          <a:xfrm>
            <a:off x="7223760" y="3767328"/>
            <a:ext cx="4553712" cy="438912"/>
          </a:xfrm>
          <a:prstGeom prst="rect">
            <a:avLst/>
          </a:prstGeom>
          <a:noFill/>
        </p:spPr>
        <p:txBody>
          <a:bodyPr wrap="square">
            <a:spAutoFit/>
          </a:bodyPr>
          <a:lstStyle/>
          <a:p>
            <a:pPr algn="l"/>
            <a:r>
              <a:rPr sz="919" b="0" i="0">
                <a:solidFill>
                  <a:srgbClr val="1F2937"/>
                </a:solidFill>
              </a:rPr>
              <a:t>Clipped extreme outliers in Age, Family Income, and Asset Counts without discarding a single student record.</a:t>
            </a:r>
          </a:p>
        </p:txBody>
      </p:sp>
      <p:sp>
        <p:nvSpPr>
          <p:cNvPr id="42" name="Rectangle 41"/>
          <p:cNvSpPr/>
          <p:nvPr/>
        </p:nvSpPr>
        <p:spPr>
          <a:xfrm>
            <a:off x="6263640" y="4352544"/>
            <a:ext cx="777240" cy="78638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63640" y="4553712"/>
            <a:ext cx="777240" cy="411480"/>
          </a:xfrm>
          <a:prstGeom prst="rect">
            <a:avLst/>
          </a:prstGeom>
          <a:noFill/>
        </p:spPr>
        <p:txBody>
          <a:bodyPr wrap="square">
            <a:spAutoFit/>
          </a:bodyPr>
          <a:lstStyle/>
          <a:p>
            <a:pPr algn="ctr"/>
            <a:r>
              <a:rPr sz="1100" b="1" i="0">
                <a:solidFill>
                  <a:srgbClr val="FFFFFF"/>
                </a:solidFill>
              </a:rPr>
              <a:t>Step 4</a:t>
            </a:r>
          </a:p>
        </p:txBody>
      </p:sp>
      <p:sp>
        <p:nvSpPr>
          <p:cNvPr id="44" name="Rectangle 43"/>
          <p:cNvSpPr/>
          <p:nvPr/>
        </p:nvSpPr>
        <p:spPr>
          <a:xfrm>
            <a:off x="7114032" y="4352544"/>
            <a:ext cx="4754880" cy="786384"/>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23760" y="4407407"/>
            <a:ext cx="4553712" cy="256032"/>
          </a:xfrm>
          <a:prstGeom prst="rect">
            <a:avLst/>
          </a:prstGeom>
          <a:noFill/>
        </p:spPr>
        <p:txBody>
          <a:bodyPr wrap="square">
            <a:spAutoFit/>
          </a:bodyPr>
          <a:lstStyle/>
          <a:p>
            <a:pPr algn="l"/>
            <a:r>
              <a:rPr sz="1050" b="1" i="0">
                <a:solidFill>
                  <a:srgbClr val="1E3A8A"/>
                </a:solidFill>
              </a:rPr>
              <a:t>Dual Encoding Architecture</a:t>
            </a:r>
          </a:p>
        </p:txBody>
      </p:sp>
      <p:sp>
        <p:nvSpPr>
          <p:cNvPr id="46" name="TextBox 45"/>
          <p:cNvSpPr txBox="1"/>
          <p:nvPr/>
        </p:nvSpPr>
        <p:spPr>
          <a:xfrm>
            <a:off x="7223760" y="4663440"/>
            <a:ext cx="4553712" cy="438912"/>
          </a:xfrm>
          <a:prstGeom prst="rect">
            <a:avLst/>
          </a:prstGeom>
          <a:noFill/>
        </p:spPr>
        <p:txBody>
          <a:bodyPr wrap="square">
            <a:spAutoFit/>
          </a:bodyPr>
          <a:lstStyle/>
          <a:p>
            <a:pPr algn="l"/>
            <a:r>
              <a:rPr sz="919" b="0" i="0">
                <a:solidFill>
                  <a:srgbClr val="1F2937"/>
                </a:solidFill>
              </a:rPr>
              <a:t>One-Hot encoded nominal features (Gender, Race, Marital); Ordinal encoded parental education; Label encoded binary flags.</a:t>
            </a:r>
          </a:p>
        </p:txBody>
      </p:sp>
      <p:sp>
        <p:nvSpPr>
          <p:cNvPr id="47" name="Rectangle 46"/>
          <p:cNvSpPr/>
          <p:nvPr/>
        </p:nvSpPr>
        <p:spPr>
          <a:xfrm>
            <a:off x="6263640" y="5248656"/>
            <a:ext cx="777240" cy="78638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63640" y="5449824"/>
            <a:ext cx="777240" cy="411480"/>
          </a:xfrm>
          <a:prstGeom prst="rect">
            <a:avLst/>
          </a:prstGeom>
          <a:noFill/>
        </p:spPr>
        <p:txBody>
          <a:bodyPr wrap="square">
            <a:spAutoFit/>
          </a:bodyPr>
          <a:lstStyle/>
          <a:p>
            <a:pPr algn="ctr"/>
            <a:r>
              <a:rPr sz="1100" b="1" i="0">
                <a:solidFill>
                  <a:srgbClr val="FFFFFF"/>
                </a:solidFill>
              </a:rPr>
              <a:t>Step 5</a:t>
            </a:r>
          </a:p>
        </p:txBody>
      </p:sp>
      <p:sp>
        <p:nvSpPr>
          <p:cNvPr id="49" name="Rectangle 48"/>
          <p:cNvSpPr/>
          <p:nvPr/>
        </p:nvSpPr>
        <p:spPr>
          <a:xfrm>
            <a:off x="7114032" y="5248656"/>
            <a:ext cx="4754880" cy="786384"/>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223760" y="5303520"/>
            <a:ext cx="4553712" cy="256032"/>
          </a:xfrm>
          <a:prstGeom prst="rect">
            <a:avLst/>
          </a:prstGeom>
          <a:noFill/>
        </p:spPr>
        <p:txBody>
          <a:bodyPr wrap="square">
            <a:spAutoFit/>
          </a:bodyPr>
          <a:lstStyle/>
          <a:p>
            <a:pPr algn="l"/>
            <a:r>
              <a:rPr sz="1050" b="1" i="0">
                <a:solidFill>
                  <a:srgbClr val="1E3A8A"/>
                </a:solidFill>
              </a:rPr>
              <a:t>Engineered Feature Matrix</a:t>
            </a:r>
          </a:p>
        </p:txBody>
      </p:sp>
      <p:sp>
        <p:nvSpPr>
          <p:cNvPr id="51" name="TextBox 50"/>
          <p:cNvSpPr txBox="1"/>
          <p:nvPr/>
        </p:nvSpPr>
        <p:spPr>
          <a:xfrm>
            <a:off x="7223760" y="5559552"/>
            <a:ext cx="4553712" cy="438912"/>
          </a:xfrm>
          <a:prstGeom prst="rect">
            <a:avLst/>
          </a:prstGeom>
          <a:noFill/>
        </p:spPr>
        <p:txBody>
          <a:bodyPr wrap="square">
            <a:spAutoFit/>
          </a:bodyPr>
          <a:lstStyle/>
          <a:p>
            <a:pPr algn="l"/>
            <a:r>
              <a:rPr sz="919" b="0" i="0">
                <a:solidFill>
                  <a:srgbClr val="1F2937"/>
                </a:solidFill>
              </a:rPr>
              <a:t>Produced a clean 33-feature numerical matrix aligned for tree ensembles and exact Shapley attribution.</a:t>
            </a:r>
          </a:p>
        </p:txBody>
      </p:sp>
      <p:sp>
        <p:nvSpPr>
          <p:cNvPr id="52" name="Rectangle 51"/>
          <p:cNvSpPr/>
          <p:nvPr/>
        </p:nvSpPr>
        <p:spPr>
          <a:xfrm>
            <a:off x="6263640" y="6217920"/>
            <a:ext cx="5605272" cy="310896"/>
          </a:xfrm>
          <a:prstGeom prst="rect">
            <a:avLst/>
          </a:prstGeom>
          <a:solidFill>
            <a:srgbClr val="D1FAE5"/>
          </a:solidFill>
          <a:ln w="12700">
            <a:solidFill>
              <a:srgbClr val="059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55080" y="6245352"/>
            <a:ext cx="5440680" cy="256032"/>
          </a:xfrm>
          <a:prstGeom prst="rect">
            <a:avLst/>
          </a:prstGeom>
          <a:noFill/>
        </p:spPr>
        <p:txBody>
          <a:bodyPr wrap="square">
            <a:spAutoFit/>
          </a:bodyPr>
          <a:lstStyle/>
          <a:p>
            <a:pPr algn="l"/>
            <a:r>
              <a:rPr sz="950" b="1" i="0">
                <a:solidFill>
                  <a:srgbClr val="059652"/>
                </a:solidFill>
              </a:rPr>
              <a:t>Result: 15,084 clean student records, 33 numerical features, zero leakage, 100% reproducible.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66928"/>
          </a:xfrm>
          <a:prstGeom prst="rect">
            <a:avLst/>
          </a:prstGeom>
          <a:noFill/>
        </p:spPr>
        <p:txBody>
          <a:bodyPr wrap="square">
            <a:spAutoFit/>
          </a:bodyPr>
          <a:lstStyle/>
          <a:p>
            <a:pPr algn="l"/>
            <a:r>
              <a:rPr sz="2300" b="1" i="0">
                <a:solidFill>
                  <a:srgbClr val="FFFFFF"/>
                </a:solidFill>
              </a:rPr>
              <a:t>Slide 4: Phase 2 — The 48-Experiment Benchmark Matrix</a:t>
            </a:r>
          </a:p>
        </p:txBody>
      </p:sp>
      <p:sp>
        <p:nvSpPr>
          <p:cNvPr id="5" name="TextBox 4"/>
          <p:cNvSpPr txBox="1"/>
          <p:nvPr/>
        </p:nvSpPr>
        <p:spPr>
          <a:xfrm>
            <a:off x="365760" y="640080"/>
            <a:ext cx="11430000" cy="411480"/>
          </a:xfrm>
          <a:prstGeom prst="rect">
            <a:avLst/>
          </a:prstGeom>
          <a:noFill/>
        </p:spPr>
        <p:txBody>
          <a:bodyPr wrap="square">
            <a:spAutoFit/>
          </a:bodyPr>
          <a:lstStyle/>
          <a:p>
            <a:pPr algn="l"/>
            <a:r>
              <a:rPr sz="1100" b="0" i="0">
                <a:solidFill>
                  <a:srgbClr val="BFDBFF"/>
                </a:solidFill>
              </a:rPr>
              <a:t>Rigorous 4 × 3 × 4 Grid Search: Balancing Strategy × Feature Selection × ML Algorithms</a:t>
            </a:r>
          </a:p>
        </p:txBody>
      </p:sp>
      <p:sp>
        <p:nvSpPr>
          <p:cNvPr id="6" name="Rectangle 5"/>
          <p:cNvSpPr/>
          <p:nvPr/>
        </p:nvSpPr>
        <p:spPr>
          <a:xfrm>
            <a:off x="0" y="6565392"/>
            <a:ext cx="12188952"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74536"/>
            <a:ext cx="9601200" cy="256032"/>
          </a:xfrm>
          <a:prstGeom prst="rect">
            <a:avLst/>
          </a:prstGeom>
          <a:noFill/>
        </p:spPr>
        <p:txBody>
          <a:bodyPr wrap="square">
            <a:spAutoFit/>
          </a:bodyPr>
          <a:lstStyle/>
          <a:p>
            <a:pPr algn="l"/>
            <a:r>
              <a:rPr sz="850" b="0" i="0">
                <a:solidFill>
                  <a:srgbClr val="FFFFFF"/>
                </a:solidFill>
              </a:rPr>
              <a:t>Student Dropout XAI &amp; Governance Framework  |  Evaluation Presentation &amp; Defense</a:t>
            </a:r>
          </a:p>
        </p:txBody>
      </p:sp>
      <p:sp>
        <p:nvSpPr>
          <p:cNvPr id="8" name="TextBox 7"/>
          <p:cNvSpPr txBox="1"/>
          <p:nvPr/>
        </p:nvSpPr>
        <p:spPr>
          <a:xfrm>
            <a:off x="10515600" y="6574536"/>
            <a:ext cx="1371600" cy="256032"/>
          </a:xfrm>
          <a:prstGeom prst="rect">
            <a:avLst/>
          </a:prstGeom>
          <a:noFill/>
        </p:spPr>
        <p:txBody>
          <a:bodyPr wrap="square">
            <a:spAutoFit/>
          </a:bodyPr>
          <a:lstStyle/>
          <a:p>
            <a:pPr algn="r"/>
            <a:r>
              <a:rPr sz="850" b="0" i="0">
                <a:solidFill>
                  <a:srgbClr val="FFFFFF"/>
                </a:solidFill>
              </a:rPr>
              <a:t>Slide 4 of 10</a:t>
            </a:r>
          </a:p>
        </p:txBody>
      </p:sp>
      <p:sp>
        <p:nvSpPr>
          <p:cNvPr id="9" name="Rectangle 8"/>
          <p:cNvSpPr/>
          <p:nvPr/>
        </p:nvSpPr>
        <p:spPr>
          <a:xfrm>
            <a:off x="320040" y="1325880"/>
            <a:ext cx="3767328"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79" y="1362456"/>
            <a:ext cx="3584448" cy="320040"/>
          </a:xfrm>
          <a:prstGeom prst="rect">
            <a:avLst/>
          </a:prstGeom>
          <a:noFill/>
        </p:spPr>
        <p:txBody>
          <a:bodyPr wrap="square">
            <a:spAutoFit/>
          </a:bodyPr>
          <a:lstStyle/>
          <a:p>
            <a:pPr algn="l"/>
            <a:r>
              <a:rPr sz="1150" b="1" i="0">
                <a:solidFill>
                  <a:srgbClr val="FFFFFF"/>
                </a:solidFill>
              </a:rPr>
              <a:t>4 Class Balancing Strategies</a:t>
            </a:r>
          </a:p>
        </p:txBody>
      </p:sp>
      <p:sp>
        <p:nvSpPr>
          <p:cNvPr id="11" name="Rectangle 10"/>
          <p:cNvSpPr/>
          <p:nvPr/>
        </p:nvSpPr>
        <p:spPr>
          <a:xfrm>
            <a:off x="320040" y="1810512"/>
            <a:ext cx="3767328" cy="594360"/>
          </a:xfrm>
          <a:prstGeom prst="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1847088"/>
            <a:ext cx="3547872" cy="530352"/>
          </a:xfrm>
          <a:prstGeom prst="rect">
            <a:avLst/>
          </a:prstGeom>
          <a:noFill/>
        </p:spPr>
        <p:txBody>
          <a:bodyPr wrap="square">
            <a:spAutoFit/>
          </a:bodyPr>
          <a:lstStyle/>
          <a:p>
            <a:pPr algn="l"/>
            <a:r>
              <a:rPr sz="1000" b="0" i="0">
                <a:solidFill>
                  <a:srgbClr val="1F2937"/>
                </a:solidFill>
              </a:rPr>
              <a:t>1. Unbalanced Baseline (12,067 train records)</a:t>
            </a:r>
          </a:p>
        </p:txBody>
      </p:sp>
      <p:sp>
        <p:nvSpPr>
          <p:cNvPr id="13" name="Rectangle 12"/>
          <p:cNvSpPr/>
          <p:nvPr/>
        </p:nvSpPr>
        <p:spPr>
          <a:xfrm>
            <a:off x="320040" y="2468880"/>
            <a:ext cx="3767328" cy="594360"/>
          </a:xfrm>
          <a:prstGeom prst="rect">
            <a:avLst/>
          </a:prstGeom>
          <a:solidFill>
            <a:srgbClr val="D1FAE5"/>
          </a:solidFill>
          <a:ln w="12700">
            <a:solidFill>
              <a:srgbClr val="059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2505456"/>
            <a:ext cx="3547872" cy="530352"/>
          </a:xfrm>
          <a:prstGeom prst="rect">
            <a:avLst/>
          </a:prstGeom>
          <a:noFill/>
        </p:spPr>
        <p:txBody>
          <a:bodyPr wrap="square">
            <a:spAutoFit/>
          </a:bodyPr>
          <a:lstStyle/>
          <a:p>
            <a:pPr algn="l"/>
            <a:r>
              <a:rPr sz="1000" b="1" i="0">
                <a:solidFill>
                  <a:srgbClr val="059652"/>
                </a:solidFill>
              </a:rPr>
              <a:t>2. Random UnderSampling (5,410 balanced records) ★</a:t>
            </a:r>
          </a:p>
        </p:txBody>
      </p:sp>
      <p:sp>
        <p:nvSpPr>
          <p:cNvPr id="15" name="Rectangle 14"/>
          <p:cNvSpPr/>
          <p:nvPr/>
        </p:nvSpPr>
        <p:spPr>
          <a:xfrm>
            <a:off x="320040" y="3127248"/>
            <a:ext cx="3767328" cy="594360"/>
          </a:xfrm>
          <a:prstGeom prst="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3163824"/>
            <a:ext cx="3547872" cy="530352"/>
          </a:xfrm>
          <a:prstGeom prst="rect">
            <a:avLst/>
          </a:prstGeom>
          <a:noFill/>
        </p:spPr>
        <p:txBody>
          <a:bodyPr wrap="square">
            <a:spAutoFit/>
          </a:bodyPr>
          <a:lstStyle/>
          <a:p>
            <a:pPr algn="l"/>
            <a:r>
              <a:rPr sz="1000" b="0" i="0">
                <a:solidFill>
                  <a:srgbClr val="1F2937"/>
                </a:solidFill>
              </a:rPr>
              <a:t>3. SMOTE Synthetic Oversampling (18,724 records)</a:t>
            </a:r>
          </a:p>
        </p:txBody>
      </p:sp>
      <p:sp>
        <p:nvSpPr>
          <p:cNvPr id="17" name="Rectangle 16"/>
          <p:cNvSpPr/>
          <p:nvPr/>
        </p:nvSpPr>
        <p:spPr>
          <a:xfrm>
            <a:off x="320040" y="3785616"/>
            <a:ext cx="3767328" cy="594360"/>
          </a:xfrm>
          <a:prstGeom prst="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 y="3822191"/>
            <a:ext cx="3547872" cy="530352"/>
          </a:xfrm>
          <a:prstGeom prst="rect">
            <a:avLst/>
          </a:prstGeom>
          <a:noFill/>
        </p:spPr>
        <p:txBody>
          <a:bodyPr wrap="square">
            <a:spAutoFit/>
          </a:bodyPr>
          <a:lstStyle/>
          <a:p>
            <a:pPr algn="l"/>
            <a:r>
              <a:rPr sz="1000" b="0" i="0">
                <a:solidFill>
                  <a:srgbClr val="1F2937"/>
                </a:solidFill>
              </a:rPr>
              <a:t>4. SMOTEENN (15,174 records, filtered noise)</a:t>
            </a:r>
          </a:p>
        </p:txBody>
      </p:sp>
      <p:sp>
        <p:nvSpPr>
          <p:cNvPr id="19" name="Rectangle 18"/>
          <p:cNvSpPr/>
          <p:nvPr/>
        </p:nvSpPr>
        <p:spPr>
          <a:xfrm>
            <a:off x="4206240" y="1325880"/>
            <a:ext cx="3767328" cy="411480"/>
          </a:xfrm>
          <a:prstGeom prst="rect">
            <a:avLst/>
          </a:prstGeom>
          <a:solidFill>
            <a:srgbClr val="0682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7679" y="1362456"/>
            <a:ext cx="3584448" cy="320040"/>
          </a:xfrm>
          <a:prstGeom prst="rect">
            <a:avLst/>
          </a:prstGeom>
          <a:noFill/>
        </p:spPr>
        <p:txBody>
          <a:bodyPr wrap="square">
            <a:spAutoFit/>
          </a:bodyPr>
          <a:lstStyle/>
          <a:p>
            <a:pPr algn="l"/>
            <a:r>
              <a:rPr sz="1150" b="1" i="0">
                <a:solidFill>
                  <a:srgbClr val="FFFFFF"/>
                </a:solidFill>
              </a:rPr>
              <a:t>3 Feature Selection Methods</a:t>
            </a:r>
          </a:p>
        </p:txBody>
      </p:sp>
      <p:sp>
        <p:nvSpPr>
          <p:cNvPr id="21" name="Rectangle 20"/>
          <p:cNvSpPr/>
          <p:nvPr/>
        </p:nvSpPr>
        <p:spPr>
          <a:xfrm>
            <a:off x="4206240" y="1810512"/>
            <a:ext cx="3767328" cy="594360"/>
          </a:xfrm>
          <a:prstGeom prst="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15968" y="1847088"/>
            <a:ext cx="3547872" cy="530352"/>
          </a:xfrm>
          <a:prstGeom prst="rect">
            <a:avLst/>
          </a:prstGeom>
          <a:noFill/>
        </p:spPr>
        <p:txBody>
          <a:bodyPr wrap="square">
            <a:spAutoFit/>
          </a:bodyPr>
          <a:lstStyle/>
          <a:p>
            <a:pPr algn="l"/>
            <a:r>
              <a:rPr sz="1000" b="0" i="0">
                <a:solidFill>
                  <a:srgbClr val="1F2937"/>
                </a:solidFill>
              </a:rPr>
              <a:t>1. ANOVA F-Test (SelectKBest, top 15 features)</a:t>
            </a:r>
          </a:p>
        </p:txBody>
      </p:sp>
      <p:sp>
        <p:nvSpPr>
          <p:cNvPr id="23" name="Rectangle 22"/>
          <p:cNvSpPr/>
          <p:nvPr/>
        </p:nvSpPr>
        <p:spPr>
          <a:xfrm>
            <a:off x="4206240" y="2468880"/>
            <a:ext cx="3767328" cy="594360"/>
          </a:xfrm>
          <a:prstGeom prst="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15968" y="2505456"/>
            <a:ext cx="3547872" cy="530352"/>
          </a:xfrm>
          <a:prstGeom prst="rect">
            <a:avLst/>
          </a:prstGeom>
          <a:noFill/>
        </p:spPr>
        <p:txBody>
          <a:bodyPr wrap="square">
            <a:spAutoFit/>
          </a:bodyPr>
          <a:lstStyle/>
          <a:p>
            <a:pPr algn="l"/>
            <a:r>
              <a:rPr sz="1000" b="0" i="0">
                <a:solidFill>
                  <a:srgbClr val="1F2937"/>
                </a:solidFill>
              </a:rPr>
              <a:t>2. Backward Wrapper Elimination (17 features)</a:t>
            </a:r>
          </a:p>
        </p:txBody>
      </p:sp>
      <p:sp>
        <p:nvSpPr>
          <p:cNvPr id="25" name="Rectangle 24"/>
          <p:cNvSpPr/>
          <p:nvPr/>
        </p:nvSpPr>
        <p:spPr>
          <a:xfrm>
            <a:off x="4206240" y="3127248"/>
            <a:ext cx="3767328" cy="594360"/>
          </a:xfrm>
          <a:prstGeom prst="rect">
            <a:avLst/>
          </a:prstGeom>
          <a:solidFill>
            <a:srgbClr val="D1FAE5"/>
          </a:solidFill>
          <a:ln w="12700">
            <a:solidFill>
              <a:srgbClr val="059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3163824"/>
            <a:ext cx="3547872" cy="530352"/>
          </a:xfrm>
          <a:prstGeom prst="rect">
            <a:avLst/>
          </a:prstGeom>
          <a:noFill/>
        </p:spPr>
        <p:txBody>
          <a:bodyPr wrap="square">
            <a:spAutoFit/>
          </a:bodyPr>
          <a:lstStyle/>
          <a:p>
            <a:pPr algn="l"/>
            <a:r>
              <a:rPr sz="1000" b="1" i="0">
                <a:solidFill>
                  <a:srgbClr val="059652"/>
                </a:solidFill>
              </a:rPr>
              <a:t>3. RF Gini Feature Importance (top 15 features) ★</a:t>
            </a:r>
          </a:p>
        </p:txBody>
      </p:sp>
      <p:sp>
        <p:nvSpPr>
          <p:cNvPr id="27" name="Rectangle 26"/>
          <p:cNvSpPr/>
          <p:nvPr/>
        </p:nvSpPr>
        <p:spPr>
          <a:xfrm>
            <a:off x="4206240" y="3785616"/>
            <a:ext cx="3767328" cy="594360"/>
          </a:xfrm>
          <a:prstGeom prst="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15968" y="3822191"/>
            <a:ext cx="3547872" cy="530352"/>
          </a:xfrm>
          <a:prstGeom prst="rect">
            <a:avLst/>
          </a:prstGeom>
          <a:noFill/>
        </p:spPr>
        <p:txBody>
          <a:bodyPr wrap="square">
            <a:spAutoFit/>
          </a:bodyPr>
          <a:lstStyle/>
          <a:p>
            <a:pPr algn="l"/>
            <a:r>
              <a:rPr sz="1000" b="0" i="0">
                <a:solidFill>
                  <a:srgbClr val="1F2937"/>
                </a:solidFill>
              </a:rPr>
              <a:t>All tested to eliminate noise &amp; speed inference</a:t>
            </a:r>
          </a:p>
        </p:txBody>
      </p:sp>
      <p:sp>
        <p:nvSpPr>
          <p:cNvPr id="29" name="Rectangle 28"/>
          <p:cNvSpPr/>
          <p:nvPr/>
        </p:nvSpPr>
        <p:spPr>
          <a:xfrm>
            <a:off x="8092440" y="1325880"/>
            <a:ext cx="3767328" cy="4114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79" y="1362456"/>
            <a:ext cx="3584448" cy="320040"/>
          </a:xfrm>
          <a:prstGeom prst="rect">
            <a:avLst/>
          </a:prstGeom>
          <a:noFill/>
        </p:spPr>
        <p:txBody>
          <a:bodyPr wrap="square">
            <a:spAutoFit/>
          </a:bodyPr>
          <a:lstStyle/>
          <a:p>
            <a:pPr algn="l"/>
            <a:r>
              <a:rPr sz="1150" b="1" i="0">
                <a:solidFill>
                  <a:srgbClr val="FFFFFF"/>
                </a:solidFill>
              </a:rPr>
              <a:t>4 Model Families</a:t>
            </a:r>
          </a:p>
        </p:txBody>
      </p:sp>
      <p:sp>
        <p:nvSpPr>
          <p:cNvPr id="31" name="Rectangle 30"/>
          <p:cNvSpPr/>
          <p:nvPr/>
        </p:nvSpPr>
        <p:spPr>
          <a:xfrm>
            <a:off x="8092440" y="1810512"/>
            <a:ext cx="3767328" cy="594360"/>
          </a:xfrm>
          <a:prstGeom prst="rect">
            <a:avLst/>
          </a:prstGeom>
          <a:solidFill>
            <a:srgbClr val="D1FAE5"/>
          </a:solidFill>
          <a:ln w="12700">
            <a:solidFill>
              <a:srgbClr val="059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02167" y="1847088"/>
            <a:ext cx="3547872" cy="530352"/>
          </a:xfrm>
          <a:prstGeom prst="rect">
            <a:avLst/>
          </a:prstGeom>
          <a:noFill/>
        </p:spPr>
        <p:txBody>
          <a:bodyPr wrap="square">
            <a:spAutoFit/>
          </a:bodyPr>
          <a:lstStyle/>
          <a:p>
            <a:pPr algn="l"/>
            <a:r>
              <a:rPr sz="1000" b="1" i="0">
                <a:solidFill>
                  <a:srgbClr val="059652"/>
                </a:solidFill>
              </a:rPr>
              <a:t>1. Random Forest (Ensemble Bagging) ★</a:t>
            </a:r>
          </a:p>
        </p:txBody>
      </p:sp>
      <p:sp>
        <p:nvSpPr>
          <p:cNvPr id="33" name="Rectangle 32"/>
          <p:cNvSpPr/>
          <p:nvPr/>
        </p:nvSpPr>
        <p:spPr>
          <a:xfrm>
            <a:off x="8092440" y="2468880"/>
            <a:ext cx="3767328" cy="594360"/>
          </a:xfrm>
          <a:prstGeom prst="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02167" y="2505456"/>
            <a:ext cx="3547872" cy="530352"/>
          </a:xfrm>
          <a:prstGeom prst="rect">
            <a:avLst/>
          </a:prstGeom>
          <a:noFill/>
        </p:spPr>
        <p:txBody>
          <a:bodyPr wrap="square">
            <a:spAutoFit/>
          </a:bodyPr>
          <a:lstStyle/>
          <a:p>
            <a:pPr algn="l"/>
            <a:r>
              <a:rPr sz="1000" b="0" i="0">
                <a:solidFill>
                  <a:srgbClr val="1F2937"/>
                </a:solidFill>
              </a:rPr>
              <a:t>2. Decision Tree (White-Box CART Surrogate)</a:t>
            </a:r>
          </a:p>
        </p:txBody>
      </p:sp>
      <p:sp>
        <p:nvSpPr>
          <p:cNvPr id="35" name="Rectangle 34"/>
          <p:cNvSpPr/>
          <p:nvPr/>
        </p:nvSpPr>
        <p:spPr>
          <a:xfrm>
            <a:off x="8092440" y="3127248"/>
            <a:ext cx="3767328" cy="594360"/>
          </a:xfrm>
          <a:prstGeom prst="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02167" y="3163824"/>
            <a:ext cx="3547872" cy="530352"/>
          </a:xfrm>
          <a:prstGeom prst="rect">
            <a:avLst/>
          </a:prstGeom>
          <a:noFill/>
        </p:spPr>
        <p:txBody>
          <a:bodyPr wrap="square">
            <a:spAutoFit/>
          </a:bodyPr>
          <a:lstStyle/>
          <a:p>
            <a:pPr algn="l"/>
            <a:r>
              <a:rPr sz="1000" b="0" i="0">
                <a:solidFill>
                  <a:srgbClr val="1F2937"/>
                </a:solidFill>
              </a:rPr>
              <a:t>3. Logistic Regression (Linear L2-Penalty)</a:t>
            </a:r>
          </a:p>
        </p:txBody>
      </p:sp>
      <p:sp>
        <p:nvSpPr>
          <p:cNvPr id="37" name="Rectangle 36"/>
          <p:cNvSpPr/>
          <p:nvPr/>
        </p:nvSpPr>
        <p:spPr>
          <a:xfrm>
            <a:off x="8092440" y="3785616"/>
            <a:ext cx="3767328" cy="594360"/>
          </a:xfrm>
          <a:prstGeom prst="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02167" y="3822191"/>
            <a:ext cx="3547872" cy="530352"/>
          </a:xfrm>
          <a:prstGeom prst="rect">
            <a:avLst/>
          </a:prstGeom>
          <a:noFill/>
        </p:spPr>
        <p:txBody>
          <a:bodyPr wrap="square">
            <a:spAutoFit/>
          </a:bodyPr>
          <a:lstStyle/>
          <a:p>
            <a:pPr algn="l"/>
            <a:r>
              <a:rPr sz="1000" b="0" i="0">
                <a:solidFill>
                  <a:srgbClr val="1F2937"/>
                </a:solidFill>
              </a:rPr>
              <a:t>4. Linear Support Vector Machine (SVM)</a:t>
            </a:r>
          </a:p>
        </p:txBody>
      </p:sp>
      <p:sp>
        <p:nvSpPr>
          <p:cNvPr id="39" name="Rectangle 38"/>
          <p:cNvSpPr/>
          <p:nvPr/>
        </p:nvSpPr>
        <p:spPr>
          <a:xfrm>
            <a:off x="320040" y="4553712"/>
            <a:ext cx="11539728" cy="43891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608576"/>
            <a:ext cx="11247120" cy="329184"/>
          </a:xfrm>
          <a:prstGeom prst="rect">
            <a:avLst/>
          </a:prstGeom>
          <a:noFill/>
        </p:spPr>
        <p:txBody>
          <a:bodyPr wrap="square">
            <a:spAutoFit/>
          </a:bodyPr>
          <a:lstStyle/>
          <a:p>
            <a:pPr algn="ctr"/>
            <a:r>
              <a:rPr sz="1300" b="1" i="0">
                <a:solidFill>
                  <a:srgbClr val="FFFFFF"/>
                </a:solidFill>
              </a:rPr>
              <a:t>4 Balancing Techniques  ×  3 Feature Selection Methods  ×  4 ML Algorithms  =  48 Full Experiments</a:t>
            </a:r>
          </a:p>
        </p:txBody>
      </p:sp>
      <p:sp>
        <p:nvSpPr>
          <p:cNvPr id="41" name="TextBox 40"/>
          <p:cNvSpPr txBox="1"/>
          <p:nvPr/>
        </p:nvSpPr>
        <p:spPr>
          <a:xfrm>
            <a:off x="320040" y="5102352"/>
            <a:ext cx="11521440" cy="320040"/>
          </a:xfrm>
          <a:prstGeom prst="rect">
            <a:avLst/>
          </a:prstGeom>
          <a:noFill/>
        </p:spPr>
        <p:txBody>
          <a:bodyPr wrap="square">
            <a:spAutoFit/>
          </a:bodyPr>
          <a:lstStyle/>
          <a:p>
            <a:pPr algn="l"/>
            <a:r>
              <a:rPr sz="1250" b="1" i="0">
                <a:solidFill>
                  <a:srgbClr val="1E3A8A"/>
                </a:solidFill>
              </a:rPr>
              <a:t>Validation &amp; Optimization Protocol</a:t>
            </a:r>
          </a:p>
        </p:txBody>
      </p:sp>
      <p:sp>
        <p:nvSpPr>
          <p:cNvPr id="42" name="Rectangle 41"/>
          <p:cNvSpPr/>
          <p:nvPr/>
        </p:nvSpPr>
        <p:spPr>
          <a:xfrm>
            <a:off x="320040" y="5468112"/>
            <a:ext cx="3767328" cy="960120"/>
          </a:xfrm>
          <a:prstGeom prst="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29768" y="5522976"/>
            <a:ext cx="3547872" cy="256032"/>
          </a:xfrm>
          <a:prstGeom prst="rect">
            <a:avLst/>
          </a:prstGeom>
          <a:noFill/>
        </p:spPr>
        <p:txBody>
          <a:bodyPr wrap="square">
            <a:spAutoFit/>
          </a:bodyPr>
          <a:lstStyle/>
          <a:p>
            <a:pPr algn="l"/>
            <a:r>
              <a:rPr sz="1050" b="1" i="0">
                <a:solidFill>
                  <a:srgbClr val="1E3A8A"/>
                </a:solidFill>
              </a:rPr>
              <a:t>Hyperparameter Tuning</a:t>
            </a:r>
          </a:p>
        </p:txBody>
      </p:sp>
      <p:sp>
        <p:nvSpPr>
          <p:cNvPr id="44" name="TextBox 43"/>
          <p:cNvSpPr txBox="1"/>
          <p:nvPr/>
        </p:nvSpPr>
        <p:spPr>
          <a:xfrm>
            <a:off x="429768" y="5797296"/>
            <a:ext cx="3547872" cy="566928"/>
          </a:xfrm>
          <a:prstGeom prst="rect">
            <a:avLst/>
          </a:prstGeom>
          <a:noFill/>
        </p:spPr>
        <p:txBody>
          <a:bodyPr wrap="square">
            <a:spAutoFit/>
          </a:bodyPr>
          <a:lstStyle/>
          <a:p>
            <a:pPr algn="l"/>
            <a:r>
              <a:rPr sz="950" b="0" i="0">
                <a:solidFill>
                  <a:srgbClr val="1F2937"/>
                </a:solidFill>
              </a:rPr>
              <a:t>5-Fold GridSearchCV on training folds only. Zero leakage into the held-out test vault.</a:t>
            </a:r>
          </a:p>
        </p:txBody>
      </p:sp>
      <p:sp>
        <p:nvSpPr>
          <p:cNvPr id="45" name="Rectangle 44"/>
          <p:cNvSpPr/>
          <p:nvPr/>
        </p:nvSpPr>
        <p:spPr>
          <a:xfrm>
            <a:off x="4206240" y="5468112"/>
            <a:ext cx="3767328" cy="960120"/>
          </a:xfrm>
          <a:prstGeom prst="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315968" y="5522976"/>
            <a:ext cx="3547872" cy="256032"/>
          </a:xfrm>
          <a:prstGeom prst="rect">
            <a:avLst/>
          </a:prstGeom>
          <a:noFill/>
        </p:spPr>
        <p:txBody>
          <a:bodyPr wrap="square">
            <a:spAutoFit/>
          </a:bodyPr>
          <a:lstStyle/>
          <a:p>
            <a:pPr algn="l"/>
            <a:r>
              <a:rPr sz="1050" b="1" i="0">
                <a:solidFill>
                  <a:srgbClr val="1E3A8A"/>
                </a:solidFill>
              </a:rPr>
              <a:t>Stability Verification</a:t>
            </a:r>
          </a:p>
        </p:txBody>
      </p:sp>
      <p:sp>
        <p:nvSpPr>
          <p:cNvPr id="47" name="TextBox 46"/>
          <p:cNvSpPr txBox="1"/>
          <p:nvPr/>
        </p:nvSpPr>
        <p:spPr>
          <a:xfrm>
            <a:off x="4315968" y="5797296"/>
            <a:ext cx="3547872" cy="566928"/>
          </a:xfrm>
          <a:prstGeom prst="rect">
            <a:avLst/>
          </a:prstGeom>
          <a:noFill/>
        </p:spPr>
        <p:txBody>
          <a:bodyPr wrap="square">
            <a:spAutoFit/>
          </a:bodyPr>
          <a:lstStyle/>
          <a:p>
            <a:pPr algn="l"/>
            <a:r>
              <a:rPr sz="950" b="0" i="0">
                <a:solidFill>
                  <a:srgbClr val="1F2937"/>
                </a:solidFill>
              </a:rPr>
              <a:t>10-Fold Cross-Validation on balanced training data to confirm low variance across folds.</a:t>
            </a:r>
          </a:p>
        </p:txBody>
      </p:sp>
      <p:sp>
        <p:nvSpPr>
          <p:cNvPr id="48" name="Rectangle 47"/>
          <p:cNvSpPr/>
          <p:nvPr/>
        </p:nvSpPr>
        <p:spPr>
          <a:xfrm>
            <a:off x="8092440" y="5468112"/>
            <a:ext cx="3767328" cy="960120"/>
          </a:xfrm>
          <a:prstGeom prst="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02167" y="5522976"/>
            <a:ext cx="3547872" cy="256032"/>
          </a:xfrm>
          <a:prstGeom prst="rect">
            <a:avLst/>
          </a:prstGeom>
          <a:noFill/>
        </p:spPr>
        <p:txBody>
          <a:bodyPr wrap="square">
            <a:spAutoFit/>
          </a:bodyPr>
          <a:lstStyle/>
          <a:p>
            <a:pPr algn="l"/>
            <a:r>
              <a:rPr sz="1050" b="1" i="0">
                <a:solidFill>
                  <a:srgbClr val="1E3A8A"/>
                </a:solidFill>
              </a:rPr>
              <a:t>Evaluation Hierarchy</a:t>
            </a:r>
          </a:p>
        </p:txBody>
      </p:sp>
      <p:sp>
        <p:nvSpPr>
          <p:cNvPr id="50" name="TextBox 49"/>
          <p:cNvSpPr txBox="1"/>
          <p:nvPr/>
        </p:nvSpPr>
        <p:spPr>
          <a:xfrm>
            <a:off x="8202167" y="5797296"/>
            <a:ext cx="3547872" cy="566928"/>
          </a:xfrm>
          <a:prstGeom prst="rect">
            <a:avLst/>
          </a:prstGeom>
          <a:noFill/>
        </p:spPr>
        <p:txBody>
          <a:bodyPr wrap="square">
            <a:spAutoFit/>
          </a:bodyPr>
          <a:lstStyle/>
          <a:p>
            <a:pPr algn="l"/>
            <a:r>
              <a:rPr sz="950" b="0" i="0">
                <a:solidFill>
                  <a:srgbClr val="1F2937"/>
                </a:solidFill>
              </a:rPr>
              <a:t>1st: Highest Recall (catching dropouts) → 2nd: Highest Precision → 3rd: AUC-ROC stability.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66928"/>
          </a:xfrm>
          <a:prstGeom prst="rect">
            <a:avLst/>
          </a:prstGeom>
          <a:noFill/>
        </p:spPr>
        <p:txBody>
          <a:bodyPr wrap="square">
            <a:spAutoFit/>
          </a:bodyPr>
          <a:lstStyle/>
          <a:p>
            <a:pPr algn="l"/>
            <a:r>
              <a:rPr sz="2300" b="1" i="0">
                <a:solidFill>
                  <a:srgbClr val="FFFFFF"/>
                </a:solidFill>
              </a:rPr>
              <a:t>Slide 5: Phase 2 — Benchmark Results &amp; Champion Selection</a:t>
            </a:r>
          </a:p>
        </p:txBody>
      </p:sp>
      <p:sp>
        <p:nvSpPr>
          <p:cNvPr id="5" name="TextBox 4"/>
          <p:cNvSpPr txBox="1"/>
          <p:nvPr/>
        </p:nvSpPr>
        <p:spPr>
          <a:xfrm>
            <a:off x="365760" y="640080"/>
            <a:ext cx="11430000" cy="411480"/>
          </a:xfrm>
          <a:prstGeom prst="rect">
            <a:avLst/>
          </a:prstGeom>
          <a:noFill/>
        </p:spPr>
        <p:txBody>
          <a:bodyPr wrap="square">
            <a:spAutoFit/>
          </a:bodyPr>
          <a:lstStyle/>
          <a:p>
            <a:pPr algn="l"/>
            <a:r>
              <a:rPr sz="1100" b="0" i="0">
                <a:solidFill>
                  <a:srgbClr val="BFDBFF"/>
                </a:solidFill>
              </a:rPr>
              <a:t>Evaluated on 3,017 completely held-out, unseen test vault students</a:t>
            </a:r>
          </a:p>
        </p:txBody>
      </p:sp>
      <p:sp>
        <p:nvSpPr>
          <p:cNvPr id="6" name="Rectangle 5"/>
          <p:cNvSpPr/>
          <p:nvPr/>
        </p:nvSpPr>
        <p:spPr>
          <a:xfrm>
            <a:off x="0" y="6565392"/>
            <a:ext cx="12188952"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74536"/>
            <a:ext cx="9601200" cy="256032"/>
          </a:xfrm>
          <a:prstGeom prst="rect">
            <a:avLst/>
          </a:prstGeom>
          <a:noFill/>
        </p:spPr>
        <p:txBody>
          <a:bodyPr wrap="square">
            <a:spAutoFit/>
          </a:bodyPr>
          <a:lstStyle/>
          <a:p>
            <a:pPr algn="l"/>
            <a:r>
              <a:rPr sz="850" b="0" i="0">
                <a:solidFill>
                  <a:srgbClr val="FFFFFF"/>
                </a:solidFill>
              </a:rPr>
              <a:t>Student Dropout XAI &amp; Governance Framework  |  Evaluation Presentation &amp; Defense</a:t>
            </a:r>
          </a:p>
        </p:txBody>
      </p:sp>
      <p:sp>
        <p:nvSpPr>
          <p:cNvPr id="8" name="TextBox 7"/>
          <p:cNvSpPr txBox="1"/>
          <p:nvPr/>
        </p:nvSpPr>
        <p:spPr>
          <a:xfrm>
            <a:off x="10515600" y="6574536"/>
            <a:ext cx="1371600" cy="256032"/>
          </a:xfrm>
          <a:prstGeom prst="rect">
            <a:avLst/>
          </a:prstGeom>
          <a:noFill/>
        </p:spPr>
        <p:txBody>
          <a:bodyPr wrap="square">
            <a:spAutoFit/>
          </a:bodyPr>
          <a:lstStyle/>
          <a:p>
            <a:pPr algn="r"/>
            <a:r>
              <a:rPr sz="850" b="0" i="0">
                <a:solidFill>
                  <a:srgbClr val="FFFFFF"/>
                </a:solidFill>
              </a:rPr>
              <a:t>Slide 5 of 10</a:t>
            </a:r>
          </a:p>
        </p:txBody>
      </p:sp>
      <p:sp>
        <p:nvSpPr>
          <p:cNvPr id="9" name="TextBox 8"/>
          <p:cNvSpPr txBox="1"/>
          <p:nvPr/>
        </p:nvSpPr>
        <p:spPr>
          <a:xfrm>
            <a:off x="320040" y="1261872"/>
            <a:ext cx="11521440" cy="320040"/>
          </a:xfrm>
          <a:prstGeom prst="rect">
            <a:avLst/>
          </a:prstGeom>
          <a:noFill/>
        </p:spPr>
        <p:txBody>
          <a:bodyPr wrap="square">
            <a:spAutoFit/>
          </a:bodyPr>
          <a:lstStyle/>
          <a:p>
            <a:pPr algn="l"/>
            <a:r>
              <a:rPr sz="1300" b="1" i="0">
                <a:solidFill>
                  <a:srgbClr val="1E3A8A"/>
                </a:solidFill>
              </a:rPr>
              <a:t>Leaderboard: Top Model per Algorithm Family</a:t>
            </a:r>
          </a:p>
        </p:txBody>
      </p:sp>
      <p:sp>
        <p:nvSpPr>
          <p:cNvPr id="10" name="Rectangle 9"/>
          <p:cNvSpPr/>
          <p:nvPr/>
        </p:nvSpPr>
        <p:spPr>
          <a:xfrm>
            <a:off x="320040" y="1627632"/>
            <a:ext cx="2011680" cy="512064"/>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4" y="1673352"/>
            <a:ext cx="1901952" cy="438912"/>
          </a:xfrm>
          <a:prstGeom prst="rect">
            <a:avLst/>
          </a:prstGeom>
          <a:noFill/>
        </p:spPr>
        <p:txBody>
          <a:bodyPr wrap="square">
            <a:spAutoFit/>
          </a:bodyPr>
          <a:lstStyle/>
          <a:p>
            <a:pPr algn="l"/>
            <a:r>
              <a:rPr sz="980" b="1" i="0">
                <a:solidFill>
                  <a:srgbClr val="FFFFFF"/>
                </a:solidFill>
              </a:rPr>
              <a:t>Algorithm Family</a:t>
            </a:r>
          </a:p>
        </p:txBody>
      </p:sp>
      <p:sp>
        <p:nvSpPr>
          <p:cNvPr id="12" name="Rectangle 11"/>
          <p:cNvSpPr/>
          <p:nvPr/>
        </p:nvSpPr>
        <p:spPr>
          <a:xfrm>
            <a:off x="2331720" y="1627632"/>
            <a:ext cx="2926080" cy="512064"/>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6584" y="1673352"/>
            <a:ext cx="2816352" cy="438912"/>
          </a:xfrm>
          <a:prstGeom prst="rect">
            <a:avLst/>
          </a:prstGeom>
          <a:noFill/>
        </p:spPr>
        <p:txBody>
          <a:bodyPr wrap="square">
            <a:spAutoFit/>
          </a:bodyPr>
          <a:lstStyle/>
          <a:p>
            <a:pPr algn="l"/>
            <a:r>
              <a:rPr sz="980" b="1" i="0">
                <a:solidFill>
                  <a:srgbClr val="FFFFFF"/>
                </a:solidFill>
              </a:rPr>
              <a:t>Optimal Configuration</a:t>
            </a:r>
          </a:p>
        </p:txBody>
      </p:sp>
      <p:sp>
        <p:nvSpPr>
          <p:cNvPr id="14" name="Rectangle 13"/>
          <p:cNvSpPr/>
          <p:nvPr/>
        </p:nvSpPr>
        <p:spPr>
          <a:xfrm>
            <a:off x="5257800" y="1627632"/>
            <a:ext cx="1005840" cy="512064"/>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12664" y="1673352"/>
            <a:ext cx="896112" cy="438912"/>
          </a:xfrm>
          <a:prstGeom prst="rect">
            <a:avLst/>
          </a:prstGeom>
          <a:noFill/>
        </p:spPr>
        <p:txBody>
          <a:bodyPr wrap="square">
            <a:spAutoFit/>
          </a:bodyPr>
          <a:lstStyle/>
          <a:p>
            <a:pPr algn="l"/>
            <a:r>
              <a:rPr sz="980" b="1" i="0">
                <a:solidFill>
                  <a:srgbClr val="FFFFFF"/>
                </a:solidFill>
              </a:rPr>
              <a:t>Test Recall</a:t>
            </a:r>
          </a:p>
        </p:txBody>
      </p:sp>
      <p:sp>
        <p:nvSpPr>
          <p:cNvPr id="16" name="Rectangle 15"/>
          <p:cNvSpPr/>
          <p:nvPr/>
        </p:nvSpPr>
        <p:spPr>
          <a:xfrm>
            <a:off x="6263640" y="1627632"/>
            <a:ext cx="1097280" cy="512064"/>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3" y="1673352"/>
            <a:ext cx="987552" cy="438912"/>
          </a:xfrm>
          <a:prstGeom prst="rect">
            <a:avLst/>
          </a:prstGeom>
          <a:noFill/>
        </p:spPr>
        <p:txBody>
          <a:bodyPr wrap="square">
            <a:spAutoFit/>
          </a:bodyPr>
          <a:lstStyle/>
          <a:p>
            <a:pPr algn="l"/>
            <a:r>
              <a:rPr sz="980" b="1" i="0">
                <a:solidFill>
                  <a:srgbClr val="FFFFFF"/>
                </a:solidFill>
              </a:rPr>
              <a:t>Test Precision</a:t>
            </a:r>
          </a:p>
        </p:txBody>
      </p:sp>
      <p:sp>
        <p:nvSpPr>
          <p:cNvPr id="18" name="Rectangle 17"/>
          <p:cNvSpPr/>
          <p:nvPr/>
        </p:nvSpPr>
        <p:spPr>
          <a:xfrm>
            <a:off x="7360919" y="1627632"/>
            <a:ext cx="1097280" cy="512064"/>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15783" y="1673352"/>
            <a:ext cx="987552" cy="438912"/>
          </a:xfrm>
          <a:prstGeom prst="rect">
            <a:avLst/>
          </a:prstGeom>
          <a:noFill/>
        </p:spPr>
        <p:txBody>
          <a:bodyPr wrap="square">
            <a:spAutoFit/>
          </a:bodyPr>
          <a:lstStyle/>
          <a:p>
            <a:pPr algn="l"/>
            <a:r>
              <a:rPr sz="980" b="1" i="0">
                <a:solidFill>
                  <a:srgbClr val="FFFFFF"/>
                </a:solidFill>
              </a:rPr>
              <a:t>Test Accuracy</a:t>
            </a:r>
          </a:p>
        </p:txBody>
      </p:sp>
      <p:sp>
        <p:nvSpPr>
          <p:cNvPr id="20" name="Rectangle 19"/>
          <p:cNvSpPr/>
          <p:nvPr/>
        </p:nvSpPr>
        <p:spPr>
          <a:xfrm>
            <a:off x="8458199" y="1627632"/>
            <a:ext cx="1005840" cy="512064"/>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13063" y="1673352"/>
            <a:ext cx="896112" cy="438912"/>
          </a:xfrm>
          <a:prstGeom prst="rect">
            <a:avLst/>
          </a:prstGeom>
          <a:noFill/>
        </p:spPr>
        <p:txBody>
          <a:bodyPr wrap="square">
            <a:spAutoFit/>
          </a:bodyPr>
          <a:lstStyle/>
          <a:p>
            <a:pPr algn="l"/>
            <a:r>
              <a:rPr sz="980" b="1" i="0">
                <a:solidFill>
                  <a:srgbClr val="FFFFFF"/>
                </a:solidFill>
              </a:rPr>
              <a:t>ROC-AUC</a:t>
            </a:r>
          </a:p>
        </p:txBody>
      </p:sp>
      <p:sp>
        <p:nvSpPr>
          <p:cNvPr id="22" name="Rectangle 21"/>
          <p:cNvSpPr/>
          <p:nvPr/>
        </p:nvSpPr>
        <p:spPr>
          <a:xfrm>
            <a:off x="9464039" y="1627632"/>
            <a:ext cx="2377440" cy="512064"/>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18903" y="1673352"/>
            <a:ext cx="2267712" cy="438912"/>
          </a:xfrm>
          <a:prstGeom prst="rect">
            <a:avLst/>
          </a:prstGeom>
          <a:noFill/>
        </p:spPr>
        <p:txBody>
          <a:bodyPr wrap="square">
            <a:spAutoFit/>
          </a:bodyPr>
          <a:lstStyle/>
          <a:p>
            <a:pPr algn="l"/>
            <a:r>
              <a:rPr sz="980" b="1" i="0">
                <a:solidFill>
                  <a:srgbClr val="FFFFFF"/>
                </a:solidFill>
              </a:rPr>
              <a:t>Institutional Verdict</a:t>
            </a:r>
          </a:p>
        </p:txBody>
      </p:sp>
      <p:sp>
        <p:nvSpPr>
          <p:cNvPr id="24" name="Rectangle 23"/>
          <p:cNvSpPr/>
          <p:nvPr/>
        </p:nvSpPr>
        <p:spPr>
          <a:xfrm>
            <a:off x="320040" y="2157984"/>
            <a:ext cx="2011680" cy="512064"/>
          </a:xfrm>
          <a:prstGeom prst="rect">
            <a:avLst/>
          </a:prstGeom>
          <a:solidFill>
            <a:srgbClr val="D1FAE5"/>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4904" y="2203703"/>
            <a:ext cx="1901952" cy="438912"/>
          </a:xfrm>
          <a:prstGeom prst="rect">
            <a:avLst/>
          </a:prstGeom>
          <a:noFill/>
        </p:spPr>
        <p:txBody>
          <a:bodyPr wrap="square">
            <a:spAutoFit/>
          </a:bodyPr>
          <a:lstStyle/>
          <a:p>
            <a:pPr algn="l"/>
            <a:r>
              <a:rPr sz="919" b="1" i="0">
                <a:solidFill>
                  <a:srgbClr val="1F2937"/>
                </a:solidFill>
              </a:rPr>
              <a:t>Random Forest ★</a:t>
            </a:r>
          </a:p>
        </p:txBody>
      </p:sp>
      <p:sp>
        <p:nvSpPr>
          <p:cNvPr id="26" name="Rectangle 25"/>
          <p:cNvSpPr/>
          <p:nvPr/>
        </p:nvSpPr>
        <p:spPr>
          <a:xfrm>
            <a:off x="2331720" y="2157984"/>
            <a:ext cx="2926080" cy="512064"/>
          </a:xfrm>
          <a:prstGeom prst="rect">
            <a:avLst/>
          </a:prstGeom>
          <a:solidFill>
            <a:srgbClr val="D1FAE5"/>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6584" y="2203703"/>
            <a:ext cx="2816352" cy="438912"/>
          </a:xfrm>
          <a:prstGeom prst="rect">
            <a:avLst/>
          </a:prstGeom>
          <a:noFill/>
        </p:spPr>
        <p:txBody>
          <a:bodyPr wrap="square">
            <a:spAutoFit/>
          </a:bodyPr>
          <a:lstStyle/>
          <a:p>
            <a:pPr algn="l"/>
            <a:r>
              <a:rPr sz="919" b="1" i="0">
                <a:solidFill>
                  <a:srgbClr val="1F2937"/>
                </a:solidFill>
              </a:rPr>
              <a:t>UnderSampling + Feature Importance</a:t>
            </a:r>
          </a:p>
        </p:txBody>
      </p:sp>
      <p:sp>
        <p:nvSpPr>
          <p:cNvPr id="28" name="Rectangle 27"/>
          <p:cNvSpPr/>
          <p:nvPr/>
        </p:nvSpPr>
        <p:spPr>
          <a:xfrm>
            <a:off x="5257800" y="2157984"/>
            <a:ext cx="1005840" cy="512064"/>
          </a:xfrm>
          <a:prstGeom prst="rect">
            <a:avLst/>
          </a:prstGeom>
          <a:solidFill>
            <a:srgbClr val="D1FAE5"/>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12664" y="2203703"/>
            <a:ext cx="896112" cy="438912"/>
          </a:xfrm>
          <a:prstGeom prst="rect">
            <a:avLst/>
          </a:prstGeom>
          <a:noFill/>
        </p:spPr>
        <p:txBody>
          <a:bodyPr wrap="square">
            <a:spAutoFit/>
          </a:bodyPr>
          <a:lstStyle/>
          <a:p>
            <a:pPr algn="l"/>
            <a:r>
              <a:rPr sz="919" b="1" i="0">
                <a:solidFill>
                  <a:srgbClr val="059652"/>
                </a:solidFill>
              </a:rPr>
              <a:t>84.8%</a:t>
            </a:r>
          </a:p>
        </p:txBody>
      </p:sp>
      <p:sp>
        <p:nvSpPr>
          <p:cNvPr id="30" name="Rectangle 29"/>
          <p:cNvSpPr/>
          <p:nvPr/>
        </p:nvSpPr>
        <p:spPr>
          <a:xfrm>
            <a:off x="6263640" y="2157984"/>
            <a:ext cx="1097280" cy="512064"/>
          </a:xfrm>
          <a:prstGeom prst="rect">
            <a:avLst/>
          </a:prstGeom>
          <a:solidFill>
            <a:srgbClr val="D1FAE5"/>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18503" y="2203703"/>
            <a:ext cx="987552" cy="438912"/>
          </a:xfrm>
          <a:prstGeom prst="rect">
            <a:avLst/>
          </a:prstGeom>
          <a:noFill/>
        </p:spPr>
        <p:txBody>
          <a:bodyPr wrap="square">
            <a:spAutoFit/>
          </a:bodyPr>
          <a:lstStyle/>
          <a:p>
            <a:pPr algn="l"/>
            <a:r>
              <a:rPr sz="919" b="1" i="0">
                <a:solidFill>
                  <a:srgbClr val="059652"/>
                </a:solidFill>
              </a:rPr>
              <a:t>83.6%</a:t>
            </a:r>
          </a:p>
        </p:txBody>
      </p:sp>
      <p:sp>
        <p:nvSpPr>
          <p:cNvPr id="32" name="Rectangle 31"/>
          <p:cNvSpPr/>
          <p:nvPr/>
        </p:nvSpPr>
        <p:spPr>
          <a:xfrm>
            <a:off x="7360919" y="2157984"/>
            <a:ext cx="1097280" cy="512064"/>
          </a:xfrm>
          <a:prstGeom prst="rect">
            <a:avLst/>
          </a:prstGeom>
          <a:solidFill>
            <a:srgbClr val="D1FAE5"/>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15783" y="2203703"/>
            <a:ext cx="987552" cy="438912"/>
          </a:xfrm>
          <a:prstGeom prst="rect">
            <a:avLst/>
          </a:prstGeom>
          <a:noFill/>
        </p:spPr>
        <p:txBody>
          <a:bodyPr wrap="square">
            <a:spAutoFit/>
          </a:bodyPr>
          <a:lstStyle/>
          <a:p>
            <a:pPr algn="l"/>
            <a:r>
              <a:rPr sz="919" b="1" i="0">
                <a:solidFill>
                  <a:srgbClr val="059652"/>
                </a:solidFill>
              </a:rPr>
              <a:t>92.9%</a:t>
            </a:r>
          </a:p>
        </p:txBody>
      </p:sp>
      <p:sp>
        <p:nvSpPr>
          <p:cNvPr id="34" name="Rectangle 33"/>
          <p:cNvSpPr/>
          <p:nvPr/>
        </p:nvSpPr>
        <p:spPr>
          <a:xfrm>
            <a:off x="8458199" y="2157984"/>
            <a:ext cx="1005840" cy="512064"/>
          </a:xfrm>
          <a:prstGeom prst="rect">
            <a:avLst/>
          </a:prstGeom>
          <a:solidFill>
            <a:srgbClr val="D1FAE5"/>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13063" y="2203703"/>
            <a:ext cx="896112" cy="438912"/>
          </a:xfrm>
          <a:prstGeom prst="rect">
            <a:avLst/>
          </a:prstGeom>
          <a:noFill/>
        </p:spPr>
        <p:txBody>
          <a:bodyPr wrap="square">
            <a:spAutoFit/>
          </a:bodyPr>
          <a:lstStyle/>
          <a:p>
            <a:pPr algn="l"/>
            <a:r>
              <a:rPr sz="919" b="1" i="0">
                <a:solidFill>
                  <a:srgbClr val="059652"/>
                </a:solidFill>
              </a:rPr>
              <a:t>0.951</a:t>
            </a:r>
          </a:p>
        </p:txBody>
      </p:sp>
      <p:sp>
        <p:nvSpPr>
          <p:cNvPr id="36" name="Rectangle 35"/>
          <p:cNvSpPr/>
          <p:nvPr/>
        </p:nvSpPr>
        <p:spPr>
          <a:xfrm>
            <a:off x="9464039" y="2157984"/>
            <a:ext cx="2377440" cy="512064"/>
          </a:xfrm>
          <a:prstGeom prst="rect">
            <a:avLst/>
          </a:prstGeom>
          <a:solidFill>
            <a:srgbClr val="D1FAE5"/>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518903" y="2203703"/>
            <a:ext cx="2267712" cy="438912"/>
          </a:xfrm>
          <a:prstGeom prst="rect">
            <a:avLst/>
          </a:prstGeom>
          <a:noFill/>
        </p:spPr>
        <p:txBody>
          <a:bodyPr wrap="square">
            <a:spAutoFit/>
          </a:bodyPr>
          <a:lstStyle/>
          <a:p>
            <a:pPr algn="l"/>
            <a:r>
              <a:rPr sz="919" b="1" i="0">
                <a:solidFill>
                  <a:srgbClr val="1F2937"/>
                </a:solidFill>
              </a:rPr>
              <a:t>CHAMPION — Optimal Balance</a:t>
            </a:r>
          </a:p>
        </p:txBody>
      </p:sp>
      <p:sp>
        <p:nvSpPr>
          <p:cNvPr id="38" name="Rectangle 37"/>
          <p:cNvSpPr/>
          <p:nvPr/>
        </p:nvSpPr>
        <p:spPr>
          <a:xfrm>
            <a:off x="320040" y="2688336"/>
            <a:ext cx="2011680" cy="512064"/>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2734056"/>
            <a:ext cx="1901952" cy="438912"/>
          </a:xfrm>
          <a:prstGeom prst="rect">
            <a:avLst/>
          </a:prstGeom>
          <a:noFill/>
        </p:spPr>
        <p:txBody>
          <a:bodyPr wrap="square">
            <a:spAutoFit/>
          </a:bodyPr>
          <a:lstStyle/>
          <a:p>
            <a:pPr algn="l"/>
            <a:r>
              <a:rPr sz="919" b="1" i="0">
                <a:solidFill>
                  <a:srgbClr val="1F2937"/>
                </a:solidFill>
              </a:rPr>
              <a:t>Decision Tree</a:t>
            </a:r>
          </a:p>
        </p:txBody>
      </p:sp>
      <p:sp>
        <p:nvSpPr>
          <p:cNvPr id="40" name="Rectangle 39"/>
          <p:cNvSpPr/>
          <p:nvPr/>
        </p:nvSpPr>
        <p:spPr>
          <a:xfrm>
            <a:off x="2331720" y="2688336"/>
            <a:ext cx="2926080" cy="512064"/>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86584" y="2734056"/>
            <a:ext cx="2816352" cy="438912"/>
          </a:xfrm>
          <a:prstGeom prst="rect">
            <a:avLst/>
          </a:prstGeom>
          <a:noFill/>
        </p:spPr>
        <p:txBody>
          <a:bodyPr wrap="square">
            <a:spAutoFit/>
          </a:bodyPr>
          <a:lstStyle/>
          <a:p>
            <a:pPr algn="l"/>
            <a:r>
              <a:rPr sz="919" b="0" i="0">
                <a:solidFill>
                  <a:srgbClr val="1F2937"/>
                </a:solidFill>
              </a:rPr>
              <a:t>UnderSampling + ANOVA F-Test</a:t>
            </a:r>
          </a:p>
        </p:txBody>
      </p:sp>
      <p:sp>
        <p:nvSpPr>
          <p:cNvPr id="42" name="Rectangle 41"/>
          <p:cNvSpPr/>
          <p:nvPr/>
        </p:nvSpPr>
        <p:spPr>
          <a:xfrm>
            <a:off x="5257800" y="2688336"/>
            <a:ext cx="1005840" cy="512064"/>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12664" y="2734056"/>
            <a:ext cx="896112" cy="438912"/>
          </a:xfrm>
          <a:prstGeom prst="rect">
            <a:avLst/>
          </a:prstGeom>
          <a:noFill/>
        </p:spPr>
        <p:txBody>
          <a:bodyPr wrap="square">
            <a:spAutoFit/>
          </a:bodyPr>
          <a:lstStyle/>
          <a:p>
            <a:pPr algn="l"/>
            <a:r>
              <a:rPr sz="919" b="0" i="0">
                <a:solidFill>
                  <a:srgbClr val="1F2937"/>
                </a:solidFill>
              </a:rPr>
              <a:t>84.6%</a:t>
            </a:r>
          </a:p>
        </p:txBody>
      </p:sp>
      <p:sp>
        <p:nvSpPr>
          <p:cNvPr id="44" name="Rectangle 43"/>
          <p:cNvSpPr/>
          <p:nvPr/>
        </p:nvSpPr>
        <p:spPr>
          <a:xfrm>
            <a:off x="6263640" y="2688336"/>
            <a:ext cx="1097280" cy="512064"/>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18503" y="2734056"/>
            <a:ext cx="987552" cy="438912"/>
          </a:xfrm>
          <a:prstGeom prst="rect">
            <a:avLst/>
          </a:prstGeom>
          <a:noFill/>
        </p:spPr>
        <p:txBody>
          <a:bodyPr wrap="square">
            <a:spAutoFit/>
          </a:bodyPr>
          <a:lstStyle/>
          <a:p>
            <a:pPr algn="l"/>
            <a:r>
              <a:rPr sz="919" b="0" i="0">
                <a:solidFill>
                  <a:srgbClr val="1F2937"/>
                </a:solidFill>
              </a:rPr>
              <a:t>64.0%</a:t>
            </a:r>
          </a:p>
        </p:txBody>
      </p:sp>
      <p:sp>
        <p:nvSpPr>
          <p:cNvPr id="46" name="Rectangle 45"/>
          <p:cNvSpPr/>
          <p:nvPr/>
        </p:nvSpPr>
        <p:spPr>
          <a:xfrm>
            <a:off x="7360919" y="2688336"/>
            <a:ext cx="1097280" cy="512064"/>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15783" y="2734056"/>
            <a:ext cx="987552" cy="438912"/>
          </a:xfrm>
          <a:prstGeom prst="rect">
            <a:avLst/>
          </a:prstGeom>
          <a:noFill/>
        </p:spPr>
        <p:txBody>
          <a:bodyPr wrap="square">
            <a:spAutoFit/>
          </a:bodyPr>
          <a:lstStyle/>
          <a:p>
            <a:pPr algn="l"/>
            <a:r>
              <a:rPr sz="919" b="0" i="0">
                <a:solidFill>
                  <a:srgbClr val="1F2937"/>
                </a:solidFill>
              </a:rPr>
              <a:t>85.9%</a:t>
            </a:r>
          </a:p>
        </p:txBody>
      </p:sp>
      <p:sp>
        <p:nvSpPr>
          <p:cNvPr id="48" name="Rectangle 47"/>
          <p:cNvSpPr/>
          <p:nvPr/>
        </p:nvSpPr>
        <p:spPr>
          <a:xfrm>
            <a:off x="8458199" y="2688336"/>
            <a:ext cx="1005840" cy="512064"/>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513063" y="2734056"/>
            <a:ext cx="896112" cy="438912"/>
          </a:xfrm>
          <a:prstGeom prst="rect">
            <a:avLst/>
          </a:prstGeom>
          <a:noFill/>
        </p:spPr>
        <p:txBody>
          <a:bodyPr wrap="square">
            <a:spAutoFit/>
          </a:bodyPr>
          <a:lstStyle/>
          <a:p>
            <a:pPr algn="l"/>
            <a:r>
              <a:rPr sz="919" b="0" i="0">
                <a:solidFill>
                  <a:srgbClr val="1F2937"/>
                </a:solidFill>
              </a:rPr>
              <a:t>0.854</a:t>
            </a:r>
          </a:p>
        </p:txBody>
      </p:sp>
      <p:sp>
        <p:nvSpPr>
          <p:cNvPr id="50" name="Rectangle 49"/>
          <p:cNvSpPr/>
          <p:nvPr/>
        </p:nvSpPr>
        <p:spPr>
          <a:xfrm>
            <a:off x="9464039" y="2688336"/>
            <a:ext cx="2377440" cy="512064"/>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518903" y="2734056"/>
            <a:ext cx="2267712" cy="438912"/>
          </a:xfrm>
          <a:prstGeom prst="rect">
            <a:avLst/>
          </a:prstGeom>
          <a:noFill/>
        </p:spPr>
        <p:txBody>
          <a:bodyPr wrap="square">
            <a:spAutoFit/>
          </a:bodyPr>
          <a:lstStyle/>
          <a:p>
            <a:pPr algn="l"/>
            <a:r>
              <a:rPr sz="919" b="0" i="0">
                <a:solidFill>
                  <a:srgbClr val="1F2937"/>
                </a:solidFill>
              </a:rPr>
              <a:t>White-Box Surrogate Baseline</a:t>
            </a:r>
          </a:p>
        </p:txBody>
      </p:sp>
      <p:sp>
        <p:nvSpPr>
          <p:cNvPr id="52" name="Rectangle 51"/>
          <p:cNvSpPr/>
          <p:nvPr/>
        </p:nvSpPr>
        <p:spPr>
          <a:xfrm>
            <a:off x="320040" y="3218687"/>
            <a:ext cx="2011680" cy="512064"/>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74904" y="3264407"/>
            <a:ext cx="1901952" cy="438912"/>
          </a:xfrm>
          <a:prstGeom prst="rect">
            <a:avLst/>
          </a:prstGeom>
          <a:noFill/>
        </p:spPr>
        <p:txBody>
          <a:bodyPr wrap="square">
            <a:spAutoFit/>
          </a:bodyPr>
          <a:lstStyle/>
          <a:p>
            <a:pPr algn="l"/>
            <a:r>
              <a:rPr sz="919" b="1" i="0">
                <a:solidFill>
                  <a:srgbClr val="1F2937"/>
                </a:solidFill>
              </a:rPr>
              <a:t>Logistic Regression</a:t>
            </a:r>
          </a:p>
        </p:txBody>
      </p:sp>
      <p:sp>
        <p:nvSpPr>
          <p:cNvPr id="54" name="Rectangle 53"/>
          <p:cNvSpPr/>
          <p:nvPr/>
        </p:nvSpPr>
        <p:spPr>
          <a:xfrm>
            <a:off x="2331720" y="3218687"/>
            <a:ext cx="2926080" cy="512064"/>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386584" y="3264407"/>
            <a:ext cx="2816352" cy="438912"/>
          </a:xfrm>
          <a:prstGeom prst="rect">
            <a:avLst/>
          </a:prstGeom>
          <a:noFill/>
        </p:spPr>
        <p:txBody>
          <a:bodyPr wrap="square">
            <a:spAutoFit/>
          </a:bodyPr>
          <a:lstStyle/>
          <a:p>
            <a:pPr algn="l"/>
            <a:r>
              <a:rPr sz="919" b="0" i="0">
                <a:solidFill>
                  <a:srgbClr val="1F2937"/>
                </a:solidFill>
              </a:rPr>
              <a:t>SMOTEENN + Backward Elimination</a:t>
            </a:r>
          </a:p>
        </p:txBody>
      </p:sp>
      <p:sp>
        <p:nvSpPr>
          <p:cNvPr id="56" name="Rectangle 55"/>
          <p:cNvSpPr/>
          <p:nvPr/>
        </p:nvSpPr>
        <p:spPr>
          <a:xfrm>
            <a:off x="5257800" y="3218687"/>
            <a:ext cx="1005840" cy="512064"/>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312664" y="3264407"/>
            <a:ext cx="896112" cy="438912"/>
          </a:xfrm>
          <a:prstGeom prst="rect">
            <a:avLst/>
          </a:prstGeom>
          <a:noFill/>
        </p:spPr>
        <p:txBody>
          <a:bodyPr wrap="square">
            <a:spAutoFit/>
          </a:bodyPr>
          <a:lstStyle/>
          <a:p>
            <a:pPr algn="l"/>
            <a:r>
              <a:rPr sz="919" b="0" i="0">
                <a:solidFill>
                  <a:srgbClr val="1F2937"/>
                </a:solidFill>
              </a:rPr>
              <a:t>82.8%</a:t>
            </a:r>
          </a:p>
        </p:txBody>
      </p:sp>
      <p:sp>
        <p:nvSpPr>
          <p:cNvPr id="58" name="Rectangle 57"/>
          <p:cNvSpPr/>
          <p:nvPr/>
        </p:nvSpPr>
        <p:spPr>
          <a:xfrm>
            <a:off x="6263640" y="3218687"/>
            <a:ext cx="1097280" cy="512064"/>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18503" y="3264407"/>
            <a:ext cx="987552" cy="438912"/>
          </a:xfrm>
          <a:prstGeom prst="rect">
            <a:avLst/>
          </a:prstGeom>
          <a:noFill/>
        </p:spPr>
        <p:txBody>
          <a:bodyPr wrap="square">
            <a:spAutoFit/>
          </a:bodyPr>
          <a:lstStyle/>
          <a:p>
            <a:pPr algn="l"/>
            <a:r>
              <a:rPr sz="919" b="0" i="0">
                <a:solidFill>
                  <a:srgbClr val="1F2937"/>
                </a:solidFill>
              </a:rPr>
              <a:t>61.2%</a:t>
            </a:r>
          </a:p>
        </p:txBody>
      </p:sp>
      <p:sp>
        <p:nvSpPr>
          <p:cNvPr id="60" name="Rectangle 59"/>
          <p:cNvSpPr/>
          <p:nvPr/>
        </p:nvSpPr>
        <p:spPr>
          <a:xfrm>
            <a:off x="7360919" y="3218687"/>
            <a:ext cx="1097280" cy="512064"/>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15783" y="3264407"/>
            <a:ext cx="987552" cy="438912"/>
          </a:xfrm>
          <a:prstGeom prst="rect">
            <a:avLst/>
          </a:prstGeom>
          <a:noFill/>
        </p:spPr>
        <p:txBody>
          <a:bodyPr wrap="square">
            <a:spAutoFit/>
          </a:bodyPr>
          <a:lstStyle/>
          <a:p>
            <a:pPr algn="l"/>
            <a:r>
              <a:rPr sz="919" b="0" i="0">
                <a:solidFill>
                  <a:srgbClr val="1F2937"/>
                </a:solidFill>
              </a:rPr>
              <a:t>84.1%</a:t>
            </a:r>
          </a:p>
        </p:txBody>
      </p:sp>
      <p:sp>
        <p:nvSpPr>
          <p:cNvPr id="62" name="Rectangle 61"/>
          <p:cNvSpPr/>
          <p:nvPr/>
        </p:nvSpPr>
        <p:spPr>
          <a:xfrm>
            <a:off x="8458199" y="3218687"/>
            <a:ext cx="1005840" cy="512064"/>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513063" y="3264407"/>
            <a:ext cx="896112" cy="438912"/>
          </a:xfrm>
          <a:prstGeom prst="rect">
            <a:avLst/>
          </a:prstGeom>
          <a:noFill/>
        </p:spPr>
        <p:txBody>
          <a:bodyPr wrap="square">
            <a:spAutoFit/>
          </a:bodyPr>
          <a:lstStyle/>
          <a:p>
            <a:pPr algn="l"/>
            <a:r>
              <a:rPr sz="919" b="0" i="0">
                <a:solidFill>
                  <a:srgbClr val="1F2937"/>
                </a:solidFill>
              </a:rPr>
              <a:t>0.887</a:t>
            </a:r>
          </a:p>
        </p:txBody>
      </p:sp>
      <p:sp>
        <p:nvSpPr>
          <p:cNvPr id="64" name="Rectangle 63"/>
          <p:cNvSpPr/>
          <p:nvPr/>
        </p:nvSpPr>
        <p:spPr>
          <a:xfrm>
            <a:off x="9464039" y="3218687"/>
            <a:ext cx="2377440" cy="512064"/>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518903" y="3264407"/>
            <a:ext cx="2267712" cy="438912"/>
          </a:xfrm>
          <a:prstGeom prst="rect">
            <a:avLst/>
          </a:prstGeom>
          <a:noFill/>
        </p:spPr>
        <p:txBody>
          <a:bodyPr wrap="square">
            <a:spAutoFit/>
          </a:bodyPr>
          <a:lstStyle/>
          <a:p>
            <a:pPr algn="l"/>
            <a:r>
              <a:rPr sz="919" b="0" i="0">
                <a:solidFill>
                  <a:srgbClr val="1F2937"/>
                </a:solidFill>
              </a:rPr>
              <a:t>Linear Parametric Benchmark</a:t>
            </a:r>
          </a:p>
        </p:txBody>
      </p:sp>
      <p:sp>
        <p:nvSpPr>
          <p:cNvPr id="66" name="Rectangle 65"/>
          <p:cNvSpPr/>
          <p:nvPr/>
        </p:nvSpPr>
        <p:spPr>
          <a:xfrm>
            <a:off x="320040" y="3749039"/>
            <a:ext cx="2011680" cy="512064"/>
          </a:xfrm>
          <a:prstGeom prst="rect">
            <a:avLst/>
          </a:prstGeom>
          <a:solidFill>
            <a:srgbClr val="FEE2E2"/>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74904" y="3794759"/>
            <a:ext cx="1901952" cy="438912"/>
          </a:xfrm>
          <a:prstGeom prst="rect">
            <a:avLst/>
          </a:prstGeom>
          <a:noFill/>
        </p:spPr>
        <p:txBody>
          <a:bodyPr wrap="square">
            <a:spAutoFit/>
          </a:bodyPr>
          <a:lstStyle/>
          <a:p>
            <a:pPr algn="l"/>
            <a:r>
              <a:rPr sz="919" b="1" i="0">
                <a:solidFill>
                  <a:srgbClr val="1F2937"/>
                </a:solidFill>
              </a:rPr>
              <a:t>Linear SVM ⚠</a:t>
            </a:r>
          </a:p>
        </p:txBody>
      </p:sp>
      <p:sp>
        <p:nvSpPr>
          <p:cNvPr id="68" name="Rectangle 67"/>
          <p:cNvSpPr/>
          <p:nvPr/>
        </p:nvSpPr>
        <p:spPr>
          <a:xfrm>
            <a:off x="2331720" y="3749039"/>
            <a:ext cx="2926080" cy="512064"/>
          </a:xfrm>
          <a:prstGeom prst="rect">
            <a:avLst/>
          </a:prstGeom>
          <a:solidFill>
            <a:srgbClr val="FEE2E2"/>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386584" y="3794759"/>
            <a:ext cx="2816352" cy="438912"/>
          </a:xfrm>
          <a:prstGeom prst="rect">
            <a:avLst/>
          </a:prstGeom>
          <a:noFill/>
        </p:spPr>
        <p:txBody>
          <a:bodyPr wrap="square">
            <a:spAutoFit/>
          </a:bodyPr>
          <a:lstStyle/>
          <a:p>
            <a:pPr algn="l"/>
            <a:r>
              <a:rPr sz="919" b="0" i="0">
                <a:solidFill>
                  <a:srgbClr val="1F2937"/>
                </a:solidFill>
              </a:rPr>
              <a:t>SMOTEENN + ANOVA F-Test</a:t>
            </a:r>
          </a:p>
        </p:txBody>
      </p:sp>
      <p:sp>
        <p:nvSpPr>
          <p:cNvPr id="70" name="Rectangle 69"/>
          <p:cNvSpPr/>
          <p:nvPr/>
        </p:nvSpPr>
        <p:spPr>
          <a:xfrm>
            <a:off x="5257800" y="3749039"/>
            <a:ext cx="1005840" cy="512064"/>
          </a:xfrm>
          <a:prstGeom prst="rect">
            <a:avLst/>
          </a:prstGeom>
          <a:solidFill>
            <a:srgbClr val="FEE2E2"/>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312664" y="3794759"/>
            <a:ext cx="896112" cy="438912"/>
          </a:xfrm>
          <a:prstGeom prst="rect">
            <a:avLst/>
          </a:prstGeom>
          <a:noFill/>
        </p:spPr>
        <p:txBody>
          <a:bodyPr wrap="square">
            <a:spAutoFit/>
          </a:bodyPr>
          <a:lstStyle/>
          <a:p>
            <a:pPr algn="l"/>
            <a:r>
              <a:rPr sz="919" b="0" i="0">
                <a:solidFill>
                  <a:srgbClr val="DC2626"/>
                </a:solidFill>
              </a:rPr>
              <a:t>91.4%</a:t>
            </a:r>
          </a:p>
        </p:txBody>
      </p:sp>
      <p:sp>
        <p:nvSpPr>
          <p:cNvPr id="72" name="Rectangle 71"/>
          <p:cNvSpPr/>
          <p:nvPr/>
        </p:nvSpPr>
        <p:spPr>
          <a:xfrm>
            <a:off x="6263640" y="3749039"/>
            <a:ext cx="1097280" cy="512064"/>
          </a:xfrm>
          <a:prstGeom prst="rect">
            <a:avLst/>
          </a:prstGeom>
          <a:solidFill>
            <a:srgbClr val="FEE2E2"/>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318503" y="3794759"/>
            <a:ext cx="987552" cy="438912"/>
          </a:xfrm>
          <a:prstGeom prst="rect">
            <a:avLst/>
          </a:prstGeom>
          <a:noFill/>
        </p:spPr>
        <p:txBody>
          <a:bodyPr wrap="square">
            <a:spAutoFit/>
          </a:bodyPr>
          <a:lstStyle/>
          <a:p>
            <a:pPr algn="l"/>
            <a:r>
              <a:rPr sz="919" b="0" i="0">
                <a:solidFill>
                  <a:srgbClr val="DC2626"/>
                </a:solidFill>
              </a:rPr>
              <a:t>23.1%</a:t>
            </a:r>
          </a:p>
        </p:txBody>
      </p:sp>
      <p:sp>
        <p:nvSpPr>
          <p:cNvPr id="74" name="Rectangle 73"/>
          <p:cNvSpPr/>
          <p:nvPr/>
        </p:nvSpPr>
        <p:spPr>
          <a:xfrm>
            <a:off x="7360919" y="3749039"/>
            <a:ext cx="1097280" cy="512064"/>
          </a:xfrm>
          <a:prstGeom prst="rect">
            <a:avLst/>
          </a:prstGeom>
          <a:solidFill>
            <a:srgbClr val="FEE2E2"/>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415783" y="3794759"/>
            <a:ext cx="987552" cy="438912"/>
          </a:xfrm>
          <a:prstGeom prst="rect">
            <a:avLst/>
          </a:prstGeom>
          <a:noFill/>
        </p:spPr>
        <p:txBody>
          <a:bodyPr wrap="square">
            <a:spAutoFit/>
          </a:bodyPr>
          <a:lstStyle/>
          <a:p>
            <a:pPr algn="l"/>
            <a:r>
              <a:rPr sz="919" b="0" i="0">
                <a:solidFill>
                  <a:srgbClr val="DC2626"/>
                </a:solidFill>
              </a:rPr>
              <a:t>30.1%</a:t>
            </a:r>
          </a:p>
        </p:txBody>
      </p:sp>
      <p:sp>
        <p:nvSpPr>
          <p:cNvPr id="76" name="Rectangle 75"/>
          <p:cNvSpPr/>
          <p:nvPr/>
        </p:nvSpPr>
        <p:spPr>
          <a:xfrm>
            <a:off x="8458199" y="3749039"/>
            <a:ext cx="1005840" cy="512064"/>
          </a:xfrm>
          <a:prstGeom prst="rect">
            <a:avLst/>
          </a:prstGeom>
          <a:solidFill>
            <a:srgbClr val="FEE2E2"/>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513063" y="3794759"/>
            <a:ext cx="896112" cy="438912"/>
          </a:xfrm>
          <a:prstGeom prst="rect">
            <a:avLst/>
          </a:prstGeom>
          <a:noFill/>
        </p:spPr>
        <p:txBody>
          <a:bodyPr wrap="square">
            <a:spAutoFit/>
          </a:bodyPr>
          <a:lstStyle/>
          <a:p>
            <a:pPr algn="l"/>
            <a:r>
              <a:rPr sz="919" b="0" i="0">
                <a:solidFill>
                  <a:srgbClr val="DC2626"/>
                </a:solidFill>
              </a:rPr>
              <a:t>0.591</a:t>
            </a:r>
          </a:p>
        </p:txBody>
      </p:sp>
      <p:sp>
        <p:nvSpPr>
          <p:cNvPr id="78" name="Rectangle 77"/>
          <p:cNvSpPr/>
          <p:nvPr/>
        </p:nvSpPr>
        <p:spPr>
          <a:xfrm>
            <a:off x="9464039" y="3749039"/>
            <a:ext cx="2377440" cy="512064"/>
          </a:xfrm>
          <a:prstGeom prst="rect">
            <a:avLst/>
          </a:prstGeom>
          <a:solidFill>
            <a:srgbClr val="FEE2E2"/>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518903" y="3794759"/>
            <a:ext cx="2267712" cy="438912"/>
          </a:xfrm>
          <a:prstGeom prst="rect">
            <a:avLst/>
          </a:prstGeom>
          <a:noFill/>
        </p:spPr>
        <p:txBody>
          <a:bodyPr wrap="square">
            <a:spAutoFit/>
          </a:bodyPr>
          <a:lstStyle/>
          <a:p>
            <a:pPr algn="l"/>
            <a:r>
              <a:rPr sz="919" b="0" i="0">
                <a:solidFill>
                  <a:srgbClr val="1F2937"/>
                </a:solidFill>
              </a:rPr>
              <a:t>DEGENERATE — Unusable False Alarms</a:t>
            </a:r>
          </a:p>
        </p:txBody>
      </p:sp>
      <p:sp>
        <p:nvSpPr>
          <p:cNvPr id="80" name="TextBox 79"/>
          <p:cNvSpPr txBox="1"/>
          <p:nvPr/>
        </p:nvSpPr>
        <p:spPr>
          <a:xfrm>
            <a:off x="320040" y="4389120"/>
            <a:ext cx="5669280" cy="320040"/>
          </a:xfrm>
          <a:prstGeom prst="rect">
            <a:avLst/>
          </a:prstGeom>
          <a:noFill/>
        </p:spPr>
        <p:txBody>
          <a:bodyPr wrap="square">
            <a:spAutoFit/>
          </a:bodyPr>
          <a:lstStyle/>
          <a:p>
            <a:pPr algn="l"/>
            <a:r>
              <a:rPr sz="1250" b="1" i="0">
                <a:solidFill>
                  <a:srgbClr val="1E3A8A"/>
                </a:solidFill>
              </a:rPr>
              <a:t>Champion Confusion Matrix (3,017 Unseen Students)</a:t>
            </a:r>
          </a:p>
        </p:txBody>
      </p:sp>
      <p:sp>
        <p:nvSpPr>
          <p:cNvPr id="81" name="Rectangle 80"/>
          <p:cNvSpPr/>
          <p:nvPr/>
        </p:nvSpPr>
        <p:spPr>
          <a:xfrm>
            <a:off x="320040" y="4754880"/>
            <a:ext cx="1828800" cy="475488"/>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65760" y="4782312"/>
            <a:ext cx="1737360" cy="420624"/>
          </a:xfrm>
          <a:prstGeom prst="rect">
            <a:avLst/>
          </a:prstGeom>
          <a:noFill/>
        </p:spPr>
        <p:txBody>
          <a:bodyPr wrap="square">
            <a:spAutoFit/>
          </a:bodyPr>
          <a:lstStyle/>
          <a:p>
            <a:pPr algn="ctr"/>
            <a:r>
              <a:rPr sz="980" b="1" i="0">
                <a:solidFill>
                  <a:srgbClr val="FFFFFF"/>
                </a:solidFill>
              </a:rPr>
              <a:t/>
            </a:r>
          </a:p>
        </p:txBody>
      </p:sp>
      <p:sp>
        <p:nvSpPr>
          <p:cNvPr id="83" name="Rectangle 82"/>
          <p:cNvSpPr/>
          <p:nvPr/>
        </p:nvSpPr>
        <p:spPr>
          <a:xfrm>
            <a:off x="2194560" y="4754880"/>
            <a:ext cx="1828800" cy="475488"/>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240279" y="4782312"/>
            <a:ext cx="1737360" cy="420624"/>
          </a:xfrm>
          <a:prstGeom prst="rect">
            <a:avLst/>
          </a:prstGeom>
          <a:noFill/>
        </p:spPr>
        <p:txBody>
          <a:bodyPr wrap="square">
            <a:spAutoFit/>
          </a:bodyPr>
          <a:lstStyle/>
          <a:p>
            <a:pPr algn="ctr"/>
            <a:r>
              <a:rPr sz="980" b="1" i="0">
                <a:solidFill>
                  <a:srgbClr val="FFFFFF"/>
                </a:solidFill>
              </a:rPr>
              <a:t>Pred: Graduate (0)</a:t>
            </a:r>
          </a:p>
        </p:txBody>
      </p:sp>
      <p:sp>
        <p:nvSpPr>
          <p:cNvPr id="85" name="Rectangle 84"/>
          <p:cNvSpPr/>
          <p:nvPr/>
        </p:nvSpPr>
        <p:spPr>
          <a:xfrm>
            <a:off x="4069079" y="4754880"/>
            <a:ext cx="1828800" cy="475488"/>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114800" y="4782312"/>
            <a:ext cx="1737360" cy="420624"/>
          </a:xfrm>
          <a:prstGeom prst="rect">
            <a:avLst/>
          </a:prstGeom>
          <a:noFill/>
        </p:spPr>
        <p:txBody>
          <a:bodyPr wrap="square">
            <a:spAutoFit/>
          </a:bodyPr>
          <a:lstStyle/>
          <a:p>
            <a:pPr algn="ctr"/>
            <a:r>
              <a:rPr sz="980" b="1" i="0">
                <a:solidFill>
                  <a:srgbClr val="FFFFFF"/>
                </a:solidFill>
              </a:rPr>
              <a:t>Pred: Dropout (1)</a:t>
            </a:r>
          </a:p>
        </p:txBody>
      </p:sp>
      <p:sp>
        <p:nvSpPr>
          <p:cNvPr id="87" name="Rectangle 86"/>
          <p:cNvSpPr/>
          <p:nvPr/>
        </p:nvSpPr>
        <p:spPr>
          <a:xfrm>
            <a:off x="320040" y="5257800"/>
            <a:ext cx="1828800" cy="475488"/>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65760" y="5285232"/>
            <a:ext cx="1737360" cy="420624"/>
          </a:xfrm>
          <a:prstGeom prst="rect">
            <a:avLst/>
          </a:prstGeom>
          <a:noFill/>
        </p:spPr>
        <p:txBody>
          <a:bodyPr wrap="square">
            <a:spAutoFit/>
          </a:bodyPr>
          <a:lstStyle/>
          <a:p>
            <a:pPr algn="ctr"/>
            <a:r>
              <a:rPr sz="980" b="1" i="0">
                <a:solidFill>
                  <a:srgbClr val="FFFFFF"/>
                </a:solidFill>
              </a:rPr>
              <a:t>Actual: Graduate (2,341)</a:t>
            </a:r>
          </a:p>
        </p:txBody>
      </p:sp>
      <p:sp>
        <p:nvSpPr>
          <p:cNvPr id="89" name="Rectangle 88"/>
          <p:cNvSpPr/>
          <p:nvPr/>
        </p:nvSpPr>
        <p:spPr>
          <a:xfrm>
            <a:off x="2194560" y="5257800"/>
            <a:ext cx="1828800" cy="475488"/>
          </a:xfrm>
          <a:prstGeom prst="rect">
            <a:avLst/>
          </a:prstGeom>
          <a:solidFill>
            <a:srgbClr val="D1FAE5"/>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240279" y="5285232"/>
            <a:ext cx="1737360" cy="420624"/>
          </a:xfrm>
          <a:prstGeom prst="rect">
            <a:avLst/>
          </a:prstGeom>
          <a:noFill/>
        </p:spPr>
        <p:txBody>
          <a:bodyPr wrap="square">
            <a:spAutoFit/>
          </a:bodyPr>
          <a:lstStyle/>
          <a:p>
            <a:pPr algn="ctr"/>
            <a:r>
              <a:rPr sz="980" b="0" i="0">
                <a:solidFill>
                  <a:srgbClr val="1F2937"/>
                </a:solidFill>
              </a:rPr>
              <a:t>2,229  (95.2% TN)  ✓</a:t>
            </a:r>
          </a:p>
        </p:txBody>
      </p:sp>
      <p:sp>
        <p:nvSpPr>
          <p:cNvPr id="91" name="Rectangle 90"/>
          <p:cNvSpPr/>
          <p:nvPr/>
        </p:nvSpPr>
        <p:spPr>
          <a:xfrm>
            <a:off x="4069079" y="5257800"/>
            <a:ext cx="1828800" cy="475488"/>
          </a:xfrm>
          <a:prstGeom prst="rect">
            <a:avLst/>
          </a:prstGeom>
          <a:solidFill>
            <a:srgbClr val="FEE2E2"/>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4114800" y="5285232"/>
            <a:ext cx="1737360" cy="420624"/>
          </a:xfrm>
          <a:prstGeom prst="rect">
            <a:avLst/>
          </a:prstGeom>
          <a:noFill/>
        </p:spPr>
        <p:txBody>
          <a:bodyPr wrap="square">
            <a:spAutoFit/>
          </a:bodyPr>
          <a:lstStyle/>
          <a:p>
            <a:pPr algn="ctr"/>
            <a:r>
              <a:rPr sz="980" b="0" i="0">
                <a:solidFill>
                  <a:srgbClr val="1F2937"/>
                </a:solidFill>
              </a:rPr>
              <a:t>112  (4.8% FP)  ✗</a:t>
            </a:r>
          </a:p>
        </p:txBody>
      </p:sp>
      <p:sp>
        <p:nvSpPr>
          <p:cNvPr id="93" name="Rectangle 92"/>
          <p:cNvSpPr/>
          <p:nvPr/>
        </p:nvSpPr>
        <p:spPr>
          <a:xfrm>
            <a:off x="320040" y="5760720"/>
            <a:ext cx="1828800" cy="475488"/>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65760" y="5788152"/>
            <a:ext cx="1737360" cy="420624"/>
          </a:xfrm>
          <a:prstGeom prst="rect">
            <a:avLst/>
          </a:prstGeom>
          <a:noFill/>
        </p:spPr>
        <p:txBody>
          <a:bodyPr wrap="square">
            <a:spAutoFit/>
          </a:bodyPr>
          <a:lstStyle/>
          <a:p>
            <a:pPr algn="ctr"/>
            <a:r>
              <a:rPr sz="980" b="1" i="0">
                <a:solidFill>
                  <a:srgbClr val="FFFFFF"/>
                </a:solidFill>
              </a:rPr>
              <a:t>Actual: Dropout (676)</a:t>
            </a:r>
          </a:p>
        </p:txBody>
      </p:sp>
      <p:sp>
        <p:nvSpPr>
          <p:cNvPr id="95" name="Rectangle 94"/>
          <p:cNvSpPr/>
          <p:nvPr/>
        </p:nvSpPr>
        <p:spPr>
          <a:xfrm>
            <a:off x="2194560" y="5760720"/>
            <a:ext cx="1828800" cy="475488"/>
          </a:xfrm>
          <a:prstGeom prst="rect">
            <a:avLst/>
          </a:prstGeom>
          <a:solidFill>
            <a:srgbClr val="FEE2E2"/>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240279" y="5788152"/>
            <a:ext cx="1737360" cy="420624"/>
          </a:xfrm>
          <a:prstGeom prst="rect">
            <a:avLst/>
          </a:prstGeom>
          <a:noFill/>
        </p:spPr>
        <p:txBody>
          <a:bodyPr wrap="square">
            <a:spAutoFit/>
          </a:bodyPr>
          <a:lstStyle/>
          <a:p>
            <a:pPr algn="ctr"/>
            <a:r>
              <a:rPr sz="980" b="0" i="0">
                <a:solidFill>
                  <a:srgbClr val="1F2937"/>
                </a:solidFill>
              </a:rPr>
              <a:t>103  (15.2% FN)  ✗</a:t>
            </a:r>
          </a:p>
        </p:txBody>
      </p:sp>
      <p:sp>
        <p:nvSpPr>
          <p:cNvPr id="97" name="Rectangle 96"/>
          <p:cNvSpPr/>
          <p:nvPr/>
        </p:nvSpPr>
        <p:spPr>
          <a:xfrm>
            <a:off x="4069079" y="5760720"/>
            <a:ext cx="1828800" cy="475488"/>
          </a:xfrm>
          <a:prstGeom prst="rect">
            <a:avLst/>
          </a:prstGeom>
          <a:solidFill>
            <a:srgbClr val="D1FAE5"/>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114800" y="5788152"/>
            <a:ext cx="1737360" cy="420624"/>
          </a:xfrm>
          <a:prstGeom prst="rect">
            <a:avLst/>
          </a:prstGeom>
          <a:noFill/>
        </p:spPr>
        <p:txBody>
          <a:bodyPr wrap="square">
            <a:spAutoFit/>
          </a:bodyPr>
          <a:lstStyle/>
          <a:p>
            <a:pPr algn="ctr"/>
            <a:r>
              <a:rPr sz="980" b="0" i="0">
                <a:solidFill>
                  <a:srgbClr val="1F2937"/>
                </a:solidFill>
              </a:rPr>
              <a:t>573  (84.8% TP)  ✓</a:t>
            </a:r>
          </a:p>
        </p:txBody>
      </p:sp>
      <p:sp>
        <p:nvSpPr>
          <p:cNvPr id="99" name="Rectangle 98"/>
          <p:cNvSpPr/>
          <p:nvPr/>
        </p:nvSpPr>
        <p:spPr>
          <a:xfrm>
            <a:off x="6263640" y="4572000"/>
            <a:ext cx="2697480" cy="914400"/>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355079" y="4626864"/>
            <a:ext cx="2514600" cy="256032"/>
          </a:xfrm>
          <a:prstGeom prst="rect">
            <a:avLst/>
          </a:prstGeom>
          <a:noFill/>
        </p:spPr>
        <p:txBody>
          <a:bodyPr wrap="square">
            <a:spAutoFit/>
          </a:bodyPr>
          <a:lstStyle/>
          <a:p>
            <a:pPr algn="l"/>
            <a:r>
              <a:rPr sz="950" b="0" i="0">
                <a:solidFill>
                  <a:srgbClr val="6B7280"/>
                </a:solidFill>
              </a:rPr>
              <a:t>Champion Recall</a:t>
            </a:r>
          </a:p>
        </p:txBody>
      </p:sp>
      <p:sp>
        <p:nvSpPr>
          <p:cNvPr id="101" name="TextBox 100"/>
          <p:cNvSpPr txBox="1"/>
          <p:nvPr/>
        </p:nvSpPr>
        <p:spPr>
          <a:xfrm>
            <a:off x="6355079" y="4864608"/>
            <a:ext cx="2514600" cy="475488"/>
          </a:xfrm>
          <a:prstGeom prst="rect">
            <a:avLst/>
          </a:prstGeom>
          <a:noFill/>
        </p:spPr>
        <p:txBody>
          <a:bodyPr wrap="square">
            <a:spAutoFit/>
          </a:bodyPr>
          <a:lstStyle/>
          <a:p>
            <a:pPr algn="l"/>
            <a:r>
              <a:rPr sz="2600" b="1" i="0">
                <a:solidFill>
                  <a:srgbClr val="059652"/>
                </a:solidFill>
              </a:rPr>
              <a:t>84.8%</a:t>
            </a:r>
          </a:p>
        </p:txBody>
      </p:sp>
      <p:sp>
        <p:nvSpPr>
          <p:cNvPr id="102" name="TextBox 101"/>
          <p:cNvSpPr txBox="1"/>
          <p:nvPr/>
        </p:nvSpPr>
        <p:spPr>
          <a:xfrm>
            <a:off x="6355079" y="5340096"/>
            <a:ext cx="2514600" cy="219456"/>
          </a:xfrm>
          <a:prstGeom prst="rect">
            <a:avLst/>
          </a:prstGeom>
          <a:noFill/>
        </p:spPr>
        <p:txBody>
          <a:bodyPr wrap="square">
            <a:spAutoFit/>
          </a:bodyPr>
          <a:lstStyle/>
          <a:p>
            <a:pPr algn="l"/>
            <a:r>
              <a:rPr sz="850" b="0" i="0">
                <a:solidFill>
                  <a:srgbClr val="6B7280"/>
                </a:solidFill>
              </a:rPr>
              <a:t>573 of 676 Dropouts Caught</a:t>
            </a:r>
          </a:p>
        </p:txBody>
      </p:sp>
      <p:sp>
        <p:nvSpPr>
          <p:cNvPr id="103" name="Rectangle 102"/>
          <p:cNvSpPr/>
          <p:nvPr/>
        </p:nvSpPr>
        <p:spPr>
          <a:xfrm>
            <a:off x="9144000" y="4572000"/>
            <a:ext cx="2697480" cy="914400"/>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235440" y="4626864"/>
            <a:ext cx="2514600" cy="256032"/>
          </a:xfrm>
          <a:prstGeom prst="rect">
            <a:avLst/>
          </a:prstGeom>
          <a:noFill/>
        </p:spPr>
        <p:txBody>
          <a:bodyPr wrap="square">
            <a:spAutoFit/>
          </a:bodyPr>
          <a:lstStyle/>
          <a:p>
            <a:pPr algn="l"/>
            <a:r>
              <a:rPr sz="950" b="0" i="0">
                <a:solidFill>
                  <a:srgbClr val="6B7280"/>
                </a:solidFill>
              </a:rPr>
              <a:t>Champion Precision</a:t>
            </a:r>
          </a:p>
        </p:txBody>
      </p:sp>
      <p:sp>
        <p:nvSpPr>
          <p:cNvPr id="105" name="TextBox 104"/>
          <p:cNvSpPr txBox="1"/>
          <p:nvPr/>
        </p:nvSpPr>
        <p:spPr>
          <a:xfrm>
            <a:off x="9235440" y="4864608"/>
            <a:ext cx="2514600" cy="475488"/>
          </a:xfrm>
          <a:prstGeom prst="rect">
            <a:avLst/>
          </a:prstGeom>
          <a:noFill/>
        </p:spPr>
        <p:txBody>
          <a:bodyPr wrap="square">
            <a:spAutoFit/>
          </a:bodyPr>
          <a:lstStyle/>
          <a:p>
            <a:pPr algn="l"/>
            <a:r>
              <a:rPr sz="2600" b="1" i="0">
                <a:solidFill>
                  <a:srgbClr val="059652"/>
                </a:solidFill>
              </a:rPr>
              <a:t>83.6%</a:t>
            </a:r>
          </a:p>
        </p:txBody>
      </p:sp>
      <p:sp>
        <p:nvSpPr>
          <p:cNvPr id="106" name="TextBox 105"/>
          <p:cNvSpPr txBox="1"/>
          <p:nvPr/>
        </p:nvSpPr>
        <p:spPr>
          <a:xfrm>
            <a:off x="9235440" y="5340096"/>
            <a:ext cx="2514600" cy="219456"/>
          </a:xfrm>
          <a:prstGeom prst="rect">
            <a:avLst/>
          </a:prstGeom>
          <a:noFill/>
        </p:spPr>
        <p:txBody>
          <a:bodyPr wrap="square">
            <a:spAutoFit/>
          </a:bodyPr>
          <a:lstStyle/>
          <a:p>
            <a:pPr algn="l"/>
            <a:r>
              <a:rPr sz="850" b="0" i="0">
                <a:solidFill>
                  <a:srgbClr val="6B7280"/>
                </a:solidFill>
              </a:rPr>
              <a:t>Only 112 False Alarms</a:t>
            </a:r>
          </a:p>
        </p:txBody>
      </p:sp>
      <p:sp>
        <p:nvSpPr>
          <p:cNvPr id="107" name="Rectangle 106"/>
          <p:cNvSpPr/>
          <p:nvPr/>
        </p:nvSpPr>
        <p:spPr>
          <a:xfrm>
            <a:off x="6263640" y="5577840"/>
            <a:ext cx="2697480" cy="896112"/>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355079" y="5632703"/>
            <a:ext cx="2514600" cy="256032"/>
          </a:xfrm>
          <a:prstGeom prst="rect">
            <a:avLst/>
          </a:prstGeom>
          <a:noFill/>
        </p:spPr>
        <p:txBody>
          <a:bodyPr wrap="square">
            <a:spAutoFit/>
          </a:bodyPr>
          <a:lstStyle/>
          <a:p>
            <a:pPr algn="l"/>
            <a:r>
              <a:rPr sz="950" b="0" i="0">
                <a:solidFill>
                  <a:srgbClr val="6B7280"/>
                </a:solidFill>
              </a:rPr>
              <a:t>ROC-AUC Score</a:t>
            </a:r>
          </a:p>
        </p:txBody>
      </p:sp>
      <p:sp>
        <p:nvSpPr>
          <p:cNvPr id="109" name="TextBox 108"/>
          <p:cNvSpPr txBox="1"/>
          <p:nvPr/>
        </p:nvSpPr>
        <p:spPr>
          <a:xfrm>
            <a:off x="6355079" y="5870448"/>
            <a:ext cx="2514600" cy="475488"/>
          </a:xfrm>
          <a:prstGeom prst="rect">
            <a:avLst/>
          </a:prstGeom>
          <a:noFill/>
        </p:spPr>
        <p:txBody>
          <a:bodyPr wrap="square">
            <a:spAutoFit/>
          </a:bodyPr>
          <a:lstStyle/>
          <a:p>
            <a:pPr algn="l"/>
            <a:r>
              <a:rPr sz="2600" b="1" i="0">
                <a:solidFill>
                  <a:srgbClr val="1E3A8A"/>
                </a:solidFill>
              </a:rPr>
              <a:t>0.951</a:t>
            </a:r>
          </a:p>
        </p:txBody>
      </p:sp>
      <p:sp>
        <p:nvSpPr>
          <p:cNvPr id="110" name="TextBox 109"/>
          <p:cNvSpPr txBox="1"/>
          <p:nvPr/>
        </p:nvSpPr>
        <p:spPr>
          <a:xfrm>
            <a:off x="6355079" y="6345936"/>
            <a:ext cx="2514600" cy="219456"/>
          </a:xfrm>
          <a:prstGeom prst="rect">
            <a:avLst/>
          </a:prstGeom>
          <a:noFill/>
        </p:spPr>
        <p:txBody>
          <a:bodyPr wrap="square">
            <a:spAutoFit/>
          </a:bodyPr>
          <a:lstStyle/>
          <a:p>
            <a:pPr algn="l"/>
            <a:r>
              <a:rPr sz="850" b="0" i="0">
                <a:solidFill>
                  <a:srgbClr val="6B7280"/>
                </a:solidFill>
              </a:rPr>
              <a:t>Outstanding Separability</a:t>
            </a:r>
          </a:p>
        </p:txBody>
      </p:sp>
      <p:sp>
        <p:nvSpPr>
          <p:cNvPr id="111" name="Rectangle 110"/>
          <p:cNvSpPr/>
          <p:nvPr/>
        </p:nvSpPr>
        <p:spPr>
          <a:xfrm>
            <a:off x="9144000" y="5577840"/>
            <a:ext cx="2697480" cy="896112"/>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235440" y="5632703"/>
            <a:ext cx="2514600" cy="256032"/>
          </a:xfrm>
          <a:prstGeom prst="rect">
            <a:avLst/>
          </a:prstGeom>
          <a:noFill/>
        </p:spPr>
        <p:txBody>
          <a:bodyPr wrap="square">
            <a:spAutoFit/>
          </a:bodyPr>
          <a:lstStyle/>
          <a:p>
            <a:pPr algn="l"/>
            <a:r>
              <a:rPr sz="950" b="0" i="0">
                <a:solidFill>
                  <a:srgbClr val="6B7280"/>
                </a:solidFill>
              </a:rPr>
              <a:t>Overall Accuracy</a:t>
            </a:r>
          </a:p>
        </p:txBody>
      </p:sp>
      <p:sp>
        <p:nvSpPr>
          <p:cNvPr id="113" name="TextBox 112"/>
          <p:cNvSpPr txBox="1"/>
          <p:nvPr/>
        </p:nvSpPr>
        <p:spPr>
          <a:xfrm>
            <a:off x="9235440" y="5870448"/>
            <a:ext cx="2514600" cy="475488"/>
          </a:xfrm>
          <a:prstGeom prst="rect">
            <a:avLst/>
          </a:prstGeom>
          <a:noFill/>
        </p:spPr>
        <p:txBody>
          <a:bodyPr wrap="square">
            <a:spAutoFit/>
          </a:bodyPr>
          <a:lstStyle/>
          <a:p>
            <a:pPr algn="l"/>
            <a:r>
              <a:rPr sz="2600" b="1" i="0">
                <a:solidFill>
                  <a:srgbClr val="1E3A8A"/>
                </a:solidFill>
              </a:rPr>
              <a:t>92.9%</a:t>
            </a:r>
          </a:p>
        </p:txBody>
      </p:sp>
      <p:sp>
        <p:nvSpPr>
          <p:cNvPr id="114" name="TextBox 113"/>
          <p:cNvSpPr txBox="1"/>
          <p:nvPr/>
        </p:nvSpPr>
        <p:spPr>
          <a:xfrm>
            <a:off x="9235440" y="6345936"/>
            <a:ext cx="2514600" cy="219456"/>
          </a:xfrm>
          <a:prstGeom prst="rect">
            <a:avLst/>
          </a:prstGeom>
          <a:noFill/>
        </p:spPr>
        <p:txBody>
          <a:bodyPr wrap="square">
            <a:spAutoFit/>
          </a:bodyPr>
          <a:lstStyle/>
          <a:p>
            <a:pPr algn="l"/>
            <a:r>
              <a:rPr sz="850" b="0" i="0">
                <a:solidFill>
                  <a:srgbClr val="6B7280"/>
                </a:solidFill>
              </a:rPr>
              <a:t>2,802 / 3,017 Accurate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66928"/>
          </a:xfrm>
          <a:prstGeom prst="rect">
            <a:avLst/>
          </a:prstGeom>
          <a:noFill/>
        </p:spPr>
        <p:txBody>
          <a:bodyPr wrap="square">
            <a:spAutoFit/>
          </a:bodyPr>
          <a:lstStyle/>
          <a:p>
            <a:pPr algn="l"/>
            <a:r>
              <a:rPr sz="2300" b="1" i="0">
                <a:solidFill>
                  <a:srgbClr val="FFFFFF"/>
                </a:solidFill>
              </a:rPr>
              <a:t>Slide 6: Phase 3 — Macro Global Explainability (SHAP TreeExplainer)</a:t>
            </a:r>
          </a:p>
        </p:txBody>
      </p:sp>
      <p:sp>
        <p:nvSpPr>
          <p:cNvPr id="5" name="TextBox 4"/>
          <p:cNvSpPr txBox="1"/>
          <p:nvPr/>
        </p:nvSpPr>
        <p:spPr>
          <a:xfrm>
            <a:off x="365760" y="640080"/>
            <a:ext cx="11430000" cy="411480"/>
          </a:xfrm>
          <a:prstGeom prst="rect">
            <a:avLst/>
          </a:prstGeom>
          <a:noFill/>
        </p:spPr>
        <p:txBody>
          <a:bodyPr wrap="square">
            <a:spAutoFit/>
          </a:bodyPr>
          <a:lstStyle/>
          <a:p>
            <a:pPr algn="l"/>
            <a:r>
              <a:rPr sz="1100" b="0" i="0">
                <a:solidFill>
                  <a:srgbClr val="BFDBFF"/>
                </a:solidFill>
              </a:rPr>
              <a:t>Exact Shapley Additive Explanations across all 3,017 test students with translated English feature labels</a:t>
            </a:r>
          </a:p>
        </p:txBody>
      </p:sp>
      <p:sp>
        <p:nvSpPr>
          <p:cNvPr id="6" name="Rectangle 5"/>
          <p:cNvSpPr/>
          <p:nvPr/>
        </p:nvSpPr>
        <p:spPr>
          <a:xfrm>
            <a:off x="0" y="6565392"/>
            <a:ext cx="12188952"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74536"/>
            <a:ext cx="9601200" cy="256032"/>
          </a:xfrm>
          <a:prstGeom prst="rect">
            <a:avLst/>
          </a:prstGeom>
          <a:noFill/>
        </p:spPr>
        <p:txBody>
          <a:bodyPr wrap="square">
            <a:spAutoFit/>
          </a:bodyPr>
          <a:lstStyle/>
          <a:p>
            <a:pPr algn="l"/>
            <a:r>
              <a:rPr sz="850" b="0" i="0">
                <a:solidFill>
                  <a:srgbClr val="FFFFFF"/>
                </a:solidFill>
              </a:rPr>
              <a:t>Student Dropout XAI &amp; Governance Framework  |  Evaluation Presentation &amp; Defense</a:t>
            </a:r>
          </a:p>
        </p:txBody>
      </p:sp>
      <p:sp>
        <p:nvSpPr>
          <p:cNvPr id="8" name="TextBox 7"/>
          <p:cNvSpPr txBox="1"/>
          <p:nvPr/>
        </p:nvSpPr>
        <p:spPr>
          <a:xfrm>
            <a:off x="10515600" y="6574536"/>
            <a:ext cx="1371600" cy="256032"/>
          </a:xfrm>
          <a:prstGeom prst="rect">
            <a:avLst/>
          </a:prstGeom>
          <a:noFill/>
        </p:spPr>
        <p:txBody>
          <a:bodyPr wrap="square">
            <a:spAutoFit/>
          </a:bodyPr>
          <a:lstStyle/>
          <a:p>
            <a:pPr algn="r"/>
            <a:r>
              <a:rPr sz="850" b="0" i="0">
                <a:solidFill>
                  <a:srgbClr val="FFFFFF"/>
                </a:solidFill>
              </a:rPr>
              <a:t>Slide 6 of 10</a:t>
            </a:r>
          </a:p>
        </p:txBody>
      </p:sp>
      <p:sp>
        <p:nvSpPr>
          <p:cNvPr id="9" name="TextBox 8"/>
          <p:cNvSpPr txBox="1"/>
          <p:nvPr/>
        </p:nvSpPr>
        <p:spPr>
          <a:xfrm>
            <a:off x="320040" y="1261872"/>
            <a:ext cx="5760720" cy="320040"/>
          </a:xfrm>
          <a:prstGeom prst="rect">
            <a:avLst/>
          </a:prstGeom>
          <a:noFill/>
        </p:spPr>
        <p:txBody>
          <a:bodyPr wrap="square">
            <a:spAutoFit/>
          </a:bodyPr>
          <a:lstStyle/>
          <a:p>
            <a:pPr algn="l"/>
            <a:r>
              <a:rPr sz="1300" b="1" i="0">
                <a:solidFill>
                  <a:srgbClr val="1E3A8A"/>
                </a:solidFill>
              </a:rPr>
              <a:t>Top Global Dropout Drivers (Mean |SHAP| Attribution)</a:t>
            </a:r>
          </a:p>
        </p:txBody>
      </p:sp>
      <p:sp>
        <p:nvSpPr>
          <p:cNvPr id="10" name="Rectangle 9"/>
          <p:cNvSpPr/>
          <p:nvPr/>
        </p:nvSpPr>
        <p:spPr>
          <a:xfrm>
            <a:off x="320040" y="1645920"/>
            <a:ext cx="5760720" cy="73152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691640"/>
            <a:ext cx="3474720" cy="256032"/>
          </a:xfrm>
          <a:prstGeom prst="rect">
            <a:avLst/>
          </a:prstGeom>
          <a:noFill/>
        </p:spPr>
        <p:txBody>
          <a:bodyPr wrap="square">
            <a:spAutoFit/>
          </a:bodyPr>
          <a:lstStyle/>
          <a:p>
            <a:pPr algn="l"/>
            <a:r>
              <a:rPr sz="1000" b="1" i="0">
                <a:solidFill>
                  <a:srgbClr val="1F2937"/>
                </a:solidFill>
              </a:rPr>
              <a:t>#1  Cumulative GPA (ira)</a:t>
            </a:r>
          </a:p>
        </p:txBody>
      </p:sp>
      <p:sp>
        <p:nvSpPr>
          <p:cNvPr id="12" name="Rectangle 11"/>
          <p:cNvSpPr/>
          <p:nvPr/>
        </p:nvSpPr>
        <p:spPr>
          <a:xfrm>
            <a:off x="3931920" y="1709928"/>
            <a:ext cx="1325026" cy="2011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0098" y="1691640"/>
            <a:ext cx="685800" cy="228600"/>
          </a:xfrm>
          <a:prstGeom prst="rect">
            <a:avLst/>
          </a:prstGeom>
          <a:noFill/>
        </p:spPr>
        <p:txBody>
          <a:bodyPr wrap="square">
            <a:spAutoFit/>
          </a:bodyPr>
          <a:lstStyle/>
          <a:p>
            <a:pPr algn="l"/>
            <a:r>
              <a:rPr sz="950" b="1" i="0">
                <a:solidFill>
                  <a:srgbClr val="1E3A8A"/>
                </a:solidFill>
              </a:rPr>
              <a:t>0.2717</a:t>
            </a:r>
          </a:p>
        </p:txBody>
      </p:sp>
      <p:sp>
        <p:nvSpPr>
          <p:cNvPr id="14" name="TextBox 13"/>
          <p:cNvSpPr txBox="1"/>
          <p:nvPr/>
        </p:nvSpPr>
        <p:spPr>
          <a:xfrm>
            <a:off x="411480" y="1956816"/>
            <a:ext cx="5577840" cy="384048"/>
          </a:xfrm>
          <a:prstGeom prst="rect">
            <a:avLst/>
          </a:prstGeom>
          <a:noFill/>
        </p:spPr>
        <p:txBody>
          <a:bodyPr wrap="square">
            <a:spAutoFit/>
          </a:bodyPr>
          <a:lstStyle/>
          <a:p>
            <a:pPr algn="l"/>
            <a:r>
              <a:rPr sz="880" b="0" i="0">
                <a:solidFill>
                  <a:srgbClr val="6B7280"/>
                </a:solidFill>
              </a:rPr>
              <a:t>Decisive academic lever. Sharp non-linear risk escalation occurs below 5.0/10.0.</a:t>
            </a:r>
          </a:p>
        </p:txBody>
      </p:sp>
      <p:sp>
        <p:nvSpPr>
          <p:cNvPr id="15" name="Rectangle 14"/>
          <p:cNvSpPr/>
          <p:nvPr/>
        </p:nvSpPr>
        <p:spPr>
          <a:xfrm>
            <a:off x="320040" y="2432304"/>
            <a:ext cx="5760720" cy="73152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2478024"/>
            <a:ext cx="3474720" cy="256032"/>
          </a:xfrm>
          <a:prstGeom prst="rect">
            <a:avLst/>
          </a:prstGeom>
          <a:noFill/>
        </p:spPr>
        <p:txBody>
          <a:bodyPr wrap="square">
            <a:spAutoFit/>
          </a:bodyPr>
          <a:lstStyle/>
          <a:p>
            <a:pPr algn="l"/>
            <a:r>
              <a:rPr sz="1000" b="1" i="0">
                <a:solidFill>
                  <a:srgbClr val="1F2937"/>
                </a:solidFill>
              </a:rPr>
              <a:t>#2  Attendance Rate (percentual_frequencia)</a:t>
            </a:r>
          </a:p>
        </p:txBody>
      </p:sp>
      <p:sp>
        <p:nvSpPr>
          <p:cNvPr id="17" name="Rectangle 16"/>
          <p:cNvSpPr/>
          <p:nvPr/>
        </p:nvSpPr>
        <p:spPr>
          <a:xfrm>
            <a:off x="3931920" y="2496312"/>
            <a:ext cx="277977" cy="2011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83049" y="2478024"/>
            <a:ext cx="685800" cy="228600"/>
          </a:xfrm>
          <a:prstGeom prst="rect">
            <a:avLst/>
          </a:prstGeom>
          <a:noFill/>
        </p:spPr>
        <p:txBody>
          <a:bodyPr wrap="square">
            <a:spAutoFit/>
          </a:bodyPr>
          <a:lstStyle/>
          <a:p>
            <a:pPr algn="l"/>
            <a:r>
              <a:rPr sz="950" b="1" i="0">
                <a:solidFill>
                  <a:srgbClr val="2563EB"/>
                </a:solidFill>
              </a:rPr>
              <a:t>0.0570</a:t>
            </a:r>
          </a:p>
        </p:txBody>
      </p:sp>
      <p:sp>
        <p:nvSpPr>
          <p:cNvPr id="19" name="TextBox 18"/>
          <p:cNvSpPr txBox="1"/>
          <p:nvPr/>
        </p:nvSpPr>
        <p:spPr>
          <a:xfrm>
            <a:off x="411480" y="2743200"/>
            <a:ext cx="5577840" cy="384048"/>
          </a:xfrm>
          <a:prstGeom prst="rect">
            <a:avLst/>
          </a:prstGeom>
          <a:noFill/>
        </p:spPr>
        <p:txBody>
          <a:bodyPr wrap="square">
            <a:spAutoFit/>
          </a:bodyPr>
          <a:lstStyle/>
          <a:p>
            <a:pPr algn="l"/>
            <a:r>
              <a:rPr sz="880" b="0" i="0">
                <a:solidFill>
                  <a:srgbClr val="6B7280"/>
                </a:solidFill>
              </a:rPr>
              <a:t>Primary behavioral signal. Dropping below 75% triggers rapid risk escalation.</a:t>
            </a:r>
          </a:p>
        </p:txBody>
      </p:sp>
      <p:sp>
        <p:nvSpPr>
          <p:cNvPr id="20" name="Rectangle 19"/>
          <p:cNvSpPr/>
          <p:nvPr/>
        </p:nvSpPr>
        <p:spPr>
          <a:xfrm>
            <a:off x="320040" y="3218688"/>
            <a:ext cx="5760720" cy="73152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3264408"/>
            <a:ext cx="3474720" cy="256032"/>
          </a:xfrm>
          <a:prstGeom prst="rect">
            <a:avLst/>
          </a:prstGeom>
          <a:noFill/>
        </p:spPr>
        <p:txBody>
          <a:bodyPr wrap="square">
            <a:spAutoFit/>
          </a:bodyPr>
          <a:lstStyle/>
          <a:p>
            <a:pPr algn="l"/>
            <a:r>
              <a:rPr sz="1000" b="1" i="0">
                <a:solidFill>
                  <a:srgbClr val="1F2937"/>
                </a:solidFill>
              </a:rPr>
              <a:t>#3  Course Failures (reprovacoes)</a:t>
            </a:r>
          </a:p>
        </p:txBody>
      </p:sp>
      <p:sp>
        <p:nvSpPr>
          <p:cNvPr id="22" name="Rectangle 21"/>
          <p:cNvSpPr/>
          <p:nvPr/>
        </p:nvSpPr>
        <p:spPr>
          <a:xfrm>
            <a:off x="3931920" y="3282696"/>
            <a:ext cx="228234" cy="201168"/>
          </a:xfrm>
          <a:prstGeom prst="rect">
            <a:avLst/>
          </a:prstGeom>
          <a:solidFill>
            <a:srgbClr val="0682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33306" y="3264408"/>
            <a:ext cx="685800" cy="228600"/>
          </a:xfrm>
          <a:prstGeom prst="rect">
            <a:avLst/>
          </a:prstGeom>
          <a:noFill/>
        </p:spPr>
        <p:txBody>
          <a:bodyPr wrap="square">
            <a:spAutoFit/>
          </a:bodyPr>
          <a:lstStyle/>
          <a:p>
            <a:pPr algn="l"/>
            <a:r>
              <a:rPr sz="950" b="1" i="0">
                <a:solidFill>
                  <a:srgbClr val="068272"/>
                </a:solidFill>
              </a:rPr>
              <a:t>0.0468</a:t>
            </a:r>
          </a:p>
        </p:txBody>
      </p:sp>
      <p:sp>
        <p:nvSpPr>
          <p:cNvPr id="24" name="TextBox 23"/>
          <p:cNvSpPr txBox="1"/>
          <p:nvPr/>
        </p:nvSpPr>
        <p:spPr>
          <a:xfrm>
            <a:off x="411480" y="3529584"/>
            <a:ext cx="5577840" cy="384048"/>
          </a:xfrm>
          <a:prstGeom prst="rect">
            <a:avLst/>
          </a:prstGeom>
          <a:noFill/>
        </p:spPr>
        <p:txBody>
          <a:bodyPr wrap="square">
            <a:spAutoFit/>
          </a:bodyPr>
          <a:lstStyle/>
          <a:p>
            <a:pPr algn="l"/>
            <a:r>
              <a:rPr sz="880" b="0" i="0">
                <a:solidFill>
                  <a:srgbClr val="6B7280"/>
                </a:solidFill>
              </a:rPr>
              <a:t>Academic momentum barrier. Each additional failed course multiplies dropout odds.</a:t>
            </a:r>
          </a:p>
        </p:txBody>
      </p:sp>
      <p:sp>
        <p:nvSpPr>
          <p:cNvPr id="25" name="Rectangle 24"/>
          <p:cNvSpPr/>
          <p:nvPr/>
        </p:nvSpPr>
        <p:spPr>
          <a:xfrm>
            <a:off x="320040" y="4005072"/>
            <a:ext cx="5760720" cy="73152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4050791"/>
            <a:ext cx="3474720" cy="256032"/>
          </a:xfrm>
          <a:prstGeom prst="rect">
            <a:avLst/>
          </a:prstGeom>
          <a:noFill/>
        </p:spPr>
        <p:txBody>
          <a:bodyPr wrap="square">
            <a:spAutoFit/>
          </a:bodyPr>
          <a:lstStyle/>
          <a:p>
            <a:pPr algn="l"/>
            <a:r>
              <a:rPr sz="1000" b="1" i="0">
                <a:solidFill>
                  <a:srgbClr val="1F2937"/>
                </a:solidFill>
              </a:rPr>
              <a:t>#4  Enrollment Year (anoingresso)</a:t>
            </a:r>
          </a:p>
        </p:txBody>
      </p:sp>
      <p:sp>
        <p:nvSpPr>
          <p:cNvPr id="27" name="Rectangle 26"/>
          <p:cNvSpPr/>
          <p:nvPr/>
        </p:nvSpPr>
        <p:spPr>
          <a:xfrm>
            <a:off x="3931920" y="4069080"/>
            <a:ext cx="187269" cy="20116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92341" y="4050791"/>
            <a:ext cx="685800" cy="228600"/>
          </a:xfrm>
          <a:prstGeom prst="rect">
            <a:avLst/>
          </a:prstGeom>
          <a:noFill/>
        </p:spPr>
        <p:txBody>
          <a:bodyPr wrap="square">
            <a:spAutoFit/>
          </a:bodyPr>
          <a:lstStyle/>
          <a:p>
            <a:pPr algn="l"/>
            <a:r>
              <a:rPr sz="950" b="1" i="0">
                <a:solidFill>
                  <a:srgbClr val="D97706"/>
                </a:solidFill>
              </a:rPr>
              <a:t>0.0384</a:t>
            </a:r>
          </a:p>
        </p:txBody>
      </p:sp>
      <p:sp>
        <p:nvSpPr>
          <p:cNvPr id="29" name="TextBox 28"/>
          <p:cNvSpPr txBox="1"/>
          <p:nvPr/>
        </p:nvSpPr>
        <p:spPr>
          <a:xfrm>
            <a:off x="411480" y="4315968"/>
            <a:ext cx="5577840" cy="384048"/>
          </a:xfrm>
          <a:prstGeom prst="rect">
            <a:avLst/>
          </a:prstGeom>
          <a:noFill/>
        </p:spPr>
        <p:txBody>
          <a:bodyPr wrap="square">
            <a:spAutoFit/>
          </a:bodyPr>
          <a:lstStyle/>
          <a:p>
            <a:pPr algn="l"/>
            <a:r>
              <a:rPr sz="880" b="0" i="0">
                <a:solidFill>
                  <a:srgbClr val="6B7280"/>
                </a:solidFill>
              </a:rPr>
              <a:t>Captures institutional curriculum calendar shifts and macro cohort effects.</a:t>
            </a:r>
          </a:p>
        </p:txBody>
      </p:sp>
      <p:sp>
        <p:nvSpPr>
          <p:cNvPr id="30" name="Rectangle 29"/>
          <p:cNvSpPr/>
          <p:nvPr/>
        </p:nvSpPr>
        <p:spPr>
          <a:xfrm>
            <a:off x="320040" y="4791456"/>
            <a:ext cx="5760720" cy="73152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4837176"/>
            <a:ext cx="3474720" cy="256032"/>
          </a:xfrm>
          <a:prstGeom prst="rect">
            <a:avLst/>
          </a:prstGeom>
          <a:noFill/>
        </p:spPr>
        <p:txBody>
          <a:bodyPr wrap="square">
            <a:spAutoFit/>
          </a:bodyPr>
          <a:lstStyle/>
          <a:p>
            <a:pPr algn="l"/>
            <a:r>
              <a:rPr sz="1000" b="1" i="0">
                <a:solidFill>
                  <a:srgbClr val="1F2937"/>
                </a:solidFill>
              </a:rPr>
              <a:t>#5  Family Income (rendabruta)</a:t>
            </a:r>
          </a:p>
        </p:txBody>
      </p:sp>
      <p:sp>
        <p:nvSpPr>
          <p:cNvPr id="32" name="Rectangle 31"/>
          <p:cNvSpPr/>
          <p:nvPr/>
        </p:nvSpPr>
        <p:spPr>
          <a:xfrm>
            <a:off x="3931920" y="4855464"/>
            <a:ext cx="102412" cy="2011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07484" y="4837176"/>
            <a:ext cx="685800" cy="228600"/>
          </a:xfrm>
          <a:prstGeom prst="rect">
            <a:avLst/>
          </a:prstGeom>
          <a:noFill/>
        </p:spPr>
        <p:txBody>
          <a:bodyPr wrap="square">
            <a:spAutoFit/>
          </a:bodyPr>
          <a:lstStyle/>
          <a:p>
            <a:pPr algn="l"/>
            <a:r>
              <a:rPr sz="950" b="1" i="0">
                <a:solidFill>
                  <a:srgbClr val="7C3AED"/>
                </a:solidFill>
              </a:rPr>
              <a:t>0.0210</a:t>
            </a:r>
          </a:p>
        </p:txBody>
      </p:sp>
      <p:sp>
        <p:nvSpPr>
          <p:cNvPr id="34" name="TextBox 33"/>
          <p:cNvSpPr txBox="1"/>
          <p:nvPr/>
        </p:nvSpPr>
        <p:spPr>
          <a:xfrm>
            <a:off x="411480" y="5102352"/>
            <a:ext cx="5577840" cy="384048"/>
          </a:xfrm>
          <a:prstGeom prst="rect">
            <a:avLst/>
          </a:prstGeom>
          <a:noFill/>
        </p:spPr>
        <p:txBody>
          <a:bodyPr wrap="square">
            <a:spAutoFit/>
          </a:bodyPr>
          <a:lstStyle/>
          <a:p>
            <a:pPr algn="l"/>
            <a:r>
              <a:rPr sz="880" b="0" i="0">
                <a:solidFill>
                  <a:srgbClr val="6B7280"/>
                </a:solidFill>
              </a:rPr>
              <a:t>Socioeconomic buffer. Lower income students need rapid scholarship routing.</a:t>
            </a:r>
          </a:p>
        </p:txBody>
      </p:sp>
      <p:sp>
        <p:nvSpPr>
          <p:cNvPr id="35" name="Rectangle 34"/>
          <p:cNvSpPr/>
          <p:nvPr/>
        </p:nvSpPr>
        <p:spPr>
          <a:xfrm>
            <a:off x="320040" y="5577840"/>
            <a:ext cx="5760720" cy="731520"/>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5623559"/>
            <a:ext cx="3474720" cy="256032"/>
          </a:xfrm>
          <a:prstGeom prst="rect">
            <a:avLst/>
          </a:prstGeom>
          <a:noFill/>
        </p:spPr>
        <p:txBody>
          <a:bodyPr wrap="square">
            <a:spAutoFit/>
          </a:bodyPr>
          <a:lstStyle/>
          <a:p>
            <a:pPr algn="l"/>
            <a:r>
              <a:rPr sz="1000" b="1" i="0">
                <a:solidFill>
                  <a:srgbClr val="1F2937"/>
                </a:solidFill>
              </a:rPr>
              <a:t>#6  Course Modality (modalidade)</a:t>
            </a:r>
          </a:p>
        </p:txBody>
      </p:sp>
      <p:sp>
        <p:nvSpPr>
          <p:cNvPr id="37" name="Rectangle 36"/>
          <p:cNvSpPr/>
          <p:nvPr/>
        </p:nvSpPr>
        <p:spPr>
          <a:xfrm>
            <a:off x="3931920" y="5641848"/>
            <a:ext cx="79491" cy="20116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084563" y="5623559"/>
            <a:ext cx="685800" cy="228600"/>
          </a:xfrm>
          <a:prstGeom prst="rect">
            <a:avLst/>
          </a:prstGeom>
          <a:noFill/>
        </p:spPr>
        <p:txBody>
          <a:bodyPr wrap="square">
            <a:spAutoFit/>
          </a:bodyPr>
          <a:lstStyle/>
          <a:p>
            <a:pPr algn="l"/>
            <a:r>
              <a:rPr sz="950" b="1" i="0">
                <a:solidFill>
                  <a:srgbClr val="DC2626"/>
                </a:solidFill>
              </a:rPr>
              <a:t>0.0163</a:t>
            </a:r>
          </a:p>
        </p:txBody>
      </p:sp>
      <p:sp>
        <p:nvSpPr>
          <p:cNvPr id="39" name="TextBox 38"/>
          <p:cNvSpPr txBox="1"/>
          <p:nvPr/>
        </p:nvSpPr>
        <p:spPr>
          <a:xfrm>
            <a:off x="411480" y="5888736"/>
            <a:ext cx="5577840" cy="384048"/>
          </a:xfrm>
          <a:prstGeom prst="rect">
            <a:avLst/>
          </a:prstGeom>
          <a:noFill/>
        </p:spPr>
        <p:txBody>
          <a:bodyPr wrap="square">
            <a:spAutoFit/>
          </a:bodyPr>
          <a:lstStyle/>
          <a:p>
            <a:pPr algn="l"/>
            <a:r>
              <a:rPr sz="880" b="0" i="0">
                <a:solidFill>
                  <a:srgbClr val="6B7280"/>
                </a:solidFill>
              </a:rPr>
              <a:t>Evening adult learners face 2x higher structural attrition due to employment.</a:t>
            </a:r>
          </a:p>
        </p:txBody>
      </p:sp>
      <p:sp>
        <p:nvSpPr>
          <p:cNvPr id="40" name="TextBox 39"/>
          <p:cNvSpPr txBox="1"/>
          <p:nvPr/>
        </p:nvSpPr>
        <p:spPr>
          <a:xfrm>
            <a:off x="6263640" y="1261872"/>
            <a:ext cx="5577840" cy="320040"/>
          </a:xfrm>
          <a:prstGeom prst="rect">
            <a:avLst/>
          </a:prstGeom>
          <a:noFill/>
        </p:spPr>
        <p:txBody>
          <a:bodyPr wrap="square">
            <a:spAutoFit/>
          </a:bodyPr>
          <a:lstStyle/>
          <a:p>
            <a:pPr algn="l"/>
            <a:r>
              <a:rPr sz="1300" b="1" i="0">
                <a:solidFill>
                  <a:srgbClr val="1E3A8A"/>
                </a:solidFill>
              </a:rPr>
              <a:t>Empirical Global SHAP Beeswarm Plot</a:t>
            </a:r>
          </a:p>
        </p:txBody>
      </p:sp>
      <p:sp>
        <p:nvSpPr>
          <p:cNvPr id="41" name="Rectangle 40"/>
          <p:cNvSpPr/>
          <p:nvPr/>
        </p:nvSpPr>
        <p:spPr>
          <a:xfrm>
            <a:off x="6236207" y="1618488"/>
            <a:ext cx="5660136" cy="4764024"/>
          </a:xfrm>
          <a:prstGeom prst="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01_shap_global_beeswarm.png"/>
          <p:cNvPicPr>
            <a:picLocks noChangeAspect="1"/>
          </p:cNvPicPr>
          <p:nvPr/>
        </p:nvPicPr>
        <p:blipFill>
          <a:blip r:embed="rId2"/>
          <a:stretch>
            <a:fillRect/>
          </a:stretch>
        </p:blipFill>
        <p:spPr>
          <a:xfrm>
            <a:off x="6263640" y="1645920"/>
            <a:ext cx="5605272" cy="47091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66928"/>
          </a:xfrm>
          <a:prstGeom prst="rect">
            <a:avLst/>
          </a:prstGeom>
          <a:noFill/>
        </p:spPr>
        <p:txBody>
          <a:bodyPr wrap="square">
            <a:spAutoFit/>
          </a:bodyPr>
          <a:lstStyle/>
          <a:p>
            <a:pPr algn="l"/>
            <a:r>
              <a:rPr sz="2300" b="1" i="0">
                <a:solidFill>
                  <a:srgbClr val="FFFFFF"/>
                </a:solidFill>
              </a:rPr>
              <a:t>Slide 7: Phase 3 — Micro Local Explainability &amp; What-If Counterfactuals</a:t>
            </a:r>
          </a:p>
        </p:txBody>
      </p:sp>
      <p:sp>
        <p:nvSpPr>
          <p:cNvPr id="5" name="TextBox 4"/>
          <p:cNvSpPr txBox="1"/>
          <p:nvPr/>
        </p:nvSpPr>
        <p:spPr>
          <a:xfrm>
            <a:off x="365760" y="640080"/>
            <a:ext cx="11430000" cy="411480"/>
          </a:xfrm>
          <a:prstGeom prst="rect">
            <a:avLst/>
          </a:prstGeom>
          <a:noFill/>
        </p:spPr>
        <p:txBody>
          <a:bodyPr wrap="square">
            <a:spAutoFit/>
          </a:bodyPr>
          <a:lstStyle/>
          <a:p>
            <a:pPr algn="l"/>
            <a:r>
              <a:rPr sz="1100" b="0" i="0">
                <a:solidFill>
                  <a:srgbClr val="BFDBFF"/>
                </a:solidFill>
              </a:rPr>
              <a:t>Counselor-actionable factor attribution cards &amp; dynamic sensitivity simulation</a:t>
            </a:r>
          </a:p>
        </p:txBody>
      </p:sp>
      <p:sp>
        <p:nvSpPr>
          <p:cNvPr id="6" name="Rectangle 5"/>
          <p:cNvSpPr/>
          <p:nvPr/>
        </p:nvSpPr>
        <p:spPr>
          <a:xfrm>
            <a:off x="0" y="6565392"/>
            <a:ext cx="12188952"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74536"/>
            <a:ext cx="9601200" cy="256032"/>
          </a:xfrm>
          <a:prstGeom prst="rect">
            <a:avLst/>
          </a:prstGeom>
          <a:noFill/>
        </p:spPr>
        <p:txBody>
          <a:bodyPr wrap="square">
            <a:spAutoFit/>
          </a:bodyPr>
          <a:lstStyle/>
          <a:p>
            <a:pPr algn="l"/>
            <a:r>
              <a:rPr sz="850" b="0" i="0">
                <a:solidFill>
                  <a:srgbClr val="FFFFFF"/>
                </a:solidFill>
              </a:rPr>
              <a:t>Student Dropout XAI &amp; Governance Framework  |  Evaluation Presentation &amp; Defense</a:t>
            </a:r>
          </a:p>
        </p:txBody>
      </p:sp>
      <p:sp>
        <p:nvSpPr>
          <p:cNvPr id="8" name="TextBox 7"/>
          <p:cNvSpPr txBox="1"/>
          <p:nvPr/>
        </p:nvSpPr>
        <p:spPr>
          <a:xfrm>
            <a:off x="10515600" y="6574536"/>
            <a:ext cx="1371600" cy="256032"/>
          </a:xfrm>
          <a:prstGeom prst="rect">
            <a:avLst/>
          </a:prstGeom>
          <a:noFill/>
        </p:spPr>
        <p:txBody>
          <a:bodyPr wrap="square">
            <a:spAutoFit/>
          </a:bodyPr>
          <a:lstStyle/>
          <a:p>
            <a:pPr algn="r"/>
            <a:r>
              <a:rPr sz="850" b="0" i="0">
                <a:solidFill>
                  <a:srgbClr val="FFFFFF"/>
                </a:solidFill>
              </a:rPr>
              <a:t>Slide 7 of 10</a:t>
            </a:r>
          </a:p>
        </p:txBody>
      </p:sp>
      <p:sp>
        <p:nvSpPr>
          <p:cNvPr id="9" name="TextBox 8"/>
          <p:cNvSpPr txBox="1"/>
          <p:nvPr/>
        </p:nvSpPr>
        <p:spPr>
          <a:xfrm>
            <a:off x="320040" y="1261872"/>
            <a:ext cx="11521440" cy="320040"/>
          </a:xfrm>
          <a:prstGeom prst="rect">
            <a:avLst/>
          </a:prstGeom>
          <a:noFill/>
        </p:spPr>
        <p:txBody>
          <a:bodyPr wrap="square">
            <a:spAutoFit/>
          </a:bodyPr>
          <a:lstStyle/>
          <a:p>
            <a:pPr algn="l"/>
            <a:r>
              <a:rPr sz="1300" b="1" i="0">
                <a:solidFill>
                  <a:srgbClr val="1E3A8A"/>
                </a:solidFill>
              </a:rPr>
              <a:t>Three Archetypal Counselor Case Studies</a:t>
            </a:r>
          </a:p>
        </p:txBody>
      </p:sp>
      <p:sp>
        <p:nvSpPr>
          <p:cNvPr id="10" name="Rectangle 9"/>
          <p:cNvSpPr/>
          <p:nvPr/>
        </p:nvSpPr>
        <p:spPr>
          <a:xfrm>
            <a:off x="320040" y="1627632"/>
            <a:ext cx="3767328" cy="3520440"/>
          </a:xfrm>
          <a:prstGeom prst="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627632"/>
            <a:ext cx="3767328" cy="38404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79" y="1673352"/>
            <a:ext cx="3584448" cy="292608"/>
          </a:xfrm>
          <a:prstGeom prst="rect">
            <a:avLst/>
          </a:prstGeom>
          <a:noFill/>
        </p:spPr>
        <p:txBody>
          <a:bodyPr wrap="square">
            <a:spAutoFit/>
          </a:bodyPr>
          <a:lstStyle/>
          <a:p>
            <a:pPr algn="l"/>
            <a:r>
              <a:rPr sz="1050" b="1" i="0">
                <a:solidFill>
                  <a:srgbClr val="FFFFFF"/>
                </a:solidFill>
              </a:rPr>
              <a:t>Student #0 — Urgent Crisis (HIGH RISK: 99.4%)</a:t>
            </a:r>
          </a:p>
        </p:txBody>
      </p:sp>
      <p:sp>
        <p:nvSpPr>
          <p:cNvPr id="13" name="TextBox 12"/>
          <p:cNvSpPr txBox="1"/>
          <p:nvPr/>
        </p:nvSpPr>
        <p:spPr>
          <a:xfrm>
            <a:off x="429768" y="2066543"/>
            <a:ext cx="3547872" cy="228600"/>
          </a:xfrm>
          <a:prstGeom prst="rect">
            <a:avLst/>
          </a:prstGeom>
          <a:noFill/>
        </p:spPr>
        <p:txBody>
          <a:bodyPr wrap="square">
            <a:spAutoFit/>
          </a:bodyPr>
          <a:lstStyle/>
          <a:p>
            <a:pPr algn="l"/>
            <a:r>
              <a:rPr sz="950" b="1" i="0">
                <a:solidFill>
                  <a:srgbClr val="DC2626"/>
                </a:solidFill>
              </a:rPr>
              <a:t>Decisive Drivers (LIME/SHAP):</a:t>
            </a:r>
          </a:p>
        </p:txBody>
      </p:sp>
      <p:sp>
        <p:nvSpPr>
          <p:cNvPr id="14" name="TextBox 13"/>
          <p:cNvSpPr txBox="1"/>
          <p:nvPr/>
        </p:nvSpPr>
        <p:spPr>
          <a:xfrm>
            <a:off x="457200" y="2304288"/>
            <a:ext cx="3493008" cy="256032"/>
          </a:xfrm>
          <a:prstGeom prst="rect">
            <a:avLst/>
          </a:prstGeom>
          <a:noFill/>
        </p:spPr>
        <p:txBody>
          <a:bodyPr wrap="square">
            <a:spAutoFit/>
          </a:bodyPr>
          <a:lstStyle/>
          <a:p>
            <a:pPr algn="l"/>
            <a:r>
              <a:rPr sz="880" b="0" i="0">
                <a:solidFill>
                  <a:srgbClr val="1F2937"/>
                </a:solidFill>
              </a:rPr>
              <a:t>• Cumulative GPA: 2.4  [+0.38 Risk]</a:t>
            </a:r>
          </a:p>
        </p:txBody>
      </p:sp>
      <p:sp>
        <p:nvSpPr>
          <p:cNvPr id="15" name="TextBox 14"/>
          <p:cNvSpPr txBox="1"/>
          <p:nvPr/>
        </p:nvSpPr>
        <p:spPr>
          <a:xfrm>
            <a:off x="457200" y="2596896"/>
            <a:ext cx="3493008" cy="256032"/>
          </a:xfrm>
          <a:prstGeom prst="rect">
            <a:avLst/>
          </a:prstGeom>
          <a:noFill/>
        </p:spPr>
        <p:txBody>
          <a:bodyPr wrap="square">
            <a:spAutoFit/>
          </a:bodyPr>
          <a:lstStyle/>
          <a:p>
            <a:pPr algn="l"/>
            <a:r>
              <a:rPr sz="880" b="0" i="0">
                <a:solidFill>
                  <a:srgbClr val="1F2937"/>
                </a:solidFill>
              </a:rPr>
              <a:t>• Attendance Rate: 55.0%  [+0.18 Risk]</a:t>
            </a:r>
          </a:p>
        </p:txBody>
      </p:sp>
      <p:sp>
        <p:nvSpPr>
          <p:cNvPr id="16" name="TextBox 15"/>
          <p:cNvSpPr txBox="1"/>
          <p:nvPr/>
        </p:nvSpPr>
        <p:spPr>
          <a:xfrm>
            <a:off x="457200" y="2889504"/>
            <a:ext cx="3493008" cy="256032"/>
          </a:xfrm>
          <a:prstGeom prst="rect">
            <a:avLst/>
          </a:prstGeom>
          <a:noFill/>
        </p:spPr>
        <p:txBody>
          <a:bodyPr wrap="square">
            <a:spAutoFit/>
          </a:bodyPr>
          <a:lstStyle/>
          <a:p>
            <a:pPr algn="l"/>
            <a:r>
              <a:rPr sz="880" b="0" i="0">
                <a:solidFill>
                  <a:srgbClr val="1F2937"/>
                </a:solidFill>
              </a:rPr>
              <a:t>• Failed Courses: 3 courses  [+0.11 Risk]</a:t>
            </a:r>
          </a:p>
        </p:txBody>
      </p:sp>
      <p:sp>
        <p:nvSpPr>
          <p:cNvPr id="17" name="TextBox 16"/>
          <p:cNvSpPr txBox="1"/>
          <p:nvPr/>
        </p:nvSpPr>
        <p:spPr>
          <a:xfrm>
            <a:off x="429768" y="3218688"/>
            <a:ext cx="3547872" cy="228600"/>
          </a:xfrm>
          <a:prstGeom prst="rect">
            <a:avLst/>
          </a:prstGeom>
          <a:noFill/>
        </p:spPr>
        <p:txBody>
          <a:bodyPr wrap="square">
            <a:spAutoFit/>
          </a:bodyPr>
          <a:lstStyle/>
          <a:p>
            <a:pPr algn="l"/>
            <a:r>
              <a:rPr sz="950" b="1" i="0">
                <a:solidFill>
                  <a:srgbClr val="1E3A8A"/>
                </a:solidFill>
              </a:rPr>
              <a:t>Prescribed Counselor Actions:</a:t>
            </a:r>
          </a:p>
        </p:txBody>
      </p:sp>
      <p:sp>
        <p:nvSpPr>
          <p:cNvPr id="18" name="TextBox 17"/>
          <p:cNvSpPr txBox="1"/>
          <p:nvPr/>
        </p:nvSpPr>
        <p:spPr>
          <a:xfrm>
            <a:off x="457200" y="3456432"/>
            <a:ext cx="3493008" cy="320040"/>
          </a:xfrm>
          <a:prstGeom prst="rect">
            <a:avLst/>
          </a:prstGeom>
          <a:noFill/>
        </p:spPr>
        <p:txBody>
          <a:bodyPr wrap="square">
            <a:spAutoFit/>
          </a:bodyPr>
          <a:lstStyle/>
          <a:p>
            <a:pPr algn="l"/>
            <a:r>
              <a:rPr sz="850" b="0" i="0">
                <a:solidFill>
                  <a:srgbClr val="1F2937"/>
                </a:solidFill>
              </a:rPr>
              <a:t>→ Immediate mandatory peer tutoring &amp; remedial math/writing</a:t>
            </a:r>
          </a:p>
        </p:txBody>
      </p:sp>
      <p:sp>
        <p:nvSpPr>
          <p:cNvPr id="19" name="TextBox 18"/>
          <p:cNvSpPr txBox="1"/>
          <p:nvPr/>
        </p:nvSpPr>
        <p:spPr>
          <a:xfrm>
            <a:off x="457200" y="3776472"/>
            <a:ext cx="3493008" cy="320040"/>
          </a:xfrm>
          <a:prstGeom prst="rect">
            <a:avLst/>
          </a:prstGeom>
          <a:noFill/>
        </p:spPr>
        <p:txBody>
          <a:bodyPr wrap="square">
            <a:spAutoFit/>
          </a:bodyPr>
          <a:lstStyle/>
          <a:p>
            <a:pPr algn="l"/>
            <a:r>
              <a:rPr sz="850" b="0" i="0">
                <a:solidFill>
                  <a:srgbClr val="1F2937"/>
                </a:solidFill>
              </a:rPr>
              <a:t>→ Counselor conference: reduce course load before next term</a:t>
            </a:r>
          </a:p>
        </p:txBody>
      </p:sp>
      <p:sp>
        <p:nvSpPr>
          <p:cNvPr id="20" name="TextBox 19"/>
          <p:cNvSpPr txBox="1"/>
          <p:nvPr/>
        </p:nvSpPr>
        <p:spPr>
          <a:xfrm>
            <a:off x="457200" y="4096511"/>
            <a:ext cx="3493008" cy="320040"/>
          </a:xfrm>
          <a:prstGeom prst="rect">
            <a:avLst/>
          </a:prstGeom>
          <a:noFill/>
        </p:spPr>
        <p:txBody>
          <a:bodyPr wrap="square">
            <a:spAutoFit/>
          </a:bodyPr>
          <a:lstStyle/>
          <a:p>
            <a:pPr algn="l"/>
            <a:r>
              <a:rPr sz="850" b="0" i="0">
                <a:solidFill>
                  <a:srgbClr val="1F2937"/>
                </a:solidFill>
              </a:rPr>
              <a:t>→ Emergency municipal transportation voucher referral</a:t>
            </a:r>
          </a:p>
        </p:txBody>
      </p:sp>
      <p:sp>
        <p:nvSpPr>
          <p:cNvPr id="21" name="Rectangle 20"/>
          <p:cNvSpPr/>
          <p:nvPr/>
        </p:nvSpPr>
        <p:spPr>
          <a:xfrm>
            <a:off x="4206240" y="1627632"/>
            <a:ext cx="3767328" cy="3520440"/>
          </a:xfrm>
          <a:prstGeom prst="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06240" y="1627632"/>
            <a:ext cx="3767328" cy="38404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79" y="1673352"/>
            <a:ext cx="3584448" cy="292608"/>
          </a:xfrm>
          <a:prstGeom prst="rect">
            <a:avLst/>
          </a:prstGeom>
          <a:noFill/>
        </p:spPr>
        <p:txBody>
          <a:bodyPr wrap="square">
            <a:spAutoFit/>
          </a:bodyPr>
          <a:lstStyle/>
          <a:p>
            <a:pPr algn="l"/>
            <a:r>
              <a:rPr sz="1050" b="1" i="0">
                <a:solidFill>
                  <a:srgbClr val="FFFFFF"/>
                </a:solidFill>
              </a:rPr>
              <a:t>Student #43 — Borderline Case ★ (BORDERLINE: 65.0%)</a:t>
            </a:r>
          </a:p>
        </p:txBody>
      </p:sp>
      <p:sp>
        <p:nvSpPr>
          <p:cNvPr id="24" name="TextBox 23"/>
          <p:cNvSpPr txBox="1"/>
          <p:nvPr/>
        </p:nvSpPr>
        <p:spPr>
          <a:xfrm>
            <a:off x="4315968" y="2066543"/>
            <a:ext cx="3547872" cy="228600"/>
          </a:xfrm>
          <a:prstGeom prst="rect">
            <a:avLst/>
          </a:prstGeom>
          <a:noFill/>
        </p:spPr>
        <p:txBody>
          <a:bodyPr wrap="square">
            <a:spAutoFit/>
          </a:bodyPr>
          <a:lstStyle/>
          <a:p>
            <a:pPr algn="l"/>
            <a:r>
              <a:rPr sz="950" b="1" i="0">
                <a:solidFill>
                  <a:srgbClr val="D97706"/>
                </a:solidFill>
              </a:rPr>
              <a:t>Decisive Drivers (LIME/SHAP):</a:t>
            </a:r>
          </a:p>
        </p:txBody>
      </p:sp>
      <p:sp>
        <p:nvSpPr>
          <p:cNvPr id="25" name="TextBox 24"/>
          <p:cNvSpPr txBox="1"/>
          <p:nvPr/>
        </p:nvSpPr>
        <p:spPr>
          <a:xfrm>
            <a:off x="4343400" y="2304288"/>
            <a:ext cx="3493008" cy="256032"/>
          </a:xfrm>
          <a:prstGeom prst="rect">
            <a:avLst/>
          </a:prstGeom>
          <a:noFill/>
        </p:spPr>
        <p:txBody>
          <a:bodyPr wrap="square">
            <a:spAutoFit/>
          </a:bodyPr>
          <a:lstStyle/>
          <a:p>
            <a:pPr algn="l"/>
            <a:r>
              <a:rPr sz="880" b="0" i="0">
                <a:solidFill>
                  <a:srgbClr val="1F2937"/>
                </a:solidFill>
              </a:rPr>
              <a:t>• Attendance Rate: 68.0%  [Primary Risk Escalator]</a:t>
            </a:r>
          </a:p>
        </p:txBody>
      </p:sp>
      <p:sp>
        <p:nvSpPr>
          <p:cNvPr id="26" name="TextBox 25"/>
          <p:cNvSpPr txBox="1"/>
          <p:nvPr/>
        </p:nvSpPr>
        <p:spPr>
          <a:xfrm>
            <a:off x="4343400" y="2596896"/>
            <a:ext cx="3493008" cy="256032"/>
          </a:xfrm>
          <a:prstGeom prst="rect">
            <a:avLst/>
          </a:prstGeom>
          <a:noFill/>
        </p:spPr>
        <p:txBody>
          <a:bodyPr wrap="square">
            <a:spAutoFit/>
          </a:bodyPr>
          <a:lstStyle/>
          <a:p>
            <a:pPr algn="l"/>
            <a:r>
              <a:rPr sz="880" b="0" i="0">
                <a:solidFill>
                  <a:srgbClr val="1F2937"/>
                </a:solidFill>
              </a:rPr>
              <a:t>• Cumulative GPA: 5.8  [At Edge of Academic Cliff]</a:t>
            </a:r>
          </a:p>
        </p:txBody>
      </p:sp>
      <p:sp>
        <p:nvSpPr>
          <p:cNvPr id="27" name="TextBox 26"/>
          <p:cNvSpPr txBox="1"/>
          <p:nvPr/>
        </p:nvSpPr>
        <p:spPr>
          <a:xfrm>
            <a:off x="4343400" y="2889504"/>
            <a:ext cx="3493008" cy="256032"/>
          </a:xfrm>
          <a:prstGeom prst="rect">
            <a:avLst/>
          </a:prstGeom>
          <a:noFill/>
        </p:spPr>
        <p:txBody>
          <a:bodyPr wrap="square">
            <a:spAutoFit/>
          </a:bodyPr>
          <a:lstStyle/>
          <a:p>
            <a:pPr algn="l"/>
            <a:r>
              <a:rPr sz="880" b="0" i="0">
                <a:solidFill>
                  <a:srgbClr val="1F2937"/>
                </a:solidFill>
              </a:rPr>
              <a:t>• Parent Education: High School  [+0.02 Risk Buffer]</a:t>
            </a:r>
          </a:p>
        </p:txBody>
      </p:sp>
      <p:sp>
        <p:nvSpPr>
          <p:cNvPr id="28" name="TextBox 27"/>
          <p:cNvSpPr txBox="1"/>
          <p:nvPr/>
        </p:nvSpPr>
        <p:spPr>
          <a:xfrm>
            <a:off x="4315968" y="3218688"/>
            <a:ext cx="3547872" cy="228600"/>
          </a:xfrm>
          <a:prstGeom prst="rect">
            <a:avLst/>
          </a:prstGeom>
          <a:noFill/>
        </p:spPr>
        <p:txBody>
          <a:bodyPr wrap="square">
            <a:spAutoFit/>
          </a:bodyPr>
          <a:lstStyle/>
          <a:p>
            <a:pPr algn="l"/>
            <a:r>
              <a:rPr sz="950" b="1" i="0">
                <a:solidFill>
                  <a:srgbClr val="1E3A8A"/>
                </a:solidFill>
              </a:rPr>
              <a:t>Prescribed Counselor Actions:</a:t>
            </a:r>
          </a:p>
        </p:txBody>
      </p:sp>
      <p:sp>
        <p:nvSpPr>
          <p:cNvPr id="29" name="TextBox 28"/>
          <p:cNvSpPr txBox="1"/>
          <p:nvPr/>
        </p:nvSpPr>
        <p:spPr>
          <a:xfrm>
            <a:off x="4343400" y="3456432"/>
            <a:ext cx="3493008" cy="320040"/>
          </a:xfrm>
          <a:prstGeom prst="rect">
            <a:avLst/>
          </a:prstGeom>
          <a:noFill/>
        </p:spPr>
        <p:txBody>
          <a:bodyPr wrap="square">
            <a:spAutoFit/>
          </a:bodyPr>
          <a:lstStyle/>
          <a:p>
            <a:pPr algn="l"/>
            <a:r>
              <a:rPr sz="850" b="0" i="0">
                <a:solidFill>
                  <a:srgbClr val="1F2937"/>
                </a:solidFill>
              </a:rPr>
              <a:t>→ ★ Star Demo Case: Highly sensitive to modest intervention</a:t>
            </a:r>
          </a:p>
        </p:txBody>
      </p:sp>
      <p:sp>
        <p:nvSpPr>
          <p:cNvPr id="30" name="TextBox 29"/>
          <p:cNvSpPr txBox="1"/>
          <p:nvPr/>
        </p:nvSpPr>
        <p:spPr>
          <a:xfrm>
            <a:off x="4343400" y="3776472"/>
            <a:ext cx="3493008" cy="320040"/>
          </a:xfrm>
          <a:prstGeom prst="rect">
            <a:avLst/>
          </a:prstGeom>
          <a:noFill/>
        </p:spPr>
        <p:txBody>
          <a:bodyPr wrap="square">
            <a:spAutoFit/>
          </a:bodyPr>
          <a:lstStyle/>
          <a:p>
            <a:pPr algn="l"/>
            <a:r>
              <a:rPr sz="850" b="0" i="0">
                <a:solidFill>
                  <a:srgbClr val="1F2937"/>
                </a:solidFill>
              </a:rPr>
              <a:t>→ Raise attendance to 85% → predicted risk drops to 28% (Safe Zone!)</a:t>
            </a:r>
          </a:p>
        </p:txBody>
      </p:sp>
      <p:sp>
        <p:nvSpPr>
          <p:cNvPr id="31" name="TextBox 30"/>
          <p:cNvSpPr txBox="1"/>
          <p:nvPr/>
        </p:nvSpPr>
        <p:spPr>
          <a:xfrm>
            <a:off x="4343400" y="4096511"/>
            <a:ext cx="3493008" cy="320040"/>
          </a:xfrm>
          <a:prstGeom prst="rect">
            <a:avLst/>
          </a:prstGeom>
          <a:noFill/>
        </p:spPr>
        <p:txBody>
          <a:bodyPr wrap="square">
            <a:spAutoFit/>
          </a:bodyPr>
          <a:lstStyle/>
          <a:p>
            <a:pPr algn="l"/>
            <a:r>
              <a:rPr sz="850" b="0" i="0">
                <a:solidFill>
                  <a:srgbClr val="1F2937"/>
                </a:solidFill>
              </a:rPr>
              <a:t>→ Fortnightly counselor check-in agreement signed</a:t>
            </a:r>
          </a:p>
        </p:txBody>
      </p:sp>
      <p:sp>
        <p:nvSpPr>
          <p:cNvPr id="32" name="Rectangle 31"/>
          <p:cNvSpPr/>
          <p:nvPr/>
        </p:nvSpPr>
        <p:spPr>
          <a:xfrm>
            <a:off x="8092440" y="1627632"/>
            <a:ext cx="3767328" cy="3520440"/>
          </a:xfrm>
          <a:prstGeom prst="rect">
            <a:avLst/>
          </a:prstGeom>
          <a:solidFill>
            <a:srgbClr val="D1FAE5"/>
          </a:solidFill>
          <a:ln w="19050">
            <a:solidFill>
              <a:srgbClr val="059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92440" y="1627632"/>
            <a:ext cx="3767328" cy="384048"/>
          </a:xfrm>
          <a:prstGeom prst="rect">
            <a:avLst/>
          </a:prstGeom>
          <a:solidFill>
            <a:srgbClr val="059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83879" y="1673352"/>
            <a:ext cx="3584448" cy="292608"/>
          </a:xfrm>
          <a:prstGeom prst="rect">
            <a:avLst/>
          </a:prstGeom>
          <a:noFill/>
        </p:spPr>
        <p:txBody>
          <a:bodyPr wrap="square">
            <a:spAutoFit/>
          </a:bodyPr>
          <a:lstStyle/>
          <a:p>
            <a:pPr algn="l"/>
            <a:r>
              <a:rPr sz="1050" b="1" i="0">
                <a:solidFill>
                  <a:srgbClr val="FFFFFF"/>
                </a:solidFill>
              </a:rPr>
              <a:t>Student #1 — Secure Baseline (LOW RISK: 3.4%)</a:t>
            </a:r>
          </a:p>
        </p:txBody>
      </p:sp>
      <p:sp>
        <p:nvSpPr>
          <p:cNvPr id="35" name="TextBox 34"/>
          <p:cNvSpPr txBox="1"/>
          <p:nvPr/>
        </p:nvSpPr>
        <p:spPr>
          <a:xfrm>
            <a:off x="8202167" y="2066543"/>
            <a:ext cx="3547872" cy="228600"/>
          </a:xfrm>
          <a:prstGeom prst="rect">
            <a:avLst/>
          </a:prstGeom>
          <a:noFill/>
        </p:spPr>
        <p:txBody>
          <a:bodyPr wrap="square">
            <a:spAutoFit/>
          </a:bodyPr>
          <a:lstStyle/>
          <a:p>
            <a:pPr algn="l"/>
            <a:r>
              <a:rPr sz="950" b="1" i="0">
                <a:solidFill>
                  <a:srgbClr val="059652"/>
                </a:solidFill>
              </a:rPr>
              <a:t>Decisive Drivers (LIME/SHAP):</a:t>
            </a:r>
          </a:p>
        </p:txBody>
      </p:sp>
      <p:sp>
        <p:nvSpPr>
          <p:cNvPr id="36" name="TextBox 35"/>
          <p:cNvSpPr txBox="1"/>
          <p:nvPr/>
        </p:nvSpPr>
        <p:spPr>
          <a:xfrm>
            <a:off x="8229600" y="2304288"/>
            <a:ext cx="3493008" cy="256032"/>
          </a:xfrm>
          <a:prstGeom prst="rect">
            <a:avLst/>
          </a:prstGeom>
          <a:noFill/>
        </p:spPr>
        <p:txBody>
          <a:bodyPr wrap="square">
            <a:spAutoFit/>
          </a:bodyPr>
          <a:lstStyle/>
          <a:p>
            <a:pPr algn="l"/>
            <a:r>
              <a:rPr sz="880" b="0" i="0">
                <a:solidFill>
                  <a:srgbClr val="1F2937"/>
                </a:solidFill>
              </a:rPr>
              <a:t>• Cumulative GPA: 8.4  [-0.42 Protective Buffer]</a:t>
            </a:r>
          </a:p>
        </p:txBody>
      </p:sp>
      <p:sp>
        <p:nvSpPr>
          <p:cNvPr id="37" name="TextBox 36"/>
          <p:cNvSpPr txBox="1"/>
          <p:nvPr/>
        </p:nvSpPr>
        <p:spPr>
          <a:xfrm>
            <a:off x="8229600" y="2596896"/>
            <a:ext cx="3493008" cy="256032"/>
          </a:xfrm>
          <a:prstGeom prst="rect">
            <a:avLst/>
          </a:prstGeom>
          <a:noFill/>
        </p:spPr>
        <p:txBody>
          <a:bodyPr wrap="square">
            <a:spAutoFit/>
          </a:bodyPr>
          <a:lstStyle/>
          <a:p>
            <a:pPr algn="l"/>
            <a:r>
              <a:rPr sz="880" b="0" i="0">
                <a:solidFill>
                  <a:srgbClr val="1F2937"/>
                </a:solidFill>
              </a:rPr>
              <a:t>• Attendance Rate: 91.0%  [-0.21 Protective Buffer]</a:t>
            </a:r>
          </a:p>
        </p:txBody>
      </p:sp>
      <p:sp>
        <p:nvSpPr>
          <p:cNvPr id="38" name="TextBox 37"/>
          <p:cNvSpPr txBox="1"/>
          <p:nvPr/>
        </p:nvSpPr>
        <p:spPr>
          <a:xfrm>
            <a:off x="8229600" y="2889504"/>
            <a:ext cx="3493008" cy="256032"/>
          </a:xfrm>
          <a:prstGeom prst="rect">
            <a:avLst/>
          </a:prstGeom>
          <a:noFill/>
        </p:spPr>
        <p:txBody>
          <a:bodyPr wrap="square">
            <a:spAutoFit/>
          </a:bodyPr>
          <a:lstStyle/>
          <a:p>
            <a:pPr algn="l"/>
            <a:r>
              <a:rPr sz="880" b="0" i="0">
                <a:solidFill>
                  <a:srgbClr val="1F2937"/>
                </a:solidFill>
              </a:rPr>
              <a:t>• No Failed Courses: 0  [-0.15 Protective Buffer]</a:t>
            </a:r>
          </a:p>
        </p:txBody>
      </p:sp>
      <p:sp>
        <p:nvSpPr>
          <p:cNvPr id="39" name="TextBox 38"/>
          <p:cNvSpPr txBox="1"/>
          <p:nvPr/>
        </p:nvSpPr>
        <p:spPr>
          <a:xfrm>
            <a:off x="8202167" y="3218688"/>
            <a:ext cx="3547872" cy="228600"/>
          </a:xfrm>
          <a:prstGeom prst="rect">
            <a:avLst/>
          </a:prstGeom>
          <a:noFill/>
        </p:spPr>
        <p:txBody>
          <a:bodyPr wrap="square">
            <a:spAutoFit/>
          </a:bodyPr>
          <a:lstStyle/>
          <a:p>
            <a:pPr algn="l"/>
            <a:r>
              <a:rPr sz="950" b="1" i="0">
                <a:solidFill>
                  <a:srgbClr val="1E3A8A"/>
                </a:solidFill>
              </a:rPr>
              <a:t>Prescribed Counselor Actions:</a:t>
            </a:r>
          </a:p>
        </p:txBody>
      </p:sp>
      <p:sp>
        <p:nvSpPr>
          <p:cNvPr id="40" name="TextBox 39"/>
          <p:cNvSpPr txBox="1"/>
          <p:nvPr/>
        </p:nvSpPr>
        <p:spPr>
          <a:xfrm>
            <a:off x="8229600" y="3456432"/>
            <a:ext cx="3493008" cy="320040"/>
          </a:xfrm>
          <a:prstGeom prst="rect">
            <a:avLst/>
          </a:prstGeom>
          <a:noFill/>
        </p:spPr>
        <p:txBody>
          <a:bodyPr wrap="square">
            <a:spAutoFit/>
          </a:bodyPr>
          <a:lstStyle/>
          <a:p>
            <a:pPr algn="l"/>
            <a:r>
              <a:rPr sz="850" b="0" i="0">
                <a:solidFill>
                  <a:srgbClr val="1F2937"/>
                </a:solidFill>
              </a:rPr>
              <a:t>→ No remedial intervention required</a:t>
            </a:r>
          </a:p>
        </p:txBody>
      </p:sp>
      <p:sp>
        <p:nvSpPr>
          <p:cNvPr id="41" name="TextBox 40"/>
          <p:cNvSpPr txBox="1"/>
          <p:nvPr/>
        </p:nvSpPr>
        <p:spPr>
          <a:xfrm>
            <a:off x="8229600" y="3776472"/>
            <a:ext cx="3493008" cy="320040"/>
          </a:xfrm>
          <a:prstGeom prst="rect">
            <a:avLst/>
          </a:prstGeom>
          <a:noFill/>
        </p:spPr>
        <p:txBody>
          <a:bodyPr wrap="square">
            <a:spAutoFit/>
          </a:bodyPr>
          <a:lstStyle/>
          <a:p>
            <a:pPr algn="l"/>
            <a:r>
              <a:rPr sz="850" b="0" i="0">
                <a:solidFill>
                  <a:srgbClr val="1F2937"/>
                </a:solidFill>
              </a:rPr>
              <a:t>→ Standard academic milestone tracking</a:t>
            </a:r>
          </a:p>
        </p:txBody>
      </p:sp>
      <p:sp>
        <p:nvSpPr>
          <p:cNvPr id="42" name="TextBox 41"/>
          <p:cNvSpPr txBox="1"/>
          <p:nvPr/>
        </p:nvSpPr>
        <p:spPr>
          <a:xfrm>
            <a:off x="8229600" y="4096511"/>
            <a:ext cx="3493008" cy="320040"/>
          </a:xfrm>
          <a:prstGeom prst="rect">
            <a:avLst/>
          </a:prstGeom>
          <a:noFill/>
        </p:spPr>
        <p:txBody>
          <a:bodyPr wrap="square">
            <a:spAutoFit/>
          </a:bodyPr>
          <a:lstStyle/>
          <a:p>
            <a:pPr algn="l"/>
            <a:r>
              <a:rPr sz="850" b="0" i="0">
                <a:solidFill>
                  <a:srgbClr val="1F2937"/>
                </a:solidFill>
              </a:rPr>
              <a:t>→ Eligible for student mentorship leadership program</a:t>
            </a:r>
          </a:p>
        </p:txBody>
      </p:sp>
      <p:sp>
        <p:nvSpPr>
          <p:cNvPr id="43" name="Rectangle 42"/>
          <p:cNvSpPr/>
          <p:nvPr/>
        </p:nvSpPr>
        <p:spPr>
          <a:xfrm>
            <a:off x="320040" y="5257800"/>
            <a:ext cx="11539728" cy="1143000"/>
          </a:xfrm>
          <a:prstGeom prst="rect">
            <a:avLst/>
          </a:prstGeom>
          <a:solidFill>
            <a:srgbClr val="EEF2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5330952"/>
            <a:ext cx="11247120" cy="256032"/>
          </a:xfrm>
          <a:prstGeom prst="rect">
            <a:avLst/>
          </a:prstGeom>
          <a:noFill/>
        </p:spPr>
        <p:txBody>
          <a:bodyPr wrap="square">
            <a:spAutoFit/>
          </a:bodyPr>
          <a:lstStyle/>
          <a:p>
            <a:pPr algn="l"/>
            <a:r>
              <a:rPr sz="1100" b="1" i="0">
                <a:solidFill>
                  <a:srgbClr val="2563EB"/>
                </a:solidFill>
              </a:rPr>
              <a:t>★ KEY PRESENTATION MOMENT — Actionable Counterfactual Sensitivity Simulation</a:t>
            </a:r>
          </a:p>
        </p:txBody>
      </p:sp>
      <p:sp>
        <p:nvSpPr>
          <p:cNvPr id="45" name="TextBox 44"/>
          <p:cNvSpPr txBox="1"/>
          <p:nvPr/>
        </p:nvSpPr>
        <p:spPr>
          <a:xfrm>
            <a:off x="457200" y="5596128"/>
            <a:ext cx="11247120" cy="731520"/>
          </a:xfrm>
          <a:prstGeom prst="rect">
            <a:avLst/>
          </a:prstGeom>
          <a:noFill/>
        </p:spPr>
        <p:txBody>
          <a:bodyPr wrap="square">
            <a:spAutoFit/>
          </a:bodyPr>
          <a:lstStyle/>
          <a:p>
            <a:pPr algn="l"/>
            <a:r>
              <a:rPr sz="950" b="0" i="0">
                <a:solidFill>
                  <a:srgbClr val="1F2937"/>
                </a:solidFill>
              </a:rPr>
              <a:t>Traditional models only tell counselors 'this student is in trouble.' Our framework tells counselors EXACTLY what to fix:
• For Borderline Student #43: Increasing attendance from 68% to 85% drops model predicted risk from 65% down to 28% (SAFE ZONE).
• Gives the academic institution an exact, achievable numerical target for the remedial student contract.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66928"/>
          </a:xfrm>
          <a:prstGeom prst="rect">
            <a:avLst/>
          </a:prstGeom>
          <a:noFill/>
        </p:spPr>
        <p:txBody>
          <a:bodyPr wrap="square">
            <a:spAutoFit/>
          </a:bodyPr>
          <a:lstStyle/>
          <a:p>
            <a:pPr algn="l"/>
            <a:r>
              <a:rPr sz="2300" b="1" i="0">
                <a:solidFill>
                  <a:srgbClr val="FFFFFF"/>
                </a:solidFill>
              </a:rPr>
              <a:t>Slide 8: Phase 4 — Algorithmic Fairness Audits (100% Real Empirical Data)</a:t>
            </a:r>
          </a:p>
        </p:txBody>
      </p:sp>
      <p:sp>
        <p:nvSpPr>
          <p:cNvPr id="5" name="TextBox 4"/>
          <p:cNvSpPr txBox="1"/>
          <p:nvPr/>
        </p:nvSpPr>
        <p:spPr>
          <a:xfrm>
            <a:off x="365760" y="640080"/>
            <a:ext cx="11430000" cy="411480"/>
          </a:xfrm>
          <a:prstGeom prst="rect">
            <a:avLst/>
          </a:prstGeom>
          <a:noFill/>
        </p:spPr>
        <p:txBody>
          <a:bodyPr wrap="square">
            <a:spAutoFit/>
          </a:bodyPr>
          <a:lstStyle/>
          <a:p>
            <a:pPr algn="l"/>
            <a:r>
              <a:rPr sz="1100" b="0" i="0">
                <a:solidFill>
                  <a:srgbClr val="BFDBFF"/>
                </a:solidFill>
              </a:rPr>
              <a:t>Evaluated against US EEOC Four-Fifths (80%) Rule &amp; Intersectional compound subgroups</a:t>
            </a:r>
          </a:p>
        </p:txBody>
      </p:sp>
      <p:sp>
        <p:nvSpPr>
          <p:cNvPr id="6" name="Rectangle 5"/>
          <p:cNvSpPr/>
          <p:nvPr/>
        </p:nvSpPr>
        <p:spPr>
          <a:xfrm>
            <a:off x="0" y="6565392"/>
            <a:ext cx="12188952"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74536"/>
            <a:ext cx="9601200" cy="256032"/>
          </a:xfrm>
          <a:prstGeom prst="rect">
            <a:avLst/>
          </a:prstGeom>
          <a:noFill/>
        </p:spPr>
        <p:txBody>
          <a:bodyPr wrap="square">
            <a:spAutoFit/>
          </a:bodyPr>
          <a:lstStyle/>
          <a:p>
            <a:pPr algn="l"/>
            <a:r>
              <a:rPr sz="850" b="0" i="0">
                <a:solidFill>
                  <a:srgbClr val="FFFFFF"/>
                </a:solidFill>
              </a:rPr>
              <a:t>Student Dropout XAI &amp; Governance Framework  |  Evaluation Presentation &amp; Defense</a:t>
            </a:r>
          </a:p>
        </p:txBody>
      </p:sp>
      <p:sp>
        <p:nvSpPr>
          <p:cNvPr id="8" name="TextBox 7"/>
          <p:cNvSpPr txBox="1"/>
          <p:nvPr/>
        </p:nvSpPr>
        <p:spPr>
          <a:xfrm>
            <a:off x="10515600" y="6574536"/>
            <a:ext cx="1371600" cy="256032"/>
          </a:xfrm>
          <a:prstGeom prst="rect">
            <a:avLst/>
          </a:prstGeom>
          <a:noFill/>
        </p:spPr>
        <p:txBody>
          <a:bodyPr wrap="square">
            <a:spAutoFit/>
          </a:bodyPr>
          <a:lstStyle/>
          <a:p>
            <a:pPr algn="r"/>
            <a:r>
              <a:rPr sz="850" b="0" i="0">
                <a:solidFill>
                  <a:srgbClr val="FFFFFF"/>
                </a:solidFill>
              </a:rPr>
              <a:t>Slide 8 of 10</a:t>
            </a:r>
          </a:p>
        </p:txBody>
      </p:sp>
      <p:sp>
        <p:nvSpPr>
          <p:cNvPr id="9" name="TextBox 8"/>
          <p:cNvSpPr txBox="1"/>
          <p:nvPr/>
        </p:nvSpPr>
        <p:spPr>
          <a:xfrm>
            <a:off x="320040" y="1261872"/>
            <a:ext cx="5852160" cy="320040"/>
          </a:xfrm>
          <a:prstGeom prst="rect">
            <a:avLst/>
          </a:prstGeom>
          <a:noFill/>
        </p:spPr>
        <p:txBody>
          <a:bodyPr wrap="square">
            <a:spAutoFit/>
          </a:bodyPr>
          <a:lstStyle/>
          <a:p>
            <a:pPr algn="l"/>
            <a:r>
              <a:rPr sz="1250" b="1" i="0">
                <a:solidFill>
                  <a:srgbClr val="1E3A8A"/>
                </a:solidFill>
              </a:rPr>
              <a:t>Single-Dimension Demographic Equity Audit</a:t>
            </a:r>
          </a:p>
        </p:txBody>
      </p:sp>
      <p:sp>
        <p:nvSpPr>
          <p:cNvPr id="10" name="Rectangle 9"/>
          <p:cNvSpPr/>
          <p:nvPr/>
        </p:nvSpPr>
        <p:spPr>
          <a:xfrm>
            <a:off x="320040" y="1609344"/>
            <a:ext cx="1645920" cy="384048"/>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5" y="1645920"/>
            <a:ext cx="1572768" cy="320040"/>
          </a:xfrm>
          <a:prstGeom prst="rect">
            <a:avLst/>
          </a:prstGeom>
          <a:noFill/>
        </p:spPr>
        <p:txBody>
          <a:bodyPr wrap="square">
            <a:spAutoFit/>
          </a:bodyPr>
          <a:lstStyle/>
          <a:p>
            <a:pPr algn="l"/>
            <a:r>
              <a:rPr sz="880" b="1" i="0">
                <a:solidFill>
                  <a:srgbClr val="FFFFFF"/>
                </a:solidFill>
              </a:rPr>
              <a:t>Protected Attribute</a:t>
            </a:r>
          </a:p>
        </p:txBody>
      </p:sp>
      <p:sp>
        <p:nvSpPr>
          <p:cNvPr id="12" name="Rectangle 11"/>
          <p:cNvSpPr/>
          <p:nvPr/>
        </p:nvSpPr>
        <p:spPr>
          <a:xfrm>
            <a:off x="1965960" y="1609344"/>
            <a:ext cx="914400" cy="384048"/>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2536" y="1645920"/>
            <a:ext cx="841248" cy="320040"/>
          </a:xfrm>
          <a:prstGeom prst="rect">
            <a:avLst/>
          </a:prstGeom>
          <a:noFill/>
        </p:spPr>
        <p:txBody>
          <a:bodyPr wrap="square">
            <a:spAutoFit/>
          </a:bodyPr>
          <a:lstStyle/>
          <a:p>
            <a:pPr algn="l"/>
            <a:r>
              <a:rPr sz="880" b="1" i="0">
                <a:solidFill>
                  <a:srgbClr val="FFFFFF"/>
                </a:solidFill>
              </a:rPr>
              <a:t>Disparate Impact</a:t>
            </a:r>
          </a:p>
        </p:txBody>
      </p:sp>
      <p:sp>
        <p:nvSpPr>
          <p:cNvPr id="14" name="Rectangle 13"/>
          <p:cNvSpPr/>
          <p:nvPr/>
        </p:nvSpPr>
        <p:spPr>
          <a:xfrm>
            <a:off x="2880360" y="1609344"/>
            <a:ext cx="1280160" cy="384048"/>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1645920"/>
            <a:ext cx="1207007" cy="320040"/>
          </a:xfrm>
          <a:prstGeom prst="rect">
            <a:avLst/>
          </a:prstGeom>
          <a:noFill/>
        </p:spPr>
        <p:txBody>
          <a:bodyPr wrap="square">
            <a:spAutoFit/>
          </a:bodyPr>
          <a:lstStyle/>
          <a:p>
            <a:pPr algn="l"/>
            <a:r>
              <a:rPr sz="880" b="1" i="0">
                <a:solidFill>
                  <a:srgbClr val="FFFFFF"/>
                </a:solidFill>
              </a:rPr>
              <a:t>Four-Fifths Rule</a:t>
            </a:r>
          </a:p>
        </p:txBody>
      </p:sp>
      <p:sp>
        <p:nvSpPr>
          <p:cNvPr id="16" name="Rectangle 15"/>
          <p:cNvSpPr/>
          <p:nvPr/>
        </p:nvSpPr>
        <p:spPr>
          <a:xfrm>
            <a:off x="4160520" y="1609344"/>
            <a:ext cx="640080" cy="384048"/>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97096" y="1645920"/>
            <a:ext cx="566928" cy="320040"/>
          </a:xfrm>
          <a:prstGeom prst="rect">
            <a:avLst/>
          </a:prstGeom>
          <a:noFill/>
        </p:spPr>
        <p:txBody>
          <a:bodyPr wrap="square">
            <a:spAutoFit/>
          </a:bodyPr>
          <a:lstStyle/>
          <a:p>
            <a:pPr algn="l"/>
            <a:r>
              <a:rPr sz="880" b="1" i="0">
                <a:solidFill>
                  <a:srgbClr val="FFFFFF"/>
                </a:solidFill>
              </a:rPr>
              <a:t>Priv Rec</a:t>
            </a:r>
          </a:p>
        </p:txBody>
      </p:sp>
      <p:sp>
        <p:nvSpPr>
          <p:cNvPr id="18" name="Rectangle 17"/>
          <p:cNvSpPr/>
          <p:nvPr/>
        </p:nvSpPr>
        <p:spPr>
          <a:xfrm>
            <a:off x="4800600" y="1609344"/>
            <a:ext cx="640080" cy="384048"/>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37176" y="1645920"/>
            <a:ext cx="566928" cy="320040"/>
          </a:xfrm>
          <a:prstGeom prst="rect">
            <a:avLst/>
          </a:prstGeom>
          <a:noFill/>
        </p:spPr>
        <p:txBody>
          <a:bodyPr wrap="square">
            <a:spAutoFit/>
          </a:bodyPr>
          <a:lstStyle/>
          <a:p>
            <a:pPr algn="l"/>
            <a:r>
              <a:rPr sz="880" b="1" i="0">
                <a:solidFill>
                  <a:srgbClr val="FFFFFF"/>
                </a:solidFill>
              </a:rPr>
              <a:t>Prot Rec</a:t>
            </a:r>
          </a:p>
        </p:txBody>
      </p:sp>
      <p:sp>
        <p:nvSpPr>
          <p:cNvPr id="20" name="Rectangle 19"/>
          <p:cNvSpPr/>
          <p:nvPr/>
        </p:nvSpPr>
        <p:spPr>
          <a:xfrm>
            <a:off x="5440680" y="1609344"/>
            <a:ext cx="731520" cy="384048"/>
          </a:xfrm>
          <a:prstGeom prst="rect">
            <a:avLst/>
          </a:prstGeom>
          <a:solidFill>
            <a:srgbClr val="1E3A8A"/>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77256" y="1645920"/>
            <a:ext cx="658368" cy="320040"/>
          </a:xfrm>
          <a:prstGeom prst="rect">
            <a:avLst/>
          </a:prstGeom>
          <a:noFill/>
        </p:spPr>
        <p:txBody>
          <a:bodyPr wrap="square">
            <a:spAutoFit/>
          </a:bodyPr>
          <a:lstStyle/>
          <a:p>
            <a:pPr algn="l"/>
            <a:r>
              <a:rPr sz="880" b="1" i="0">
                <a:solidFill>
                  <a:srgbClr val="FFFFFF"/>
                </a:solidFill>
              </a:rPr>
              <a:t>Eq Opp Diff</a:t>
            </a:r>
          </a:p>
        </p:txBody>
      </p:sp>
      <p:sp>
        <p:nvSpPr>
          <p:cNvPr id="22" name="Rectangle 21"/>
          <p:cNvSpPr/>
          <p:nvPr/>
        </p:nvSpPr>
        <p:spPr>
          <a:xfrm>
            <a:off x="320040" y="2011680"/>
            <a:ext cx="164592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6615" y="2048256"/>
            <a:ext cx="1572768" cy="320040"/>
          </a:xfrm>
          <a:prstGeom prst="rect">
            <a:avLst/>
          </a:prstGeom>
          <a:noFill/>
        </p:spPr>
        <p:txBody>
          <a:bodyPr wrap="square">
            <a:spAutoFit/>
          </a:bodyPr>
          <a:lstStyle/>
          <a:p>
            <a:pPr algn="l"/>
            <a:r>
              <a:rPr sz="819" b="0" i="0">
                <a:solidFill>
                  <a:srgbClr val="1F2937"/>
                </a:solidFill>
              </a:rPr>
              <a:t>Gender (Male / Female)</a:t>
            </a:r>
          </a:p>
        </p:txBody>
      </p:sp>
      <p:sp>
        <p:nvSpPr>
          <p:cNvPr id="24" name="Rectangle 23"/>
          <p:cNvSpPr/>
          <p:nvPr/>
        </p:nvSpPr>
        <p:spPr>
          <a:xfrm>
            <a:off x="1965960" y="2011680"/>
            <a:ext cx="91440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02536" y="2048256"/>
            <a:ext cx="841248" cy="320040"/>
          </a:xfrm>
          <a:prstGeom prst="rect">
            <a:avLst/>
          </a:prstGeom>
          <a:noFill/>
        </p:spPr>
        <p:txBody>
          <a:bodyPr wrap="square">
            <a:spAutoFit/>
          </a:bodyPr>
          <a:lstStyle/>
          <a:p>
            <a:pPr algn="l"/>
            <a:r>
              <a:rPr sz="819" b="0" i="0">
                <a:solidFill>
                  <a:srgbClr val="1F2937"/>
                </a:solidFill>
              </a:rPr>
              <a:t>0.707</a:t>
            </a:r>
          </a:p>
        </p:txBody>
      </p:sp>
      <p:sp>
        <p:nvSpPr>
          <p:cNvPr id="26" name="Rectangle 25"/>
          <p:cNvSpPr/>
          <p:nvPr/>
        </p:nvSpPr>
        <p:spPr>
          <a:xfrm>
            <a:off x="2880360" y="2011680"/>
            <a:ext cx="128016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16936" y="2048256"/>
            <a:ext cx="1207007" cy="320040"/>
          </a:xfrm>
          <a:prstGeom prst="rect">
            <a:avLst/>
          </a:prstGeom>
          <a:noFill/>
        </p:spPr>
        <p:txBody>
          <a:bodyPr wrap="square">
            <a:spAutoFit/>
          </a:bodyPr>
          <a:lstStyle/>
          <a:p>
            <a:pPr algn="l"/>
            <a:r>
              <a:rPr sz="819" b="0" i="0">
                <a:solidFill>
                  <a:srgbClr val="D97706"/>
                </a:solidFill>
              </a:rPr>
              <a:t>Under-Flagged</a:t>
            </a:r>
          </a:p>
        </p:txBody>
      </p:sp>
      <p:sp>
        <p:nvSpPr>
          <p:cNvPr id="28" name="Rectangle 27"/>
          <p:cNvSpPr/>
          <p:nvPr/>
        </p:nvSpPr>
        <p:spPr>
          <a:xfrm>
            <a:off x="4160520" y="2011680"/>
            <a:ext cx="64008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97096" y="2048256"/>
            <a:ext cx="566928" cy="320040"/>
          </a:xfrm>
          <a:prstGeom prst="rect">
            <a:avLst/>
          </a:prstGeom>
          <a:noFill/>
        </p:spPr>
        <p:txBody>
          <a:bodyPr wrap="square">
            <a:spAutoFit/>
          </a:bodyPr>
          <a:lstStyle/>
          <a:p>
            <a:pPr algn="l"/>
            <a:r>
              <a:rPr sz="819" b="0" i="0">
                <a:solidFill>
                  <a:srgbClr val="1F2937"/>
                </a:solidFill>
              </a:rPr>
              <a:t>85.5%</a:t>
            </a:r>
          </a:p>
        </p:txBody>
      </p:sp>
      <p:sp>
        <p:nvSpPr>
          <p:cNvPr id="30" name="Rectangle 29"/>
          <p:cNvSpPr/>
          <p:nvPr/>
        </p:nvSpPr>
        <p:spPr>
          <a:xfrm>
            <a:off x="4800600" y="2011680"/>
            <a:ext cx="64008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37176" y="2048256"/>
            <a:ext cx="566928" cy="320040"/>
          </a:xfrm>
          <a:prstGeom prst="rect">
            <a:avLst/>
          </a:prstGeom>
          <a:noFill/>
        </p:spPr>
        <p:txBody>
          <a:bodyPr wrap="square">
            <a:spAutoFit/>
          </a:bodyPr>
          <a:lstStyle/>
          <a:p>
            <a:pPr algn="l"/>
            <a:r>
              <a:rPr sz="819" b="0" i="0">
                <a:solidFill>
                  <a:srgbClr val="1F2937"/>
                </a:solidFill>
              </a:rPr>
              <a:t>81.7%</a:t>
            </a:r>
          </a:p>
        </p:txBody>
      </p:sp>
      <p:sp>
        <p:nvSpPr>
          <p:cNvPr id="32" name="Rectangle 31"/>
          <p:cNvSpPr/>
          <p:nvPr/>
        </p:nvSpPr>
        <p:spPr>
          <a:xfrm>
            <a:off x="5440680" y="2011680"/>
            <a:ext cx="73152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77256" y="2048256"/>
            <a:ext cx="658368" cy="320040"/>
          </a:xfrm>
          <a:prstGeom prst="rect">
            <a:avLst/>
          </a:prstGeom>
          <a:noFill/>
        </p:spPr>
        <p:txBody>
          <a:bodyPr wrap="square">
            <a:spAutoFit/>
          </a:bodyPr>
          <a:lstStyle/>
          <a:p>
            <a:pPr algn="l"/>
            <a:r>
              <a:rPr sz="819" b="0" i="0">
                <a:solidFill>
                  <a:srgbClr val="1F2937"/>
                </a:solidFill>
              </a:rPr>
              <a:t>-0.038</a:t>
            </a:r>
          </a:p>
        </p:txBody>
      </p:sp>
      <p:sp>
        <p:nvSpPr>
          <p:cNvPr id="34" name="Rectangle 33"/>
          <p:cNvSpPr/>
          <p:nvPr/>
        </p:nvSpPr>
        <p:spPr>
          <a:xfrm>
            <a:off x="320040" y="2414016"/>
            <a:ext cx="1645920" cy="384048"/>
          </a:xfrm>
          <a:prstGeom prst="rect">
            <a:avLst/>
          </a:prstGeom>
          <a:solidFill>
            <a:srgbClr val="D1FAE5"/>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6615" y="2450592"/>
            <a:ext cx="1572768" cy="320040"/>
          </a:xfrm>
          <a:prstGeom prst="rect">
            <a:avLst/>
          </a:prstGeom>
          <a:noFill/>
        </p:spPr>
        <p:txBody>
          <a:bodyPr wrap="square">
            <a:spAutoFit/>
          </a:bodyPr>
          <a:lstStyle/>
          <a:p>
            <a:pPr algn="l"/>
            <a:r>
              <a:rPr sz="819" b="0" i="0">
                <a:solidFill>
                  <a:srgbClr val="1F2937"/>
                </a:solidFill>
              </a:rPr>
              <a:t>Race (White / Minority)</a:t>
            </a:r>
          </a:p>
        </p:txBody>
      </p:sp>
      <p:sp>
        <p:nvSpPr>
          <p:cNvPr id="36" name="Rectangle 35"/>
          <p:cNvSpPr/>
          <p:nvPr/>
        </p:nvSpPr>
        <p:spPr>
          <a:xfrm>
            <a:off x="1965960" y="2414016"/>
            <a:ext cx="914400" cy="384048"/>
          </a:xfrm>
          <a:prstGeom prst="rect">
            <a:avLst/>
          </a:prstGeom>
          <a:solidFill>
            <a:srgbClr val="D1FAE5"/>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02536" y="2450592"/>
            <a:ext cx="841248" cy="320040"/>
          </a:xfrm>
          <a:prstGeom prst="rect">
            <a:avLst/>
          </a:prstGeom>
          <a:noFill/>
        </p:spPr>
        <p:txBody>
          <a:bodyPr wrap="square">
            <a:spAutoFit/>
          </a:bodyPr>
          <a:lstStyle/>
          <a:p>
            <a:pPr algn="l"/>
            <a:r>
              <a:rPr sz="819" b="0" i="0">
                <a:solidFill>
                  <a:srgbClr val="1F2937"/>
                </a:solidFill>
              </a:rPr>
              <a:t>1.180</a:t>
            </a:r>
          </a:p>
        </p:txBody>
      </p:sp>
      <p:sp>
        <p:nvSpPr>
          <p:cNvPr id="38" name="Rectangle 37"/>
          <p:cNvSpPr/>
          <p:nvPr/>
        </p:nvSpPr>
        <p:spPr>
          <a:xfrm>
            <a:off x="2880360" y="2414016"/>
            <a:ext cx="1280160" cy="384048"/>
          </a:xfrm>
          <a:prstGeom prst="rect">
            <a:avLst/>
          </a:prstGeom>
          <a:solidFill>
            <a:srgbClr val="D1FAE5"/>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16936" y="2450592"/>
            <a:ext cx="1207007" cy="320040"/>
          </a:xfrm>
          <a:prstGeom prst="rect">
            <a:avLst/>
          </a:prstGeom>
          <a:noFill/>
        </p:spPr>
        <p:txBody>
          <a:bodyPr wrap="square">
            <a:spAutoFit/>
          </a:bodyPr>
          <a:lstStyle/>
          <a:p>
            <a:pPr algn="l"/>
            <a:r>
              <a:rPr sz="819" b="1" i="0">
                <a:solidFill>
                  <a:srgbClr val="059652"/>
                </a:solidFill>
              </a:rPr>
              <a:t>✓ PASSED (Fair)</a:t>
            </a:r>
          </a:p>
        </p:txBody>
      </p:sp>
      <p:sp>
        <p:nvSpPr>
          <p:cNvPr id="40" name="Rectangle 39"/>
          <p:cNvSpPr/>
          <p:nvPr/>
        </p:nvSpPr>
        <p:spPr>
          <a:xfrm>
            <a:off x="4160520" y="2414016"/>
            <a:ext cx="640080" cy="384048"/>
          </a:xfrm>
          <a:prstGeom prst="rect">
            <a:avLst/>
          </a:prstGeom>
          <a:solidFill>
            <a:srgbClr val="D1FAE5"/>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97096" y="2450592"/>
            <a:ext cx="566928" cy="320040"/>
          </a:xfrm>
          <a:prstGeom prst="rect">
            <a:avLst/>
          </a:prstGeom>
          <a:noFill/>
        </p:spPr>
        <p:txBody>
          <a:bodyPr wrap="square">
            <a:spAutoFit/>
          </a:bodyPr>
          <a:lstStyle/>
          <a:p>
            <a:pPr algn="l"/>
            <a:r>
              <a:rPr sz="819" b="0" i="0">
                <a:solidFill>
                  <a:srgbClr val="1F2937"/>
                </a:solidFill>
              </a:rPr>
              <a:t>82.5%</a:t>
            </a:r>
          </a:p>
        </p:txBody>
      </p:sp>
      <p:sp>
        <p:nvSpPr>
          <p:cNvPr id="42" name="Rectangle 41"/>
          <p:cNvSpPr/>
          <p:nvPr/>
        </p:nvSpPr>
        <p:spPr>
          <a:xfrm>
            <a:off x="4800600" y="2414016"/>
            <a:ext cx="640080" cy="384048"/>
          </a:xfrm>
          <a:prstGeom prst="rect">
            <a:avLst/>
          </a:prstGeom>
          <a:solidFill>
            <a:srgbClr val="D1FAE5"/>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37176" y="2450592"/>
            <a:ext cx="566928" cy="320040"/>
          </a:xfrm>
          <a:prstGeom prst="rect">
            <a:avLst/>
          </a:prstGeom>
          <a:noFill/>
        </p:spPr>
        <p:txBody>
          <a:bodyPr wrap="square">
            <a:spAutoFit/>
          </a:bodyPr>
          <a:lstStyle/>
          <a:p>
            <a:pPr algn="l"/>
            <a:r>
              <a:rPr sz="819" b="0" i="0">
                <a:solidFill>
                  <a:srgbClr val="1F2937"/>
                </a:solidFill>
              </a:rPr>
              <a:t>86.4%</a:t>
            </a:r>
          </a:p>
        </p:txBody>
      </p:sp>
      <p:sp>
        <p:nvSpPr>
          <p:cNvPr id="44" name="Rectangle 43"/>
          <p:cNvSpPr/>
          <p:nvPr/>
        </p:nvSpPr>
        <p:spPr>
          <a:xfrm>
            <a:off x="5440680" y="2414016"/>
            <a:ext cx="731520" cy="384048"/>
          </a:xfrm>
          <a:prstGeom prst="rect">
            <a:avLst/>
          </a:prstGeom>
          <a:solidFill>
            <a:srgbClr val="D1FAE5"/>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77256" y="2450592"/>
            <a:ext cx="658368" cy="320040"/>
          </a:xfrm>
          <a:prstGeom prst="rect">
            <a:avLst/>
          </a:prstGeom>
          <a:noFill/>
        </p:spPr>
        <p:txBody>
          <a:bodyPr wrap="square">
            <a:spAutoFit/>
          </a:bodyPr>
          <a:lstStyle/>
          <a:p>
            <a:pPr algn="l"/>
            <a:r>
              <a:rPr sz="819" b="0" i="0">
                <a:solidFill>
                  <a:srgbClr val="1F2937"/>
                </a:solidFill>
              </a:rPr>
              <a:t>+0.039</a:t>
            </a:r>
          </a:p>
        </p:txBody>
      </p:sp>
      <p:sp>
        <p:nvSpPr>
          <p:cNvPr id="46" name="Rectangle 45"/>
          <p:cNvSpPr/>
          <p:nvPr/>
        </p:nvSpPr>
        <p:spPr>
          <a:xfrm>
            <a:off x="320040" y="2816352"/>
            <a:ext cx="164592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56615" y="2852928"/>
            <a:ext cx="1572768" cy="320040"/>
          </a:xfrm>
          <a:prstGeom prst="rect">
            <a:avLst/>
          </a:prstGeom>
          <a:noFill/>
        </p:spPr>
        <p:txBody>
          <a:bodyPr wrap="square">
            <a:spAutoFit/>
          </a:bodyPr>
          <a:lstStyle/>
          <a:p>
            <a:pPr algn="l"/>
            <a:r>
              <a:rPr sz="819" b="0" i="0">
                <a:solidFill>
                  <a:srgbClr val="1F2937"/>
                </a:solidFill>
              </a:rPr>
              <a:t>Household Income</a:t>
            </a:r>
          </a:p>
        </p:txBody>
      </p:sp>
      <p:sp>
        <p:nvSpPr>
          <p:cNvPr id="48" name="Rectangle 47"/>
          <p:cNvSpPr/>
          <p:nvPr/>
        </p:nvSpPr>
        <p:spPr>
          <a:xfrm>
            <a:off x="1965960" y="2816352"/>
            <a:ext cx="91440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002536" y="2852928"/>
            <a:ext cx="841248" cy="320040"/>
          </a:xfrm>
          <a:prstGeom prst="rect">
            <a:avLst/>
          </a:prstGeom>
          <a:noFill/>
        </p:spPr>
        <p:txBody>
          <a:bodyPr wrap="square">
            <a:spAutoFit/>
          </a:bodyPr>
          <a:lstStyle/>
          <a:p>
            <a:pPr algn="l"/>
            <a:r>
              <a:rPr sz="819" b="0" i="0">
                <a:solidFill>
                  <a:srgbClr val="1F2937"/>
                </a:solidFill>
              </a:rPr>
              <a:t>1.411</a:t>
            </a:r>
          </a:p>
        </p:txBody>
      </p:sp>
      <p:sp>
        <p:nvSpPr>
          <p:cNvPr id="50" name="Rectangle 49"/>
          <p:cNvSpPr/>
          <p:nvPr/>
        </p:nvSpPr>
        <p:spPr>
          <a:xfrm>
            <a:off x="2880360" y="2816352"/>
            <a:ext cx="128016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16936" y="2852928"/>
            <a:ext cx="1207007" cy="320040"/>
          </a:xfrm>
          <a:prstGeom prst="rect">
            <a:avLst/>
          </a:prstGeom>
          <a:noFill/>
        </p:spPr>
        <p:txBody>
          <a:bodyPr wrap="square">
            <a:spAutoFit/>
          </a:bodyPr>
          <a:lstStyle/>
          <a:p>
            <a:pPr algn="l"/>
            <a:r>
              <a:rPr sz="819" b="0" i="0">
                <a:solidFill>
                  <a:srgbClr val="D97706"/>
                </a:solidFill>
              </a:rPr>
              <a:t>Over-Flagged</a:t>
            </a:r>
          </a:p>
        </p:txBody>
      </p:sp>
      <p:sp>
        <p:nvSpPr>
          <p:cNvPr id="52" name="Rectangle 51"/>
          <p:cNvSpPr/>
          <p:nvPr/>
        </p:nvSpPr>
        <p:spPr>
          <a:xfrm>
            <a:off x="4160520" y="2816352"/>
            <a:ext cx="64008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197096" y="2852928"/>
            <a:ext cx="566928" cy="320040"/>
          </a:xfrm>
          <a:prstGeom prst="rect">
            <a:avLst/>
          </a:prstGeom>
          <a:noFill/>
        </p:spPr>
        <p:txBody>
          <a:bodyPr wrap="square">
            <a:spAutoFit/>
          </a:bodyPr>
          <a:lstStyle/>
          <a:p>
            <a:pPr algn="l"/>
            <a:r>
              <a:rPr sz="819" b="0" i="0">
                <a:solidFill>
                  <a:srgbClr val="1F2937"/>
                </a:solidFill>
              </a:rPr>
              <a:t>82.5%</a:t>
            </a:r>
          </a:p>
        </p:txBody>
      </p:sp>
      <p:sp>
        <p:nvSpPr>
          <p:cNvPr id="54" name="Rectangle 53"/>
          <p:cNvSpPr/>
          <p:nvPr/>
        </p:nvSpPr>
        <p:spPr>
          <a:xfrm>
            <a:off x="4800600" y="2816352"/>
            <a:ext cx="64008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837176" y="2852928"/>
            <a:ext cx="566928" cy="320040"/>
          </a:xfrm>
          <a:prstGeom prst="rect">
            <a:avLst/>
          </a:prstGeom>
          <a:noFill/>
        </p:spPr>
        <p:txBody>
          <a:bodyPr wrap="square">
            <a:spAutoFit/>
          </a:bodyPr>
          <a:lstStyle/>
          <a:p>
            <a:pPr algn="l"/>
            <a:r>
              <a:rPr sz="819" b="0" i="0">
                <a:solidFill>
                  <a:srgbClr val="1F2937"/>
                </a:solidFill>
              </a:rPr>
              <a:t>86.4%</a:t>
            </a:r>
          </a:p>
        </p:txBody>
      </p:sp>
      <p:sp>
        <p:nvSpPr>
          <p:cNvPr id="56" name="Rectangle 55"/>
          <p:cNvSpPr/>
          <p:nvPr/>
        </p:nvSpPr>
        <p:spPr>
          <a:xfrm>
            <a:off x="5440680" y="2816352"/>
            <a:ext cx="73152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77256" y="2852928"/>
            <a:ext cx="658368" cy="320040"/>
          </a:xfrm>
          <a:prstGeom prst="rect">
            <a:avLst/>
          </a:prstGeom>
          <a:noFill/>
        </p:spPr>
        <p:txBody>
          <a:bodyPr wrap="square">
            <a:spAutoFit/>
          </a:bodyPr>
          <a:lstStyle/>
          <a:p>
            <a:pPr algn="l"/>
            <a:r>
              <a:rPr sz="819" b="0" i="0">
                <a:solidFill>
                  <a:srgbClr val="1F2937"/>
                </a:solidFill>
              </a:rPr>
              <a:t>+0.039</a:t>
            </a:r>
          </a:p>
        </p:txBody>
      </p:sp>
      <p:sp>
        <p:nvSpPr>
          <p:cNvPr id="58" name="Rectangle 57"/>
          <p:cNvSpPr/>
          <p:nvPr/>
        </p:nvSpPr>
        <p:spPr>
          <a:xfrm>
            <a:off x="320040" y="3218688"/>
            <a:ext cx="1645920" cy="384048"/>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56615" y="3255264"/>
            <a:ext cx="1572768" cy="320040"/>
          </a:xfrm>
          <a:prstGeom prst="rect">
            <a:avLst/>
          </a:prstGeom>
          <a:noFill/>
        </p:spPr>
        <p:txBody>
          <a:bodyPr wrap="square">
            <a:spAutoFit/>
          </a:bodyPr>
          <a:lstStyle/>
          <a:p>
            <a:pPr algn="l"/>
            <a:r>
              <a:rPr sz="819" b="0" i="0">
                <a:solidFill>
                  <a:srgbClr val="1F2937"/>
                </a:solidFill>
              </a:rPr>
              <a:t>Age Cohort (Adult / Youth)</a:t>
            </a:r>
          </a:p>
        </p:txBody>
      </p:sp>
      <p:sp>
        <p:nvSpPr>
          <p:cNvPr id="60" name="Rectangle 59"/>
          <p:cNvSpPr/>
          <p:nvPr/>
        </p:nvSpPr>
        <p:spPr>
          <a:xfrm>
            <a:off x="1965960" y="3218688"/>
            <a:ext cx="914400" cy="384048"/>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3255264"/>
            <a:ext cx="841248" cy="320040"/>
          </a:xfrm>
          <a:prstGeom prst="rect">
            <a:avLst/>
          </a:prstGeom>
          <a:noFill/>
        </p:spPr>
        <p:txBody>
          <a:bodyPr wrap="square">
            <a:spAutoFit/>
          </a:bodyPr>
          <a:lstStyle/>
          <a:p>
            <a:pPr algn="l"/>
            <a:r>
              <a:rPr sz="819" b="0" i="0">
                <a:solidFill>
                  <a:srgbClr val="1F2937"/>
                </a:solidFill>
              </a:rPr>
              <a:t>1.590</a:t>
            </a:r>
          </a:p>
        </p:txBody>
      </p:sp>
      <p:sp>
        <p:nvSpPr>
          <p:cNvPr id="62" name="Rectangle 61"/>
          <p:cNvSpPr/>
          <p:nvPr/>
        </p:nvSpPr>
        <p:spPr>
          <a:xfrm>
            <a:off x="2880360" y="3218688"/>
            <a:ext cx="1280160" cy="384048"/>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916936" y="3255264"/>
            <a:ext cx="1207007" cy="320040"/>
          </a:xfrm>
          <a:prstGeom prst="rect">
            <a:avLst/>
          </a:prstGeom>
          <a:noFill/>
        </p:spPr>
        <p:txBody>
          <a:bodyPr wrap="square">
            <a:spAutoFit/>
          </a:bodyPr>
          <a:lstStyle/>
          <a:p>
            <a:pPr algn="l"/>
            <a:r>
              <a:rPr sz="819" b="0" i="0">
                <a:solidFill>
                  <a:srgbClr val="D97706"/>
                </a:solidFill>
              </a:rPr>
              <a:t>Over-Flagged</a:t>
            </a:r>
          </a:p>
        </p:txBody>
      </p:sp>
      <p:sp>
        <p:nvSpPr>
          <p:cNvPr id="64" name="Rectangle 63"/>
          <p:cNvSpPr/>
          <p:nvPr/>
        </p:nvSpPr>
        <p:spPr>
          <a:xfrm>
            <a:off x="4160520" y="3218688"/>
            <a:ext cx="640080" cy="384048"/>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197096" y="3255264"/>
            <a:ext cx="566928" cy="320040"/>
          </a:xfrm>
          <a:prstGeom prst="rect">
            <a:avLst/>
          </a:prstGeom>
          <a:noFill/>
        </p:spPr>
        <p:txBody>
          <a:bodyPr wrap="square">
            <a:spAutoFit/>
          </a:bodyPr>
          <a:lstStyle/>
          <a:p>
            <a:pPr algn="l"/>
            <a:r>
              <a:rPr sz="819" b="0" i="0">
                <a:solidFill>
                  <a:srgbClr val="1F2937"/>
                </a:solidFill>
              </a:rPr>
              <a:t>82.1%</a:t>
            </a:r>
          </a:p>
        </p:txBody>
      </p:sp>
      <p:sp>
        <p:nvSpPr>
          <p:cNvPr id="66" name="Rectangle 65"/>
          <p:cNvSpPr/>
          <p:nvPr/>
        </p:nvSpPr>
        <p:spPr>
          <a:xfrm>
            <a:off x="4800600" y="3218688"/>
            <a:ext cx="640080" cy="384048"/>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837176" y="3255264"/>
            <a:ext cx="566928" cy="320040"/>
          </a:xfrm>
          <a:prstGeom prst="rect">
            <a:avLst/>
          </a:prstGeom>
          <a:noFill/>
        </p:spPr>
        <p:txBody>
          <a:bodyPr wrap="square">
            <a:spAutoFit/>
          </a:bodyPr>
          <a:lstStyle/>
          <a:p>
            <a:pPr algn="l"/>
            <a:r>
              <a:rPr sz="819" b="0" i="0">
                <a:solidFill>
                  <a:srgbClr val="1F2937"/>
                </a:solidFill>
              </a:rPr>
              <a:t>86.4%</a:t>
            </a:r>
          </a:p>
        </p:txBody>
      </p:sp>
      <p:sp>
        <p:nvSpPr>
          <p:cNvPr id="68" name="Rectangle 67"/>
          <p:cNvSpPr/>
          <p:nvPr/>
        </p:nvSpPr>
        <p:spPr>
          <a:xfrm>
            <a:off x="5440680" y="3218688"/>
            <a:ext cx="731520" cy="384048"/>
          </a:xfrm>
          <a:prstGeom prst="rect">
            <a:avLst/>
          </a:prstGeom>
          <a:solidFill>
            <a:srgbClr val="F1F5F9"/>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477256" y="3255264"/>
            <a:ext cx="658368" cy="320040"/>
          </a:xfrm>
          <a:prstGeom prst="rect">
            <a:avLst/>
          </a:prstGeom>
          <a:noFill/>
        </p:spPr>
        <p:txBody>
          <a:bodyPr wrap="square">
            <a:spAutoFit/>
          </a:bodyPr>
          <a:lstStyle/>
          <a:p>
            <a:pPr algn="l"/>
            <a:r>
              <a:rPr sz="819" b="0" i="0">
                <a:solidFill>
                  <a:srgbClr val="1F2937"/>
                </a:solidFill>
              </a:rPr>
              <a:t>+0.043</a:t>
            </a:r>
          </a:p>
        </p:txBody>
      </p:sp>
      <p:sp>
        <p:nvSpPr>
          <p:cNvPr id="70" name="Rectangle 69"/>
          <p:cNvSpPr/>
          <p:nvPr/>
        </p:nvSpPr>
        <p:spPr>
          <a:xfrm>
            <a:off x="320040" y="3621024"/>
            <a:ext cx="164592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56615" y="3657600"/>
            <a:ext cx="1572768" cy="320040"/>
          </a:xfrm>
          <a:prstGeom prst="rect">
            <a:avLst/>
          </a:prstGeom>
          <a:noFill/>
        </p:spPr>
        <p:txBody>
          <a:bodyPr wrap="square">
            <a:spAutoFit/>
          </a:bodyPr>
          <a:lstStyle/>
          <a:p>
            <a:pPr algn="l"/>
            <a:r>
              <a:rPr sz="819" b="0" i="0">
                <a:solidFill>
                  <a:srgbClr val="1F2937"/>
                </a:solidFill>
              </a:rPr>
              <a:t>Digital Access (Laptop)</a:t>
            </a:r>
          </a:p>
        </p:txBody>
      </p:sp>
      <p:sp>
        <p:nvSpPr>
          <p:cNvPr id="72" name="Rectangle 71"/>
          <p:cNvSpPr/>
          <p:nvPr/>
        </p:nvSpPr>
        <p:spPr>
          <a:xfrm>
            <a:off x="1965960" y="3621024"/>
            <a:ext cx="91440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002536" y="3657600"/>
            <a:ext cx="841248" cy="320040"/>
          </a:xfrm>
          <a:prstGeom prst="rect">
            <a:avLst/>
          </a:prstGeom>
          <a:noFill/>
        </p:spPr>
        <p:txBody>
          <a:bodyPr wrap="square">
            <a:spAutoFit/>
          </a:bodyPr>
          <a:lstStyle/>
          <a:p>
            <a:pPr algn="l"/>
            <a:r>
              <a:rPr sz="819" b="0" i="0">
                <a:solidFill>
                  <a:srgbClr val="1F2937"/>
                </a:solidFill>
              </a:rPr>
              <a:t>1.403</a:t>
            </a:r>
          </a:p>
        </p:txBody>
      </p:sp>
      <p:sp>
        <p:nvSpPr>
          <p:cNvPr id="74" name="Rectangle 73"/>
          <p:cNvSpPr/>
          <p:nvPr/>
        </p:nvSpPr>
        <p:spPr>
          <a:xfrm>
            <a:off x="2880360" y="3621024"/>
            <a:ext cx="128016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916936" y="3657600"/>
            <a:ext cx="1207007" cy="320040"/>
          </a:xfrm>
          <a:prstGeom prst="rect">
            <a:avLst/>
          </a:prstGeom>
          <a:noFill/>
        </p:spPr>
        <p:txBody>
          <a:bodyPr wrap="square">
            <a:spAutoFit/>
          </a:bodyPr>
          <a:lstStyle/>
          <a:p>
            <a:pPr algn="l"/>
            <a:r>
              <a:rPr sz="819" b="0" i="0">
                <a:solidFill>
                  <a:srgbClr val="D97706"/>
                </a:solidFill>
              </a:rPr>
              <a:t>Over-Flagged</a:t>
            </a:r>
          </a:p>
        </p:txBody>
      </p:sp>
      <p:sp>
        <p:nvSpPr>
          <p:cNvPr id="76" name="Rectangle 75"/>
          <p:cNvSpPr/>
          <p:nvPr/>
        </p:nvSpPr>
        <p:spPr>
          <a:xfrm>
            <a:off x="4160520" y="3621024"/>
            <a:ext cx="64008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197096" y="3657600"/>
            <a:ext cx="566928" cy="320040"/>
          </a:xfrm>
          <a:prstGeom prst="rect">
            <a:avLst/>
          </a:prstGeom>
          <a:noFill/>
        </p:spPr>
        <p:txBody>
          <a:bodyPr wrap="square">
            <a:spAutoFit/>
          </a:bodyPr>
          <a:lstStyle/>
          <a:p>
            <a:pPr algn="l"/>
            <a:r>
              <a:rPr sz="819" b="0" i="0">
                <a:solidFill>
                  <a:srgbClr val="1F2937"/>
                </a:solidFill>
              </a:rPr>
              <a:t>77.8%</a:t>
            </a:r>
          </a:p>
        </p:txBody>
      </p:sp>
      <p:sp>
        <p:nvSpPr>
          <p:cNvPr id="78" name="Rectangle 77"/>
          <p:cNvSpPr/>
          <p:nvPr/>
        </p:nvSpPr>
        <p:spPr>
          <a:xfrm>
            <a:off x="4800600" y="3621024"/>
            <a:ext cx="64008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837176" y="3657600"/>
            <a:ext cx="566928" cy="320040"/>
          </a:xfrm>
          <a:prstGeom prst="rect">
            <a:avLst/>
          </a:prstGeom>
          <a:noFill/>
        </p:spPr>
        <p:txBody>
          <a:bodyPr wrap="square">
            <a:spAutoFit/>
          </a:bodyPr>
          <a:lstStyle/>
          <a:p>
            <a:pPr algn="l"/>
            <a:r>
              <a:rPr sz="819" b="0" i="0">
                <a:solidFill>
                  <a:srgbClr val="1F2937"/>
                </a:solidFill>
              </a:rPr>
              <a:t>87.0%</a:t>
            </a:r>
          </a:p>
        </p:txBody>
      </p:sp>
      <p:sp>
        <p:nvSpPr>
          <p:cNvPr id="80" name="Rectangle 79"/>
          <p:cNvSpPr/>
          <p:nvPr/>
        </p:nvSpPr>
        <p:spPr>
          <a:xfrm>
            <a:off x="5440680" y="3621024"/>
            <a:ext cx="731520" cy="384048"/>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477256" y="3657600"/>
            <a:ext cx="658368" cy="320040"/>
          </a:xfrm>
          <a:prstGeom prst="rect">
            <a:avLst/>
          </a:prstGeom>
          <a:noFill/>
        </p:spPr>
        <p:txBody>
          <a:bodyPr wrap="square">
            <a:spAutoFit/>
          </a:bodyPr>
          <a:lstStyle/>
          <a:p>
            <a:pPr algn="l"/>
            <a:r>
              <a:rPr sz="819" b="0" i="0">
                <a:solidFill>
                  <a:srgbClr val="1F2937"/>
                </a:solidFill>
              </a:rPr>
              <a:t>+0.092</a:t>
            </a:r>
          </a:p>
        </p:txBody>
      </p:sp>
      <p:sp>
        <p:nvSpPr>
          <p:cNvPr id="82" name="TextBox 81"/>
          <p:cNvSpPr txBox="1"/>
          <p:nvPr/>
        </p:nvSpPr>
        <p:spPr>
          <a:xfrm>
            <a:off x="320040" y="4069080"/>
            <a:ext cx="5852160" cy="292608"/>
          </a:xfrm>
          <a:prstGeom prst="rect">
            <a:avLst/>
          </a:prstGeom>
          <a:noFill/>
        </p:spPr>
        <p:txBody>
          <a:bodyPr wrap="square">
            <a:spAutoFit/>
          </a:bodyPr>
          <a:lstStyle/>
          <a:p>
            <a:pPr algn="l"/>
            <a:r>
              <a:rPr sz="1150" b="1" i="0">
                <a:solidFill>
                  <a:srgbClr val="1E3A8A"/>
                </a:solidFill>
              </a:rPr>
              <a:t>Intersectional Matrix Key Finding (100% Real Students)</a:t>
            </a:r>
          </a:p>
        </p:txBody>
      </p:sp>
      <p:sp>
        <p:nvSpPr>
          <p:cNvPr id="83" name="TextBox 82"/>
          <p:cNvSpPr txBox="1"/>
          <p:nvPr/>
        </p:nvSpPr>
        <p:spPr>
          <a:xfrm>
            <a:off x="320040" y="4407408"/>
            <a:ext cx="5852160" cy="521208"/>
          </a:xfrm>
          <a:prstGeom prst="rect">
            <a:avLst/>
          </a:prstGeom>
          <a:noFill/>
        </p:spPr>
        <p:txBody>
          <a:bodyPr wrap="square">
            <a:spAutoFit/>
          </a:bodyPr>
          <a:lstStyle/>
          <a:p>
            <a:pPr algn="l"/>
            <a:r>
              <a:rPr sz="950" b="0" i="0">
                <a:solidFill>
                  <a:srgbClr val="1F2937"/>
                </a:solidFill>
              </a:rPr>
              <a:t>  • Evaluated across all 8 compound demographic slices (Gender × Race × Income)</a:t>
            </a:r>
          </a:p>
        </p:txBody>
      </p:sp>
      <p:sp>
        <p:nvSpPr>
          <p:cNvPr id="84" name="TextBox 83"/>
          <p:cNvSpPr txBox="1"/>
          <p:nvPr/>
        </p:nvSpPr>
        <p:spPr>
          <a:xfrm>
            <a:off x="320040" y="4882896"/>
            <a:ext cx="5852160" cy="521208"/>
          </a:xfrm>
          <a:prstGeom prst="rect">
            <a:avLst/>
          </a:prstGeom>
          <a:noFill/>
        </p:spPr>
        <p:txBody>
          <a:bodyPr wrap="square">
            <a:spAutoFit/>
          </a:bodyPr>
          <a:lstStyle/>
          <a:p>
            <a:pPr algn="l"/>
            <a:r>
              <a:rPr sz="950" b="0" i="0">
                <a:solidFill>
                  <a:srgbClr val="1F2937"/>
                </a:solidFill>
              </a:rPr>
              <a:t>  • Female | Minority | Low-Income (753 real students): Actual Dropout = 23.0%, Model Flagged = 23.5%, Recall = 85.5%, Precision = 83.6%</a:t>
            </a:r>
          </a:p>
        </p:txBody>
      </p:sp>
      <p:sp>
        <p:nvSpPr>
          <p:cNvPr id="85" name="TextBox 84"/>
          <p:cNvSpPr txBox="1"/>
          <p:nvPr/>
        </p:nvSpPr>
        <p:spPr>
          <a:xfrm>
            <a:off x="320040" y="5358384"/>
            <a:ext cx="5852160" cy="521208"/>
          </a:xfrm>
          <a:prstGeom prst="rect">
            <a:avLst/>
          </a:prstGeom>
          <a:noFill/>
        </p:spPr>
        <p:txBody>
          <a:bodyPr wrap="square">
            <a:spAutoFit/>
          </a:bodyPr>
          <a:lstStyle/>
          <a:p>
            <a:pPr algn="l"/>
            <a:r>
              <a:rPr sz="950" b="0" i="0">
                <a:solidFill>
                  <a:srgbClr val="1F2937"/>
                </a:solidFill>
              </a:rPr>
              <a:t>  • Over-flagging in Income/Age reflects higher real-world baseline vulnerability, not bias</a:t>
            </a:r>
          </a:p>
        </p:txBody>
      </p:sp>
      <p:sp>
        <p:nvSpPr>
          <p:cNvPr id="86" name="TextBox 85"/>
          <p:cNvSpPr txBox="1"/>
          <p:nvPr/>
        </p:nvSpPr>
        <p:spPr>
          <a:xfrm>
            <a:off x="320040" y="5833872"/>
            <a:ext cx="5852160" cy="521208"/>
          </a:xfrm>
          <a:prstGeom prst="rect">
            <a:avLst/>
          </a:prstGeom>
          <a:noFill/>
        </p:spPr>
        <p:txBody>
          <a:bodyPr wrap="square">
            <a:spAutoFit/>
          </a:bodyPr>
          <a:lstStyle/>
          <a:p>
            <a:pPr algn="l"/>
            <a:r>
              <a:rPr sz="950" b="0" i="0">
                <a:solidFill>
                  <a:srgbClr val="1F2937"/>
                </a:solidFill>
              </a:rPr>
              <a:t>  • Zero synthetic SMOTE students used in fairness audit — 100% real human records</a:t>
            </a:r>
          </a:p>
        </p:txBody>
      </p:sp>
      <p:sp>
        <p:nvSpPr>
          <p:cNvPr id="87" name="TextBox 86"/>
          <p:cNvSpPr txBox="1"/>
          <p:nvPr/>
        </p:nvSpPr>
        <p:spPr>
          <a:xfrm>
            <a:off x="6355080" y="1261872"/>
            <a:ext cx="5486400" cy="320040"/>
          </a:xfrm>
          <a:prstGeom prst="rect">
            <a:avLst/>
          </a:prstGeom>
          <a:noFill/>
        </p:spPr>
        <p:txBody>
          <a:bodyPr wrap="square">
            <a:spAutoFit/>
          </a:bodyPr>
          <a:lstStyle/>
          <a:p>
            <a:pPr algn="l"/>
            <a:r>
              <a:rPr sz="1250" b="1" i="0">
                <a:solidFill>
                  <a:srgbClr val="1E3A8A"/>
                </a:solidFill>
              </a:rPr>
              <a:t>Comprehensive Fairness Audit Visualizations</a:t>
            </a:r>
          </a:p>
        </p:txBody>
      </p:sp>
      <p:sp>
        <p:nvSpPr>
          <p:cNvPr id="88" name="Rectangle 87"/>
          <p:cNvSpPr/>
          <p:nvPr/>
        </p:nvSpPr>
        <p:spPr>
          <a:xfrm>
            <a:off x="6327648" y="1581912"/>
            <a:ext cx="5568696" cy="4855464"/>
          </a:xfrm>
          <a:prstGeom prst="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9" name="Picture 88" descr="01_comprehensive_fairness_audit.png"/>
          <p:cNvPicPr>
            <a:picLocks noChangeAspect="1"/>
          </p:cNvPicPr>
          <p:nvPr/>
        </p:nvPicPr>
        <p:blipFill>
          <a:blip r:embed="rId2"/>
          <a:stretch>
            <a:fillRect/>
          </a:stretch>
        </p:blipFill>
        <p:spPr>
          <a:xfrm>
            <a:off x="6355080" y="1609344"/>
            <a:ext cx="5513832" cy="48006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66928"/>
          </a:xfrm>
          <a:prstGeom prst="rect">
            <a:avLst/>
          </a:prstGeom>
          <a:noFill/>
        </p:spPr>
        <p:txBody>
          <a:bodyPr wrap="square">
            <a:spAutoFit/>
          </a:bodyPr>
          <a:lstStyle/>
          <a:p>
            <a:pPr algn="l"/>
            <a:r>
              <a:rPr sz="2300" b="1" i="0">
                <a:solidFill>
                  <a:srgbClr val="FFFFFF"/>
                </a:solidFill>
              </a:rPr>
              <a:t>Slide 9: Phase 4 — Early-Warning Soundness &amp; 5-Pillar Governance Charter</a:t>
            </a:r>
          </a:p>
        </p:txBody>
      </p:sp>
      <p:sp>
        <p:nvSpPr>
          <p:cNvPr id="5" name="TextBox 4"/>
          <p:cNvSpPr txBox="1"/>
          <p:nvPr/>
        </p:nvSpPr>
        <p:spPr>
          <a:xfrm>
            <a:off x="365760" y="640080"/>
            <a:ext cx="11430000" cy="411480"/>
          </a:xfrm>
          <a:prstGeom prst="rect">
            <a:avLst/>
          </a:prstGeom>
          <a:noFill/>
        </p:spPr>
        <p:txBody>
          <a:bodyPr wrap="square">
            <a:spAutoFit/>
          </a:bodyPr>
          <a:lstStyle/>
          <a:p>
            <a:pPr algn="l"/>
            <a:r>
              <a:rPr sz="1100" b="0" i="0">
                <a:solidFill>
                  <a:srgbClr val="BFDBFF"/>
                </a:solidFill>
              </a:rPr>
              <a:t>Proving genuine model utility on active students &amp; establishing binding operational guardrails</a:t>
            </a:r>
          </a:p>
        </p:txBody>
      </p:sp>
      <p:sp>
        <p:nvSpPr>
          <p:cNvPr id="6" name="Rectangle 5"/>
          <p:cNvSpPr/>
          <p:nvPr/>
        </p:nvSpPr>
        <p:spPr>
          <a:xfrm>
            <a:off x="0" y="6565392"/>
            <a:ext cx="12188952"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74536"/>
            <a:ext cx="9601200" cy="256032"/>
          </a:xfrm>
          <a:prstGeom prst="rect">
            <a:avLst/>
          </a:prstGeom>
          <a:noFill/>
        </p:spPr>
        <p:txBody>
          <a:bodyPr wrap="square">
            <a:spAutoFit/>
          </a:bodyPr>
          <a:lstStyle/>
          <a:p>
            <a:pPr algn="l"/>
            <a:r>
              <a:rPr sz="850" b="0" i="0">
                <a:solidFill>
                  <a:srgbClr val="FFFFFF"/>
                </a:solidFill>
              </a:rPr>
              <a:t>Student Dropout XAI &amp; Governance Framework  |  Evaluation Presentation &amp; Defense</a:t>
            </a:r>
          </a:p>
        </p:txBody>
      </p:sp>
      <p:sp>
        <p:nvSpPr>
          <p:cNvPr id="8" name="TextBox 7"/>
          <p:cNvSpPr txBox="1"/>
          <p:nvPr/>
        </p:nvSpPr>
        <p:spPr>
          <a:xfrm>
            <a:off x="10515600" y="6574536"/>
            <a:ext cx="1371600" cy="256032"/>
          </a:xfrm>
          <a:prstGeom prst="rect">
            <a:avLst/>
          </a:prstGeom>
          <a:noFill/>
        </p:spPr>
        <p:txBody>
          <a:bodyPr wrap="square">
            <a:spAutoFit/>
          </a:bodyPr>
          <a:lstStyle/>
          <a:p>
            <a:pPr algn="r"/>
            <a:r>
              <a:rPr sz="850" b="0" i="0">
                <a:solidFill>
                  <a:srgbClr val="FFFFFF"/>
                </a:solidFill>
              </a:rPr>
              <a:t>Slide 9 of 10</a:t>
            </a:r>
          </a:p>
        </p:txBody>
      </p:sp>
      <p:sp>
        <p:nvSpPr>
          <p:cNvPr id="9" name="TextBox 8"/>
          <p:cNvSpPr txBox="1"/>
          <p:nvPr/>
        </p:nvSpPr>
        <p:spPr>
          <a:xfrm>
            <a:off x="320040" y="1261872"/>
            <a:ext cx="5669280" cy="320040"/>
          </a:xfrm>
          <a:prstGeom prst="rect">
            <a:avLst/>
          </a:prstGeom>
          <a:noFill/>
        </p:spPr>
        <p:txBody>
          <a:bodyPr wrap="square">
            <a:spAutoFit/>
          </a:bodyPr>
          <a:lstStyle/>
          <a:p>
            <a:pPr algn="l"/>
            <a:r>
              <a:rPr sz="1300" b="1" i="0">
                <a:solidFill>
                  <a:srgbClr val="1E3A8A"/>
                </a:solidFill>
              </a:rPr>
              <a:t>Early-Warning Soundness Audit</a:t>
            </a:r>
          </a:p>
        </p:txBody>
      </p:sp>
      <p:sp>
        <p:nvSpPr>
          <p:cNvPr id="10" name="TextBox 9"/>
          <p:cNvSpPr txBox="1"/>
          <p:nvPr/>
        </p:nvSpPr>
        <p:spPr>
          <a:xfrm>
            <a:off x="320040" y="1627632"/>
            <a:ext cx="5669280" cy="384048"/>
          </a:xfrm>
          <a:prstGeom prst="rect">
            <a:avLst/>
          </a:prstGeom>
          <a:noFill/>
        </p:spPr>
        <p:txBody>
          <a:bodyPr wrap="square">
            <a:spAutoFit/>
          </a:bodyPr>
          <a:lstStyle/>
          <a:p>
            <a:pPr algn="l"/>
            <a:r>
              <a:rPr sz="980" b="0" i="1">
                <a:solidFill>
                  <a:srgbClr val="6B7280"/>
                </a:solidFill>
              </a:rPr>
              <a:t>Evaluator Question: Is the model genuinely useful for early warning, or merely cheating on GPA=0 administrative dropouts?</a:t>
            </a:r>
          </a:p>
        </p:txBody>
      </p:sp>
      <p:sp>
        <p:nvSpPr>
          <p:cNvPr id="11" name="Rectangle 10"/>
          <p:cNvSpPr/>
          <p:nvPr/>
        </p:nvSpPr>
        <p:spPr>
          <a:xfrm>
            <a:off x="320040" y="2103120"/>
            <a:ext cx="5669280" cy="1115568"/>
          </a:xfrm>
          <a:prstGeom prst="rect">
            <a:avLst/>
          </a:prstGeom>
          <a:solidFill>
            <a:srgbClr val="F1F5F9"/>
          </a:solidFill>
          <a:ln w="25400">
            <a:solidFill>
              <a:srgbClr val="059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2103120"/>
            <a:ext cx="109728" cy="1115568"/>
          </a:xfrm>
          <a:prstGeom prst="rect">
            <a:avLst/>
          </a:prstGeom>
          <a:solidFill>
            <a:srgbClr val="059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2157984"/>
            <a:ext cx="5349240" cy="274320"/>
          </a:xfrm>
          <a:prstGeom prst="rect">
            <a:avLst/>
          </a:prstGeom>
          <a:noFill/>
        </p:spPr>
        <p:txBody>
          <a:bodyPr wrap="square">
            <a:spAutoFit/>
          </a:bodyPr>
          <a:lstStyle/>
          <a:p>
            <a:pPr algn="l"/>
            <a:r>
              <a:rPr sz="1050" b="1" i="0">
                <a:solidFill>
                  <a:srgbClr val="059652"/>
                </a:solidFill>
              </a:rPr>
              <a:t>Active Enrolled Students (GPA &gt; 0.0)</a:t>
            </a:r>
          </a:p>
        </p:txBody>
      </p:sp>
      <p:sp>
        <p:nvSpPr>
          <p:cNvPr id="14" name="TextBox 13"/>
          <p:cNvSpPr txBox="1"/>
          <p:nvPr/>
        </p:nvSpPr>
        <p:spPr>
          <a:xfrm>
            <a:off x="594360" y="2514600"/>
            <a:ext cx="1280160" cy="320040"/>
          </a:xfrm>
          <a:prstGeom prst="rect">
            <a:avLst/>
          </a:prstGeom>
          <a:noFill/>
        </p:spPr>
        <p:txBody>
          <a:bodyPr wrap="square">
            <a:spAutoFit/>
          </a:bodyPr>
          <a:lstStyle/>
          <a:p>
            <a:pPr algn="l"/>
            <a:r>
              <a:rPr sz="1000" b="0" i="0">
                <a:solidFill>
                  <a:srgbClr val="1F2937"/>
                </a:solidFill>
              </a:rPr>
              <a:t>2,722 Students</a:t>
            </a:r>
          </a:p>
        </p:txBody>
      </p:sp>
      <p:sp>
        <p:nvSpPr>
          <p:cNvPr id="15" name="TextBox 14"/>
          <p:cNvSpPr txBox="1"/>
          <p:nvPr/>
        </p:nvSpPr>
        <p:spPr>
          <a:xfrm>
            <a:off x="1920240" y="2514600"/>
            <a:ext cx="1280160" cy="320040"/>
          </a:xfrm>
          <a:prstGeom prst="rect">
            <a:avLst/>
          </a:prstGeom>
          <a:noFill/>
        </p:spPr>
        <p:txBody>
          <a:bodyPr wrap="square">
            <a:spAutoFit/>
          </a:bodyPr>
          <a:lstStyle/>
          <a:p>
            <a:pPr algn="l"/>
            <a:r>
              <a:rPr sz="1000" b="0" i="0">
                <a:solidFill>
                  <a:srgbClr val="1F2937"/>
                </a:solidFill>
              </a:rPr>
              <a:t>22.5% Base Dropout</a:t>
            </a:r>
          </a:p>
        </p:txBody>
      </p:sp>
      <p:sp>
        <p:nvSpPr>
          <p:cNvPr id="16" name="TextBox 15"/>
          <p:cNvSpPr txBox="1"/>
          <p:nvPr/>
        </p:nvSpPr>
        <p:spPr>
          <a:xfrm>
            <a:off x="3246120" y="2514600"/>
            <a:ext cx="1280160" cy="320040"/>
          </a:xfrm>
          <a:prstGeom prst="rect">
            <a:avLst/>
          </a:prstGeom>
          <a:noFill/>
        </p:spPr>
        <p:txBody>
          <a:bodyPr wrap="square">
            <a:spAutoFit/>
          </a:bodyPr>
          <a:lstStyle/>
          <a:p>
            <a:pPr algn="l"/>
            <a:r>
              <a:rPr sz="1000" b="1" i="0">
                <a:solidFill>
                  <a:srgbClr val="059652"/>
                </a:solidFill>
              </a:rPr>
              <a:t>Recall: 80.8%</a:t>
            </a:r>
          </a:p>
        </p:txBody>
      </p:sp>
      <p:sp>
        <p:nvSpPr>
          <p:cNvPr id="17" name="TextBox 16"/>
          <p:cNvSpPr txBox="1"/>
          <p:nvPr/>
        </p:nvSpPr>
        <p:spPr>
          <a:xfrm>
            <a:off x="4572000" y="2514600"/>
            <a:ext cx="1280160" cy="320040"/>
          </a:xfrm>
          <a:prstGeom prst="rect">
            <a:avLst/>
          </a:prstGeom>
          <a:noFill/>
        </p:spPr>
        <p:txBody>
          <a:bodyPr wrap="square">
            <a:spAutoFit/>
          </a:bodyPr>
          <a:lstStyle/>
          <a:p>
            <a:pPr algn="l"/>
            <a:r>
              <a:rPr sz="1000" b="1" i="0">
                <a:solidFill>
                  <a:srgbClr val="059652"/>
                </a:solidFill>
              </a:rPr>
              <a:t>Precision: 82.5%</a:t>
            </a:r>
          </a:p>
        </p:txBody>
      </p:sp>
      <p:sp>
        <p:nvSpPr>
          <p:cNvPr id="18" name="Rectangle 17"/>
          <p:cNvSpPr/>
          <p:nvPr/>
        </p:nvSpPr>
        <p:spPr>
          <a:xfrm>
            <a:off x="320040" y="3337560"/>
            <a:ext cx="5669280" cy="1115568"/>
          </a:xfrm>
          <a:prstGeom prst="rect">
            <a:avLst/>
          </a:prstGeom>
          <a:solidFill>
            <a:srgbClr val="F1F5F9"/>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3337560"/>
            <a:ext cx="109728" cy="11155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3392424"/>
            <a:ext cx="5349240" cy="274320"/>
          </a:xfrm>
          <a:prstGeom prst="rect">
            <a:avLst/>
          </a:prstGeom>
          <a:noFill/>
        </p:spPr>
        <p:txBody>
          <a:bodyPr wrap="square">
            <a:spAutoFit/>
          </a:bodyPr>
          <a:lstStyle/>
          <a:p>
            <a:pPr algn="l"/>
            <a:r>
              <a:rPr sz="1050" b="1" i="0">
                <a:solidFill>
                  <a:srgbClr val="2563EB"/>
                </a:solidFill>
              </a:rPr>
              <a:t>Administrative Post-Mortem Records (GPA == 0.0)</a:t>
            </a:r>
          </a:p>
        </p:txBody>
      </p:sp>
      <p:sp>
        <p:nvSpPr>
          <p:cNvPr id="21" name="TextBox 20"/>
          <p:cNvSpPr txBox="1"/>
          <p:nvPr/>
        </p:nvSpPr>
        <p:spPr>
          <a:xfrm>
            <a:off x="594360" y="3749039"/>
            <a:ext cx="1280160" cy="320040"/>
          </a:xfrm>
          <a:prstGeom prst="rect">
            <a:avLst/>
          </a:prstGeom>
          <a:noFill/>
        </p:spPr>
        <p:txBody>
          <a:bodyPr wrap="square">
            <a:spAutoFit/>
          </a:bodyPr>
          <a:lstStyle/>
          <a:p>
            <a:pPr algn="l"/>
            <a:r>
              <a:rPr sz="1000" b="0" i="0">
                <a:solidFill>
                  <a:srgbClr val="1F2937"/>
                </a:solidFill>
              </a:rPr>
              <a:t>295 Students</a:t>
            </a:r>
          </a:p>
        </p:txBody>
      </p:sp>
      <p:sp>
        <p:nvSpPr>
          <p:cNvPr id="22" name="TextBox 21"/>
          <p:cNvSpPr txBox="1"/>
          <p:nvPr/>
        </p:nvSpPr>
        <p:spPr>
          <a:xfrm>
            <a:off x="1920240" y="3749039"/>
            <a:ext cx="1280160" cy="320040"/>
          </a:xfrm>
          <a:prstGeom prst="rect">
            <a:avLst/>
          </a:prstGeom>
          <a:noFill/>
        </p:spPr>
        <p:txBody>
          <a:bodyPr wrap="square">
            <a:spAutoFit/>
          </a:bodyPr>
          <a:lstStyle/>
          <a:p>
            <a:pPr algn="l"/>
            <a:r>
              <a:rPr sz="1000" b="0" i="0">
                <a:solidFill>
                  <a:srgbClr val="1F2937"/>
                </a:solidFill>
              </a:rPr>
              <a:t>94.2% Base Dropout</a:t>
            </a:r>
          </a:p>
        </p:txBody>
      </p:sp>
      <p:sp>
        <p:nvSpPr>
          <p:cNvPr id="23" name="TextBox 22"/>
          <p:cNvSpPr txBox="1"/>
          <p:nvPr/>
        </p:nvSpPr>
        <p:spPr>
          <a:xfrm>
            <a:off x="3246120" y="3749039"/>
            <a:ext cx="1280160" cy="320040"/>
          </a:xfrm>
          <a:prstGeom prst="rect">
            <a:avLst/>
          </a:prstGeom>
          <a:noFill/>
        </p:spPr>
        <p:txBody>
          <a:bodyPr wrap="square">
            <a:spAutoFit/>
          </a:bodyPr>
          <a:lstStyle/>
          <a:p>
            <a:pPr algn="l"/>
            <a:r>
              <a:rPr sz="1000" b="1" i="0">
                <a:solidFill>
                  <a:srgbClr val="059652"/>
                </a:solidFill>
              </a:rPr>
              <a:t>Recall: 97.8%</a:t>
            </a:r>
          </a:p>
        </p:txBody>
      </p:sp>
      <p:sp>
        <p:nvSpPr>
          <p:cNvPr id="24" name="TextBox 23"/>
          <p:cNvSpPr txBox="1"/>
          <p:nvPr/>
        </p:nvSpPr>
        <p:spPr>
          <a:xfrm>
            <a:off x="4572000" y="3749039"/>
            <a:ext cx="1280160" cy="320040"/>
          </a:xfrm>
          <a:prstGeom prst="rect">
            <a:avLst/>
          </a:prstGeom>
          <a:noFill/>
        </p:spPr>
        <p:txBody>
          <a:bodyPr wrap="square">
            <a:spAutoFit/>
          </a:bodyPr>
          <a:lstStyle/>
          <a:p>
            <a:pPr algn="l"/>
            <a:r>
              <a:rPr sz="1000" b="1" i="0">
                <a:solidFill>
                  <a:srgbClr val="059652"/>
                </a:solidFill>
              </a:rPr>
              <a:t>Precision: 99.0%</a:t>
            </a:r>
          </a:p>
        </p:txBody>
      </p:sp>
      <p:sp>
        <p:nvSpPr>
          <p:cNvPr id="25" name="Rectangle 24"/>
          <p:cNvSpPr/>
          <p:nvPr/>
        </p:nvSpPr>
        <p:spPr>
          <a:xfrm>
            <a:off x="320040" y="4709160"/>
            <a:ext cx="5669280" cy="1691640"/>
          </a:xfrm>
          <a:prstGeom prst="rect">
            <a:avLst/>
          </a:prstGeom>
          <a:solidFill>
            <a:srgbClr val="D1FAE5"/>
          </a:solidFill>
          <a:ln w="19050">
            <a:solidFill>
              <a:srgbClr val="059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800600"/>
            <a:ext cx="5394960" cy="274320"/>
          </a:xfrm>
          <a:prstGeom prst="rect">
            <a:avLst/>
          </a:prstGeom>
          <a:noFill/>
        </p:spPr>
        <p:txBody>
          <a:bodyPr wrap="square">
            <a:spAutoFit/>
          </a:bodyPr>
          <a:lstStyle/>
          <a:p>
            <a:pPr algn="l"/>
            <a:r>
              <a:rPr sz="1100" b="1" i="0">
                <a:solidFill>
                  <a:srgbClr val="059652"/>
                </a:solidFill>
              </a:rPr>
              <a:t>Soundness Verdict: Model Catches ACTIVE Students!</a:t>
            </a:r>
          </a:p>
        </p:txBody>
      </p:sp>
      <p:sp>
        <p:nvSpPr>
          <p:cNvPr id="27" name="TextBox 26"/>
          <p:cNvSpPr txBox="1"/>
          <p:nvPr/>
        </p:nvSpPr>
        <p:spPr>
          <a:xfrm>
            <a:off x="457200" y="5138928"/>
            <a:ext cx="5394960" cy="548640"/>
          </a:xfrm>
          <a:prstGeom prst="rect">
            <a:avLst/>
          </a:prstGeom>
          <a:noFill/>
        </p:spPr>
        <p:txBody>
          <a:bodyPr wrap="square">
            <a:spAutoFit/>
          </a:bodyPr>
          <a:lstStyle/>
          <a:p>
            <a:pPr algn="l"/>
            <a:r>
              <a:rPr sz="919" b="0" i="0">
                <a:solidFill>
                  <a:srgbClr val="1F2937"/>
                </a:solidFill>
              </a:rPr>
              <a:t>  • Even when all zero-GPA records are excluded, the model achieves 80.8% Recall &amp; 82.5% Precision on active enrolled students</a:t>
            </a:r>
          </a:p>
        </p:txBody>
      </p:sp>
      <p:sp>
        <p:nvSpPr>
          <p:cNvPr id="28" name="TextBox 27"/>
          <p:cNvSpPr txBox="1"/>
          <p:nvPr/>
        </p:nvSpPr>
        <p:spPr>
          <a:xfrm>
            <a:off x="457200" y="5641848"/>
            <a:ext cx="5394960" cy="548640"/>
          </a:xfrm>
          <a:prstGeom prst="rect">
            <a:avLst/>
          </a:prstGeom>
          <a:noFill/>
        </p:spPr>
        <p:txBody>
          <a:bodyPr wrap="square">
            <a:spAutoFit/>
          </a:bodyPr>
          <a:lstStyle/>
          <a:p>
            <a:pPr algn="l"/>
            <a:r>
              <a:rPr sz="919" b="0" i="0">
                <a:solidFill>
                  <a:srgbClr val="1F2937"/>
                </a:solidFill>
              </a:rPr>
              <a:t>  • Adult-Evening Modality Audit: Model achieves 89.0%–85.3% recall on adult students, proving flags reflect authentic economic strain rather than algorithmic bias</a:t>
            </a:r>
          </a:p>
        </p:txBody>
      </p:sp>
      <p:sp>
        <p:nvSpPr>
          <p:cNvPr id="29" name="TextBox 28"/>
          <p:cNvSpPr txBox="1"/>
          <p:nvPr/>
        </p:nvSpPr>
        <p:spPr>
          <a:xfrm>
            <a:off x="6263640" y="1261872"/>
            <a:ext cx="5605272" cy="320040"/>
          </a:xfrm>
          <a:prstGeom prst="rect">
            <a:avLst/>
          </a:prstGeom>
          <a:noFill/>
        </p:spPr>
        <p:txBody>
          <a:bodyPr wrap="square">
            <a:spAutoFit/>
          </a:bodyPr>
          <a:lstStyle/>
          <a:p>
            <a:pPr algn="l"/>
            <a:r>
              <a:rPr sz="1300" b="1" i="0">
                <a:solidFill>
                  <a:srgbClr val="1E3A8A"/>
                </a:solidFill>
              </a:rPr>
              <a:t>5-Pillar Institutional AI Governance Charter</a:t>
            </a:r>
          </a:p>
        </p:txBody>
      </p:sp>
      <p:sp>
        <p:nvSpPr>
          <p:cNvPr id="30" name="Rectangle 29"/>
          <p:cNvSpPr/>
          <p:nvPr/>
        </p:nvSpPr>
        <p:spPr>
          <a:xfrm>
            <a:off x="6263640" y="1664208"/>
            <a:ext cx="502920" cy="80467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1828800"/>
            <a:ext cx="502920" cy="457200"/>
          </a:xfrm>
          <a:prstGeom prst="rect">
            <a:avLst/>
          </a:prstGeom>
          <a:noFill/>
        </p:spPr>
        <p:txBody>
          <a:bodyPr wrap="square">
            <a:spAutoFit/>
          </a:bodyPr>
          <a:lstStyle/>
          <a:p>
            <a:pPr algn="ctr"/>
            <a:r>
              <a:rPr sz="1600" b="1" i="0">
                <a:solidFill>
                  <a:srgbClr val="FFFFFF"/>
                </a:solidFill>
              </a:rPr>
              <a:t>1</a:t>
            </a:r>
          </a:p>
        </p:txBody>
      </p:sp>
      <p:sp>
        <p:nvSpPr>
          <p:cNvPr id="32" name="Rectangle 31"/>
          <p:cNvSpPr/>
          <p:nvPr/>
        </p:nvSpPr>
        <p:spPr>
          <a:xfrm>
            <a:off x="6839712" y="1664208"/>
            <a:ext cx="5029200" cy="804672"/>
          </a:xfrm>
          <a:prstGeom prst="rect">
            <a:avLst/>
          </a:prstGeom>
          <a:solidFill>
            <a:srgbClr val="F1F5F9"/>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49440" y="1709928"/>
            <a:ext cx="4800600" cy="274320"/>
          </a:xfrm>
          <a:prstGeom prst="rect">
            <a:avLst/>
          </a:prstGeom>
          <a:noFill/>
        </p:spPr>
        <p:txBody>
          <a:bodyPr wrap="square">
            <a:spAutoFit/>
          </a:bodyPr>
          <a:lstStyle/>
          <a:p>
            <a:pPr algn="l"/>
            <a:r>
              <a:rPr sz="1050" b="1" i="0">
                <a:solidFill>
                  <a:srgbClr val="1E3A8A"/>
                </a:solidFill>
              </a:rPr>
              <a:t>1. Advisory Use Only</a:t>
            </a:r>
          </a:p>
        </p:txBody>
      </p:sp>
      <p:sp>
        <p:nvSpPr>
          <p:cNvPr id="34" name="TextBox 33"/>
          <p:cNvSpPr txBox="1"/>
          <p:nvPr/>
        </p:nvSpPr>
        <p:spPr>
          <a:xfrm>
            <a:off x="6949440" y="2011680"/>
            <a:ext cx="4800600" cy="420624"/>
          </a:xfrm>
          <a:prstGeom prst="rect">
            <a:avLst/>
          </a:prstGeom>
          <a:noFill/>
        </p:spPr>
        <p:txBody>
          <a:bodyPr wrap="square">
            <a:spAutoFit/>
          </a:bodyPr>
          <a:lstStyle/>
          <a:p>
            <a:pPr algn="l"/>
            <a:r>
              <a:rPr sz="900" b="0" i="0">
                <a:solidFill>
                  <a:srgbClr val="1F2937"/>
                </a:solidFill>
              </a:rPr>
              <a:t>Automated expulsions, disciplinary sanctions, and student tracking are strictly prohibited.</a:t>
            </a:r>
          </a:p>
        </p:txBody>
      </p:sp>
      <p:sp>
        <p:nvSpPr>
          <p:cNvPr id="35" name="Rectangle 34"/>
          <p:cNvSpPr/>
          <p:nvPr/>
        </p:nvSpPr>
        <p:spPr>
          <a:xfrm>
            <a:off x="6263640" y="2596896"/>
            <a:ext cx="502920" cy="8046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2761488"/>
            <a:ext cx="502920" cy="457200"/>
          </a:xfrm>
          <a:prstGeom prst="rect">
            <a:avLst/>
          </a:prstGeom>
          <a:noFill/>
        </p:spPr>
        <p:txBody>
          <a:bodyPr wrap="square">
            <a:spAutoFit/>
          </a:bodyPr>
          <a:lstStyle/>
          <a:p>
            <a:pPr algn="ctr"/>
            <a:r>
              <a:rPr sz="1600" b="1" i="0">
                <a:solidFill>
                  <a:srgbClr val="FFFFFF"/>
                </a:solidFill>
              </a:rPr>
              <a:t>2</a:t>
            </a:r>
          </a:p>
        </p:txBody>
      </p:sp>
      <p:sp>
        <p:nvSpPr>
          <p:cNvPr id="37" name="Rectangle 36"/>
          <p:cNvSpPr/>
          <p:nvPr/>
        </p:nvSpPr>
        <p:spPr>
          <a:xfrm>
            <a:off x="6839712" y="2596896"/>
            <a:ext cx="5029200" cy="804672"/>
          </a:xfrm>
          <a:prstGeom prst="rect">
            <a:avLst/>
          </a:prstGeom>
          <a:solidFill>
            <a:srgbClr val="F1F5F9"/>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49440" y="2642615"/>
            <a:ext cx="4800600" cy="274320"/>
          </a:xfrm>
          <a:prstGeom prst="rect">
            <a:avLst/>
          </a:prstGeom>
          <a:noFill/>
        </p:spPr>
        <p:txBody>
          <a:bodyPr wrap="square">
            <a:spAutoFit/>
          </a:bodyPr>
          <a:lstStyle/>
          <a:p>
            <a:pPr algn="l"/>
            <a:r>
              <a:rPr sz="1050" b="1" i="0">
                <a:solidFill>
                  <a:srgbClr val="2563EB"/>
                </a:solidFill>
              </a:rPr>
              <a:t>2. Explainability Coupling</a:t>
            </a:r>
          </a:p>
        </p:txBody>
      </p:sp>
      <p:sp>
        <p:nvSpPr>
          <p:cNvPr id="39" name="TextBox 38"/>
          <p:cNvSpPr txBox="1"/>
          <p:nvPr/>
        </p:nvSpPr>
        <p:spPr>
          <a:xfrm>
            <a:off x="6949440" y="2944368"/>
            <a:ext cx="4800600" cy="420624"/>
          </a:xfrm>
          <a:prstGeom prst="rect">
            <a:avLst/>
          </a:prstGeom>
          <a:noFill/>
        </p:spPr>
        <p:txBody>
          <a:bodyPr wrap="square">
            <a:spAutoFit/>
          </a:bodyPr>
          <a:lstStyle/>
          <a:p>
            <a:pPr algn="l"/>
            <a:r>
              <a:rPr sz="900" b="0" i="0">
                <a:solidFill>
                  <a:srgbClr val="1F2937"/>
                </a:solidFill>
              </a:rPr>
              <a:t>Every automated risk flag MUST be accompanied by LIME/SHAP causal attribution cards.</a:t>
            </a:r>
          </a:p>
        </p:txBody>
      </p:sp>
      <p:sp>
        <p:nvSpPr>
          <p:cNvPr id="40" name="Rectangle 39"/>
          <p:cNvSpPr/>
          <p:nvPr/>
        </p:nvSpPr>
        <p:spPr>
          <a:xfrm>
            <a:off x="6263640" y="3529584"/>
            <a:ext cx="502920" cy="804672"/>
          </a:xfrm>
          <a:prstGeom prst="rect">
            <a:avLst/>
          </a:prstGeom>
          <a:solidFill>
            <a:srgbClr val="059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63640" y="3694176"/>
            <a:ext cx="502920" cy="457200"/>
          </a:xfrm>
          <a:prstGeom prst="rect">
            <a:avLst/>
          </a:prstGeom>
          <a:noFill/>
        </p:spPr>
        <p:txBody>
          <a:bodyPr wrap="square">
            <a:spAutoFit/>
          </a:bodyPr>
          <a:lstStyle/>
          <a:p>
            <a:pPr algn="ctr"/>
            <a:r>
              <a:rPr sz="1600" b="1" i="0">
                <a:solidFill>
                  <a:srgbClr val="FFFFFF"/>
                </a:solidFill>
              </a:rPr>
              <a:t>3</a:t>
            </a:r>
          </a:p>
        </p:txBody>
      </p:sp>
      <p:sp>
        <p:nvSpPr>
          <p:cNvPr id="42" name="Rectangle 41"/>
          <p:cNvSpPr/>
          <p:nvPr/>
        </p:nvSpPr>
        <p:spPr>
          <a:xfrm>
            <a:off x="6839712" y="3529584"/>
            <a:ext cx="5029200" cy="804672"/>
          </a:xfrm>
          <a:prstGeom prst="rect">
            <a:avLst/>
          </a:prstGeom>
          <a:solidFill>
            <a:srgbClr val="F1F5F9"/>
          </a:solidFill>
          <a:ln w="12700">
            <a:solidFill>
              <a:srgbClr val="059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49440" y="3575304"/>
            <a:ext cx="4800600" cy="274320"/>
          </a:xfrm>
          <a:prstGeom prst="rect">
            <a:avLst/>
          </a:prstGeom>
          <a:noFill/>
        </p:spPr>
        <p:txBody>
          <a:bodyPr wrap="square">
            <a:spAutoFit/>
          </a:bodyPr>
          <a:lstStyle/>
          <a:p>
            <a:pPr algn="l"/>
            <a:r>
              <a:rPr sz="1050" b="1" i="0">
                <a:solidFill>
                  <a:srgbClr val="059652"/>
                </a:solidFill>
              </a:rPr>
              <a:t>3. Bi-annual Recalibration</a:t>
            </a:r>
          </a:p>
        </p:txBody>
      </p:sp>
      <p:sp>
        <p:nvSpPr>
          <p:cNvPr id="44" name="TextBox 43"/>
          <p:cNvSpPr txBox="1"/>
          <p:nvPr/>
        </p:nvSpPr>
        <p:spPr>
          <a:xfrm>
            <a:off x="6949440" y="3877056"/>
            <a:ext cx="4800600" cy="420624"/>
          </a:xfrm>
          <a:prstGeom prst="rect">
            <a:avLst/>
          </a:prstGeom>
          <a:noFill/>
        </p:spPr>
        <p:txBody>
          <a:bodyPr wrap="square">
            <a:spAutoFit/>
          </a:bodyPr>
          <a:lstStyle/>
          <a:p>
            <a:pPr algn="l"/>
            <a:r>
              <a:rPr sz="900" b="0" i="0">
                <a:solidFill>
                  <a:srgbClr val="1F2937"/>
                </a:solidFill>
              </a:rPr>
              <a:t>Mandatory disparate impact re-audits before every academic semester begins.</a:t>
            </a:r>
          </a:p>
        </p:txBody>
      </p:sp>
      <p:sp>
        <p:nvSpPr>
          <p:cNvPr id="45" name="Rectangle 44"/>
          <p:cNvSpPr/>
          <p:nvPr/>
        </p:nvSpPr>
        <p:spPr>
          <a:xfrm>
            <a:off x="6263640" y="4462272"/>
            <a:ext cx="502920" cy="80467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63640" y="4626864"/>
            <a:ext cx="502920" cy="457200"/>
          </a:xfrm>
          <a:prstGeom prst="rect">
            <a:avLst/>
          </a:prstGeom>
          <a:noFill/>
        </p:spPr>
        <p:txBody>
          <a:bodyPr wrap="square">
            <a:spAutoFit/>
          </a:bodyPr>
          <a:lstStyle/>
          <a:p>
            <a:pPr algn="ctr"/>
            <a:r>
              <a:rPr sz="1600" b="1" i="0">
                <a:solidFill>
                  <a:srgbClr val="FFFFFF"/>
                </a:solidFill>
              </a:rPr>
              <a:t>4</a:t>
            </a:r>
          </a:p>
        </p:txBody>
      </p:sp>
      <p:sp>
        <p:nvSpPr>
          <p:cNvPr id="47" name="Rectangle 46"/>
          <p:cNvSpPr/>
          <p:nvPr/>
        </p:nvSpPr>
        <p:spPr>
          <a:xfrm>
            <a:off x="6839712" y="4462272"/>
            <a:ext cx="5029200" cy="804672"/>
          </a:xfrm>
          <a:prstGeom prst="rect">
            <a:avLst/>
          </a:prstGeom>
          <a:solidFill>
            <a:srgbClr val="F1F5F9"/>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0" y="4507992"/>
            <a:ext cx="4800600" cy="274320"/>
          </a:xfrm>
          <a:prstGeom prst="rect">
            <a:avLst/>
          </a:prstGeom>
          <a:noFill/>
        </p:spPr>
        <p:txBody>
          <a:bodyPr wrap="square">
            <a:spAutoFit/>
          </a:bodyPr>
          <a:lstStyle/>
          <a:p>
            <a:pPr algn="l"/>
            <a:r>
              <a:rPr sz="1050" b="1" i="0">
                <a:solidFill>
                  <a:srgbClr val="D97706"/>
                </a:solidFill>
              </a:rPr>
              <a:t>4. Student Right to Appeal</a:t>
            </a:r>
          </a:p>
        </p:txBody>
      </p:sp>
      <p:sp>
        <p:nvSpPr>
          <p:cNvPr id="49" name="TextBox 48"/>
          <p:cNvSpPr txBox="1"/>
          <p:nvPr/>
        </p:nvSpPr>
        <p:spPr>
          <a:xfrm>
            <a:off x="6949440" y="4809744"/>
            <a:ext cx="4800600" cy="420624"/>
          </a:xfrm>
          <a:prstGeom prst="rect">
            <a:avLst/>
          </a:prstGeom>
          <a:noFill/>
        </p:spPr>
        <p:txBody>
          <a:bodyPr wrap="square">
            <a:spAutoFit/>
          </a:bodyPr>
          <a:lstStyle/>
          <a:p>
            <a:pPr algn="l"/>
            <a:r>
              <a:rPr sz="900" b="0" i="0">
                <a:solidFill>
                  <a:srgbClr val="1F2937"/>
                </a:solidFill>
              </a:rPr>
              <a:t>Students retain the fundamental right to explanation and transparent appeal of any intervention flag.</a:t>
            </a:r>
          </a:p>
        </p:txBody>
      </p:sp>
      <p:sp>
        <p:nvSpPr>
          <p:cNvPr id="50" name="Rectangle 49"/>
          <p:cNvSpPr/>
          <p:nvPr/>
        </p:nvSpPr>
        <p:spPr>
          <a:xfrm>
            <a:off x="6263640" y="5394960"/>
            <a:ext cx="502920" cy="80467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63640" y="5559552"/>
            <a:ext cx="502920" cy="457200"/>
          </a:xfrm>
          <a:prstGeom prst="rect">
            <a:avLst/>
          </a:prstGeom>
          <a:noFill/>
        </p:spPr>
        <p:txBody>
          <a:bodyPr wrap="square">
            <a:spAutoFit/>
          </a:bodyPr>
          <a:lstStyle/>
          <a:p>
            <a:pPr algn="ctr"/>
            <a:r>
              <a:rPr sz="1600" b="1" i="0">
                <a:solidFill>
                  <a:srgbClr val="FFFFFF"/>
                </a:solidFill>
              </a:rPr>
              <a:t>5</a:t>
            </a:r>
          </a:p>
        </p:txBody>
      </p:sp>
      <p:sp>
        <p:nvSpPr>
          <p:cNvPr id="52" name="Rectangle 51"/>
          <p:cNvSpPr/>
          <p:nvPr/>
        </p:nvSpPr>
        <p:spPr>
          <a:xfrm>
            <a:off x="6839712" y="5394960"/>
            <a:ext cx="5029200" cy="804672"/>
          </a:xfrm>
          <a:prstGeom prst="rect">
            <a:avLst/>
          </a:prstGeom>
          <a:solidFill>
            <a:srgbClr val="F1F5F9"/>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949440" y="5440680"/>
            <a:ext cx="4800600" cy="274320"/>
          </a:xfrm>
          <a:prstGeom prst="rect">
            <a:avLst/>
          </a:prstGeom>
          <a:noFill/>
        </p:spPr>
        <p:txBody>
          <a:bodyPr wrap="square">
            <a:spAutoFit/>
          </a:bodyPr>
          <a:lstStyle/>
          <a:p>
            <a:pPr algn="l"/>
            <a:r>
              <a:rPr sz="1050" b="1" i="0">
                <a:solidFill>
                  <a:srgbClr val="DC2626"/>
                </a:solidFill>
              </a:rPr>
              <a:t>5. Human Counselor Authority</a:t>
            </a:r>
          </a:p>
        </p:txBody>
      </p:sp>
      <p:sp>
        <p:nvSpPr>
          <p:cNvPr id="54" name="TextBox 53"/>
          <p:cNvSpPr txBox="1"/>
          <p:nvPr/>
        </p:nvSpPr>
        <p:spPr>
          <a:xfrm>
            <a:off x="6949440" y="5742432"/>
            <a:ext cx="4800600" cy="420624"/>
          </a:xfrm>
          <a:prstGeom prst="rect">
            <a:avLst/>
          </a:prstGeom>
          <a:noFill/>
        </p:spPr>
        <p:txBody>
          <a:bodyPr wrap="square">
            <a:spAutoFit/>
          </a:bodyPr>
          <a:lstStyle/>
          <a:p>
            <a:pPr algn="l"/>
            <a:r>
              <a:rPr sz="900" b="0" i="0">
                <a:solidFill>
                  <a:srgbClr val="1F2937"/>
                </a:solidFill>
              </a:rPr>
              <a:t>Certified educational advisors maintain exclusive, final intervention override power.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34840"/>
            <a:ext cx="12188952" cy="2423160"/>
          </a:xfrm>
          <a:prstGeom prst="rect">
            <a:avLst/>
          </a:prstGeom>
          <a:solidFill>
            <a:srgbClr val="0F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777240"/>
            <a:ext cx="109728" cy="4023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749808"/>
            <a:ext cx="10515600" cy="502920"/>
          </a:xfrm>
          <a:prstGeom prst="rect">
            <a:avLst/>
          </a:prstGeom>
          <a:noFill/>
        </p:spPr>
        <p:txBody>
          <a:bodyPr wrap="square">
            <a:spAutoFit/>
          </a:bodyPr>
          <a:lstStyle/>
          <a:p>
            <a:pPr algn="l"/>
            <a:r>
              <a:rPr sz="2200" b="1" i="0">
                <a:solidFill>
                  <a:srgbClr val="FFFFFF"/>
                </a:solidFill>
              </a:rPr>
              <a:t>Slide 10: Conclusion &amp; Live Command Center Transition</a:t>
            </a:r>
          </a:p>
        </p:txBody>
      </p:sp>
      <p:sp>
        <p:nvSpPr>
          <p:cNvPr id="6" name="Rectangle 5"/>
          <p:cNvSpPr/>
          <p:nvPr/>
        </p:nvSpPr>
        <p:spPr>
          <a:xfrm>
            <a:off x="777240" y="1353312"/>
            <a:ext cx="2103120" cy="6583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90472"/>
            <a:ext cx="2011680" cy="411480"/>
          </a:xfrm>
          <a:prstGeom prst="rect">
            <a:avLst/>
          </a:prstGeom>
          <a:noFill/>
        </p:spPr>
        <p:txBody>
          <a:bodyPr wrap="square">
            <a:spAutoFit/>
          </a:bodyPr>
          <a:lstStyle/>
          <a:p>
            <a:pPr algn="ctr"/>
            <a:r>
              <a:rPr sz="1000" b="1" i="0">
                <a:solidFill>
                  <a:srgbClr val="FFFFFF"/>
                </a:solidFill>
              </a:rPr>
              <a:t>Scientific Contribution</a:t>
            </a:r>
          </a:p>
        </p:txBody>
      </p:sp>
      <p:sp>
        <p:nvSpPr>
          <p:cNvPr id="8" name="TextBox 7"/>
          <p:cNvSpPr txBox="1"/>
          <p:nvPr/>
        </p:nvSpPr>
        <p:spPr>
          <a:xfrm>
            <a:off x="3017520" y="1444752"/>
            <a:ext cx="8869680" cy="502920"/>
          </a:xfrm>
          <a:prstGeom prst="rect">
            <a:avLst/>
          </a:prstGeom>
          <a:noFill/>
        </p:spPr>
        <p:txBody>
          <a:bodyPr wrap="square">
            <a:spAutoFit/>
          </a:bodyPr>
          <a:lstStyle/>
          <a:p>
            <a:pPr algn="l"/>
            <a:r>
              <a:rPr sz="1050" b="0" i="0">
                <a:solidFill>
                  <a:srgbClr val="DBEAFE"/>
                </a:solidFill>
              </a:rPr>
              <a:t>Successfully replicated and extended IEEE RITA 2025 into a production-grade, fair, and explainable retention framework for 15,084 students.</a:t>
            </a:r>
          </a:p>
        </p:txBody>
      </p:sp>
      <p:sp>
        <p:nvSpPr>
          <p:cNvPr id="9" name="Rectangle 8"/>
          <p:cNvSpPr/>
          <p:nvPr/>
        </p:nvSpPr>
        <p:spPr>
          <a:xfrm>
            <a:off x="777240" y="2103120"/>
            <a:ext cx="2103120" cy="658368"/>
          </a:xfrm>
          <a:prstGeom prst="rect">
            <a:avLst/>
          </a:prstGeom>
          <a:solidFill>
            <a:srgbClr val="059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240279"/>
            <a:ext cx="2011680" cy="411480"/>
          </a:xfrm>
          <a:prstGeom prst="rect">
            <a:avLst/>
          </a:prstGeom>
          <a:noFill/>
        </p:spPr>
        <p:txBody>
          <a:bodyPr wrap="square">
            <a:spAutoFit/>
          </a:bodyPr>
          <a:lstStyle/>
          <a:p>
            <a:pPr algn="ctr"/>
            <a:r>
              <a:rPr sz="1000" b="1" i="0">
                <a:solidFill>
                  <a:srgbClr val="FFFFFF"/>
                </a:solidFill>
              </a:rPr>
              <a:t>Champion Performance</a:t>
            </a:r>
          </a:p>
        </p:txBody>
      </p:sp>
      <p:sp>
        <p:nvSpPr>
          <p:cNvPr id="11" name="TextBox 10"/>
          <p:cNvSpPr txBox="1"/>
          <p:nvPr/>
        </p:nvSpPr>
        <p:spPr>
          <a:xfrm>
            <a:off x="3017520" y="2194560"/>
            <a:ext cx="8869680" cy="502920"/>
          </a:xfrm>
          <a:prstGeom prst="rect">
            <a:avLst/>
          </a:prstGeom>
          <a:noFill/>
        </p:spPr>
        <p:txBody>
          <a:bodyPr wrap="square">
            <a:spAutoFit/>
          </a:bodyPr>
          <a:lstStyle/>
          <a:p>
            <a:pPr algn="l"/>
            <a:r>
              <a:rPr sz="1050" b="0" i="0">
                <a:solidFill>
                  <a:srgbClr val="DBEAFE"/>
                </a:solidFill>
              </a:rPr>
              <a:t>Random Forest achieves 84.8% Recall, 83.6% Precision, 92.9% Accuracy, and 0.951 ROC-AUC on 3,017 held-out test students.</a:t>
            </a:r>
          </a:p>
        </p:txBody>
      </p:sp>
      <p:sp>
        <p:nvSpPr>
          <p:cNvPr id="12" name="Rectangle 11"/>
          <p:cNvSpPr/>
          <p:nvPr/>
        </p:nvSpPr>
        <p:spPr>
          <a:xfrm>
            <a:off x="777240" y="2852928"/>
            <a:ext cx="2103120" cy="65836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990088"/>
            <a:ext cx="2011680" cy="411480"/>
          </a:xfrm>
          <a:prstGeom prst="rect">
            <a:avLst/>
          </a:prstGeom>
          <a:noFill/>
        </p:spPr>
        <p:txBody>
          <a:bodyPr wrap="square">
            <a:spAutoFit/>
          </a:bodyPr>
          <a:lstStyle/>
          <a:p>
            <a:pPr algn="ctr"/>
            <a:r>
              <a:rPr sz="1000" b="1" i="0">
                <a:solidFill>
                  <a:srgbClr val="FFFFFF"/>
                </a:solidFill>
              </a:rPr>
              <a:t>Fairness &amp; Soundness</a:t>
            </a:r>
          </a:p>
        </p:txBody>
      </p:sp>
      <p:sp>
        <p:nvSpPr>
          <p:cNvPr id="14" name="TextBox 13"/>
          <p:cNvSpPr txBox="1"/>
          <p:nvPr/>
        </p:nvSpPr>
        <p:spPr>
          <a:xfrm>
            <a:off x="3017520" y="2944368"/>
            <a:ext cx="8869680" cy="502920"/>
          </a:xfrm>
          <a:prstGeom prst="rect">
            <a:avLst/>
          </a:prstGeom>
          <a:noFill/>
        </p:spPr>
        <p:txBody>
          <a:bodyPr wrap="square">
            <a:spAutoFit/>
          </a:bodyPr>
          <a:lstStyle/>
          <a:p>
            <a:pPr algn="l"/>
            <a:r>
              <a:rPr sz="1050" b="0" i="0">
                <a:solidFill>
                  <a:srgbClr val="DBEAFE"/>
                </a:solidFill>
              </a:rPr>
              <a:t>Passed Race equity audit (Disparate Impact = 1.180), verified 80.8% active student recall, and certified with zero synthetic records.</a:t>
            </a:r>
          </a:p>
        </p:txBody>
      </p:sp>
      <p:sp>
        <p:nvSpPr>
          <p:cNvPr id="15" name="Rectangle 14"/>
          <p:cNvSpPr/>
          <p:nvPr/>
        </p:nvSpPr>
        <p:spPr>
          <a:xfrm>
            <a:off x="777240" y="3602736"/>
            <a:ext cx="2103120" cy="6583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739896"/>
            <a:ext cx="2011680" cy="411480"/>
          </a:xfrm>
          <a:prstGeom prst="rect">
            <a:avLst/>
          </a:prstGeom>
          <a:noFill/>
        </p:spPr>
        <p:txBody>
          <a:bodyPr wrap="square">
            <a:spAutoFit/>
          </a:bodyPr>
          <a:lstStyle/>
          <a:p>
            <a:pPr algn="ctr"/>
            <a:r>
              <a:rPr sz="1000" b="1" i="0">
                <a:solidFill>
                  <a:srgbClr val="FFFFFF"/>
                </a:solidFill>
              </a:rPr>
              <a:t>Governance Ready</a:t>
            </a:r>
          </a:p>
        </p:txBody>
      </p:sp>
      <p:sp>
        <p:nvSpPr>
          <p:cNvPr id="17" name="TextBox 16"/>
          <p:cNvSpPr txBox="1"/>
          <p:nvPr/>
        </p:nvSpPr>
        <p:spPr>
          <a:xfrm>
            <a:off x="3017520" y="3694176"/>
            <a:ext cx="8869680" cy="502920"/>
          </a:xfrm>
          <a:prstGeom prst="rect">
            <a:avLst/>
          </a:prstGeom>
          <a:noFill/>
        </p:spPr>
        <p:txBody>
          <a:bodyPr wrap="square">
            <a:spAutoFit/>
          </a:bodyPr>
          <a:lstStyle/>
          <a:p>
            <a:pPr algn="l"/>
            <a:r>
              <a:rPr sz="1050" b="0" i="0">
                <a:solidFill>
                  <a:srgbClr val="DBEAFE"/>
                </a:solidFill>
              </a:rPr>
              <a:t>Enforced through a 5-Pillar binding charter ensuring human counselor supremacy, transparency, and student appeal rights.</a:t>
            </a:r>
          </a:p>
        </p:txBody>
      </p:sp>
      <p:sp>
        <p:nvSpPr>
          <p:cNvPr id="18" name="TextBox 17"/>
          <p:cNvSpPr txBox="1"/>
          <p:nvPr/>
        </p:nvSpPr>
        <p:spPr>
          <a:xfrm>
            <a:off x="777240" y="4526280"/>
            <a:ext cx="10515600" cy="292608"/>
          </a:xfrm>
          <a:prstGeom prst="rect">
            <a:avLst/>
          </a:prstGeom>
          <a:noFill/>
        </p:spPr>
        <p:txBody>
          <a:bodyPr wrap="square">
            <a:spAutoFit/>
          </a:bodyPr>
          <a:lstStyle/>
          <a:p>
            <a:pPr algn="l"/>
            <a:r>
              <a:rPr sz="1150" b="1" i="0">
                <a:solidFill>
                  <a:srgbClr val="93C5FD"/>
                </a:solidFill>
              </a:rPr>
              <a:t>Live Demo Transition Route (unified_governance_portal.html):</a:t>
            </a:r>
          </a:p>
        </p:txBody>
      </p:sp>
      <p:sp>
        <p:nvSpPr>
          <p:cNvPr id="19" name="TextBox 18"/>
          <p:cNvSpPr txBox="1"/>
          <p:nvPr/>
        </p:nvSpPr>
        <p:spPr>
          <a:xfrm>
            <a:off x="777240" y="4828032"/>
            <a:ext cx="10515600" cy="320040"/>
          </a:xfrm>
          <a:prstGeom prst="rect">
            <a:avLst/>
          </a:prstGeom>
          <a:noFill/>
        </p:spPr>
        <p:txBody>
          <a:bodyPr wrap="square">
            <a:spAutoFit/>
          </a:bodyPr>
          <a:lstStyle/>
          <a:p>
            <a:pPr algn="l"/>
            <a:r>
              <a:rPr sz="1100" b="0" i="1">
                <a:solidFill>
                  <a:srgbClr val="FFFFFF"/>
                </a:solidFill>
              </a:rPr>
              <a:t>"Now let's open our live AI Governance Command Center to see the real-time simulation..."</a:t>
            </a:r>
          </a:p>
        </p:txBody>
      </p:sp>
      <p:sp>
        <p:nvSpPr>
          <p:cNvPr id="20" name="Rectangle 19"/>
          <p:cNvSpPr/>
          <p:nvPr/>
        </p:nvSpPr>
        <p:spPr>
          <a:xfrm>
            <a:off x="777240" y="5257800"/>
            <a:ext cx="2148840" cy="960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5321808"/>
            <a:ext cx="2011680" cy="320040"/>
          </a:xfrm>
          <a:prstGeom prst="rect">
            <a:avLst/>
          </a:prstGeom>
          <a:noFill/>
        </p:spPr>
        <p:txBody>
          <a:bodyPr wrap="square">
            <a:spAutoFit/>
          </a:bodyPr>
          <a:lstStyle/>
          <a:p>
            <a:pPr algn="ctr"/>
            <a:r>
              <a:rPr sz="1000" b="1" i="0">
                <a:solidFill>
                  <a:srgbClr val="FFFFFF"/>
                </a:solidFill>
              </a:rPr>
              <a:t>Tab 1: Leaderboard</a:t>
            </a:r>
          </a:p>
        </p:txBody>
      </p:sp>
      <p:sp>
        <p:nvSpPr>
          <p:cNvPr id="22" name="TextBox 21"/>
          <p:cNvSpPr txBox="1"/>
          <p:nvPr/>
        </p:nvSpPr>
        <p:spPr>
          <a:xfrm>
            <a:off x="850392" y="5669280"/>
            <a:ext cx="2011680" cy="502920"/>
          </a:xfrm>
          <a:prstGeom prst="rect">
            <a:avLst/>
          </a:prstGeom>
          <a:noFill/>
        </p:spPr>
        <p:txBody>
          <a:bodyPr wrap="square">
            <a:spAutoFit/>
          </a:bodyPr>
          <a:lstStyle/>
          <a:p>
            <a:pPr algn="ctr"/>
            <a:r>
              <a:rPr sz="819" b="0" i="0">
                <a:solidFill>
                  <a:srgbClr val="FFFFFF"/>
                </a:solidFill>
              </a:rPr>
              <a:t>Early-warning table (GPA &gt; 0 test)</a:t>
            </a:r>
          </a:p>
        </p:txBody>
      </p:sp>
      <p:sp>
        <p:nvSpPr>
          <p:cNvPr id="23" name="Rectangle 22"/>
          <p:cNvSpPr/>
          <p:nvPr/>
        </p:nvSpPr>
        <p:spPr>
          <a:xfrm>
            <a:off x="3017520" y="5257800"/>
            <a:ext cx="2148840" cy="960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90672" y="5321808"/>
            <a:ext cx="2011680" cy="320040"/>
          </a:xfrm>
          <a:prstGeom prst="rect">
            <a:avLst/>
          </a:prstGeom>
          <a:noFill/>
        </p:spPr>
        <p:txBody>
          <a:bodyPr wrap="square">
            <a:spAutoFit/>
          </a:bodyPr>
          <a:lstStyle/>
          <a:p>
            <a:pPr algn="ctr"/>
            <a:r>
              <a:rPr sz="1000" b="1" i="0">
                <a:solidFill>
                  <a:srgbClr val="FFFFFF"/>
                </a:solidFill>
              </a:rPr>
              <a:t>Tab 2: Macro SHAP</a:t>
            </a:r>
          </a:p>
        </p:txBody>
      </p:sp>
      <p:sp>
        <p:nvSpPr>
          <p:cNvPr id="25" name="TextBox 24"/>
          <p:cNvSpPr txBox="1"/>
          <p:nvPr/>
        </p:nvSpPr>
        <p:spPr>
          <a:xfrm>
            <a:off x="3090672" y="5669280"/>
            <a:ext cx="2011680" cy="502920"/>
          </a:xfrm>
          <a:prstGeom prst="rect">
            <a:avLst/>
          </a:prstGeom>
          <a:noFill/>
        </p:spPr>
        <p:txBody>
          <a:bodyPr wrap="square">
            <a:spAutoFit/>
          </a:bodyPr>
          <a:lstStyle/>
          <a:p>
            <a:pPr algn="ctr"/>
            <a:r>
              <a:rPr sz="819" b="0" i="0">
                <a:solidFill>
                  <a:srgbClr val="FFFFFF"/>
                </a:solidFill>
              </a:rPr>
              <a:t>English Beeswarm feature attributions</a:t>
            </a:r>
          </a:p>
        </p:txBody>
      </p:sp>
      <p:sp>
        <p:nvSpPr>
          <p:cNvPr id="26" name="Rectangle 25"/>
          <p:cNvSpPr/>
          <p:nvPr/>
        </p:nvSpPr>
        <p:spPr>
          <a:xfrm>
            <a:off x="5257800" y="5257800"/>
            <a:ext cx="2148840" cy="9601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30952" y="5321808"/>
            <a:ext cx="2011680" cy="320040"/>
          </a:xfrm>
          <a:prstGeom prst="rect">
            <a:avLst/>
          </a:prstGeom>
          <a:noFill/>
        </p:spPr>
        <p:txBody>
          <a:bodyPr wrap="square">
            <a:spAutoFit/>
          </a:bodyPr>
          <a:lstStyle/>
          <a:p>
            <a:pPr algn="ctr"/>
            <a:r>
              <a:rPr sz="1000" b="1" i="0">
                <a:solidFill>
                  <a:srgbClr val="FFFFFF"/>
                </a:solidFill>
              </a:rPr>
              <a:t>Tab 3: Micro XAI ★</a:t>
            </a:r>
          </a:p>
        </p:txBody>
      </p:sp>
      <p:sp>
        <p:nvSpPr>
          <p:cNvPr id="28" name="TextBox 27"/>
          <p:cNvSpPr txBox="1"/>
          <p:nvPr/>
        </p:nvSpPr>
        <p:spPr>
          <a:xfrm>
            <a:off x="5330952" y="5669280"/>
            <a:ext cx="2011680" cy="502920"/>
          </a:xfrm>
          <a:prstGeom prst="rect">
            <a:avLst/>
          </a:prstGeom>
          <a:noFill/>
        </p:spPr>
        <p:txBody>
          <a:bodyPr wrap="square">
            <a:spAutoFit/>
          </a:bodyPr>
          <a:lstStyle/>
          <a:p>
            <a:pPr algn="ctr"/>
            <a:r>
              <a:rPr sz="819" b="0" i="0">
                <a:solidFill>
                  <a:srgbClr val="FFFFFF"/>
                </a:solidFill>
              </a:rPr>
              <a:t>Student #43 slider: 68%→85% flips risk 65%→28%</a:t>
            </a:r>
          </a:p>
        </p:txBody>
      </p:sp>
      <p:sp>
        <p:nvSpPr>
          <p:cNvPr id="29" name="Rectangle 28"/>
          <p:cNvSpPr/>
          <p:nvPr/>
        </p:nvSpPr>
        <p:spPr>
          <a:xfrm>
            <a:off x="7498080" y="5257800"/>
            <a:ext cx="2148840" cy="960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2" y="5321808"/>
            <a:ext cx="2011680" cy="320040"/>
          </a:xfrm>
          <a:prstGeom prst="rect">
            <a:avLst/>
          </a:prstGeom>
          <a:noFill/>
        </p:spPr>
        <p:txBody>
          <a:bodyPr wrap="square">
            <a:spAutoFit/>
          </a:bodyPr>
          <a:lstStyle/>
          <a:p>
            <a:pPr algn="ctr"/>
            <a:r>
              <a:rPr sz="1000" b="1" i="0">
                <a:solidFill>
                  <a:srgbClr val="FFFFFF"/>
                </a:solidFill>
              </a:rPr>
              <a:t>Tab 4: Fairness</a:t>
            </a:r>
          </a:p>
        </p:txBody>
      </p:sp>
      <p:sp>
        <p:nvSpPr>
          <p:cNvPr id="31" name="TextBox 30"/>
          <p:cNvSpPr txBox="1"/>
          <p:nvPr/>
        </p:nvSpPr>
        <p:spPr>
          <a:xfrm>
            <a:off x="7571232" y="5669280"/>
            <a:ext cx="2011680" cy="502920"/>
          </a:xfrm>
          <a:prstGeom prst="rect">
            <a:avLst/>
          </a:prstGeom>
          <a:noFill/>
        </p:spPr>
        <p:txBody>
          <a:bodyPr wrap="square">
            <a:spAutoFit/>
          </a:bodyPr>
          <a:lstStyle/>
          <a:p>
            <a:pPr algn="ctr"/>
            <a:r>
              <a:rPr sz="819" b="0" i="0">
                <a:solidFill>
                  <a:srgbClr val="FFFFFF"/>
                </a:solidFill>
              </a:rPr>
              <a:t>Green PASSED badges &amp; 8-group matrix</a:t>
            </a:r>
          </a:p>
        </p:txBody>
      </p:sp>
      <p:sp>
        <p:nvSpPr>
          <p:cNvPr id="32" name="Rectangle 31"/>
          <p:cNvSpPr/>
          <p:nvPr/>
        </p:nvSpPr>
        <p:spPr>
          <a:xfrm>
            <a:off x="9738360" y="5257800"/>
            <a:ext cx="2148840" cy="960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11512" y="5321808"/>
            <a:ext cx="2011680" cy="320040"/>
          </a:xfrm>
          <a:prstGeom prst="rect">
            <a:avLst/>
          </a:prstGeom>
          <a:noFill/>
        </p:spPr>
        <p:txBody>
          <a:bodyPr wrap="square">
            <a:spAutoFit/>
          </a:bodyPr>
          <a:lstStyle/>
          <a:p>
            <a:pPr algn="ctr"/>
            <a:r>
              <a:rPr sz="1000" b="1" i="0">
                <a:solidFill>
                  <a:srgbClr val="FFFFFF"/>
                </a:solidFill>
              </a:rPr>
              <a:t>Tab 5: Governance</a:t>
            </a:r>
          </a:p>
        </p:txBody>
      </p:sp>
      <p:sp>
        <p:nvSpPr>
          <p:cNvPr id="34" name="TextBox 33"/>
          <p:cNvSpPr txBox="1"/>
          <p:nvPr/>
        </p:nvSpPr>
        <p:spPr>
          <a:xfrm>
            <a:off x="9811512" y="5669280"/>
            <a:ext cx="2011680" cy="502920"/>
          </a:xfrm>
          <a:prstGeom prst="rect">
            <a:avLst/>
          </a:prstGeom>
          <a:noFill/>
        </p:spPr>
        <p:txBody>
          <a:bodyPr wrap="square">
            <a:spAutoFit/>
          </a:bodyPr>
          <a:lstStyle/>
          <a:p>
            <a:pPr algn="ctr"/>
            <a:r>
              <a:rPr sz="819" b="0" i="0">
                <a:solidFill>
                  <a:srgbClr val="FFFFFF"/>
                </a:solidFill>
              </a:rPr>
              <a:t>5 binding policy lifecycle principles</a:t>
            </a:r>
          </a:p>
        </p:txBody>
      </p:sp>
      <p:sp>
        <p:nvSpPr>
          <p:cNvPr id="35" name="TextBox 34"/>
          <p:cNvSpPr txBox="1"/>
          <p:nvPr/>
        </p:nvSpPr>
        <p:spPr>
          <a:xfrm>
            <a:off x="777240" y="6446520"/>
            <a:ext cx="10515600" cy="256032"/>
          </a:xfrm>
          <a:prstGeom prst="rect">
            <a:avLst/>
          </a:prstGeom>
          <a:noFill/>
        </p:spPr>
        <p:txBody>
          <a:bodyPr wrap="square">
            <a:spAutoFit/>
          </a:bodyPr>
          <a:lstStyle/>
          <a:p>
            <a:pPr algn="l"/>
            <a:r>
              <a:rPr sz="950" b="0" i="0">
                <a:solidFill>
                  <a:srgbClr val="60A5FA"/>
                </a:solidFill>
              </a:rPr>
              <a:t>Repository: github.com/TejasviKolhe193/Student-performance-XAI-governance-framework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312E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66928"/>
          </a:xfrm>
          <a:prstGeom prst="rect">
            <a:avLst/>
          </a:prstGeom>
          <a:noFill/>
        </p:spPr>
        <p:txBody>
          <a:bodyPr wrap="square">
            <a:spAutoFit/>
          </a:bodyPr>
          <a:lstStyle/>
          <a:p>
            <a:pPr algn="l"/>
            <a:r>
              <a:rPr sz="2300" b="1" i="0">
                <a:solidFill>
                  <a:srgbClr val="FFFFFF"/>
                </a:solidFill>
              </a:rPr>
              <a:t>Appendix A: Evaluator Defense Battle Card — Dataset &amp; Modeling</a:t>
            </a:r>
          </a:p>
        </p:txBody>
      </p:sp>
      <p:sp>
        <p:nvSpPr>
          <p:cNvPr id="5" name="TextBox 4"/>
          <p:cNvSpPr txBox="1"/>
          <p:nvPr/>
        </p:nvSpPr>
        <p:spPr>
          <a:xfrm>
            <a:off x="365760" y="640080"/>
            <a:ext cx="11430000" cy="411480"/>
          </a:xfrm>
          <a:prstGeom prst="rect">
            <a:avLst/>
          </a:prstGeom>
          <a:noFill/>
        </p:spPr>
        <p:txBody>
          <a:bodyPr wrap="square">
            <a:spAutoFit/>
          </a:bodyPr>
          <a:lstStyle/>
          <a:p>
            <a:pPr algn="l"/>
            <a:r>
              <a:rPr sz="1100" b="0" i="0">
                <a:solidFill>
                  <a:srgbClr val="BFDBFF"/>
                </a:solidFill>
              </a:rPr>
              <a:t>Rigorous defenses for tough academic questions regarding data scope &amp; algorithm selection</a:t>
            </a:r>
          </a:p>
        </p:txBody>
      </p:sp>
      <p:sp>
        <p:nvSpPr>
          <p:cNvPr id="6" name="Rectangle 5"/>
          <p:cNvSpPr/>
          <p:nvPr/>
        </p:nvSpPr>
        <p:spPr>
          <a:xfrm>
            <a:off x="0" y="6565392"/>
            <a:ext cx="12188952"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74536"/>
            <a:ext cx="9601200" cy="256032"/>
          </a:xfrm>
          <a:prstGeom prst="rect">
            <a:avLst/>
          </a:prstGeom>
          <a:noFill/>
        </p:spPr>
        <p:txBody>
          <a:bodyPr wrap="square">
            <a:spAutoFit/>
          </a:bodyPr>
          <a:lstStyle/>
          <a:p>
            <a:pPr algn="l"/>
            <a:r>
              <a:rPr sz="850" b="0" i="0">
                <a:solidFill>
                  <a:srgbClr val="FFFFFF"/>
                </a:solidFill>
              </a:rPr>
              <a:t>Student Dropout XAI &amp; Governance Framework  |  Evaluation Presentation &amp; Defense</a:t>
            </a:r>
          </a:p>
        </p:txBody>
      </p:sp>
      <p:sp>
        <p:nvSpPr>
          <p:cNvPr id="8" name="TextBox 7"/>
          <p:cNvSpPr txBox="1"/>
          <p:nvPr/>
        </p:nvSpPr>
        <p:spPr>
          <a:xfrm>
            <a:off x="10515600" y="6574536"/>
            <a:ext cx="1371600" cy="256032"/>
          </a:xfrm>
          <a:prstGeom prst="rect">
            <a:avLst/>
          </a:prstGeom>
          <a:noFill/>
        </p:spPr>
        <p:txBody>
          <a:bodyPr wrap="square">
            <a:spAutoFit/>
          </a:bodyPr>
          <a:lstStyle/>
          <a:p>
            <a:pPr algn="r"/>
            <a:r>
              <a:rPr sz="850" b="0" i="0">
                <a:solidFill>
                  <a:srgbClr val="FFFFFF"/>
                </a:solidFill>
              </a:rPr>
              <a:t>Appendix A</a:t>
            </a:r>
          </a:p>
        </p:txBody>
      </p:sp>
      <p:sp>
        <p:nvSpPr>
          <p:cNvPr id="9" name="Rectangle 8"/>
          <p:cNvSpPr/>
          <p:nvPr/>
        </p:nvSpPr>
        <p:spPr>
          <a:xfrm>
            <a:off x="320040" y="1325880"/>
            <a:ext cx="11539728" cy="2331720"/>
          </a:xfrm>
          <a:prstGeom prst="rect">
            <a:avLst/>
          </a:prstGeom>
          <a:solidFill>
            <a:srgbClr val="F1F5F9"/>
          </a:solidFill>
          <a:ln w="19050">
            <a:solidFill>
              <a:srgbClr val="312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325880"/>
            <a:ext cx="11539728" cy="384048"/>
          </a:xfrm>
          <a:prstGeom prst="rect">
            <a:avLst/>
          </a:prstGeom>
          <a:solidFill>
            <a:srgbClr val="312E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380744"/>
            <a:ext cx="11247120" cy="274320"/>
          </a:xfrm>
          <a:prstGeom prst="rect">
            <a:avLst/>
          </a:prstGeom>
          <a:noFill/>
        </p:spPr>
        <p:txBody>
          <a:bodyPr wrap="square">
            <a:spAutoFit/>
          </a:bodyPr>
          <a:lstStyle/>
          <a:p>
            <a:pPr algn="l"/>
            <a:r>
              <a:rPr sz="1100" b="1" i="0">
                <a:solidFill>
                  <a:srgbClr val="FFFFFF"/>
                </a:solidFill>
              </a:rPr>
              <a:t>Q1: Why did you only evaluate on this one dataset instead of three benchmarks (e.g., UCI, OULAD)?</a:t>
            </a:r>
          </a:p>
        </p:txBody>
      </p:sp>
      <p:sp>
        <p:nvSpPr>
          <p:cNvPr id="12" name="TextBox 11"/>
          <p:cNvSpPr txBox="1"/>
          <p:nvPr/>
        </p:nvSpPr>
        <p:spPr>
          <a:xfrm>
            <a:off x="457200" y="1764792"/>
            <a:ext cx="11247120" cy="228600"/>
          </a:xfrm>
          <a:prstGeom prst="rect">
            <a:avLst/>
          </a:prstGeom>
          <a:noFill/>
        </p:spPr>
        <p:txBody>
          <a:bodyPr wrap="square">
            <a:spAutoFit/>
          </a:bodyPr>
          <a:lstStyle/>
          <a:p>
            <a:pPr algn="l"/>
            <a:r>
              <a:rPr sz="950" b="0" i="1">
                <a:solidFill>
                  <a:srgbClr val="6B7280"/>
                </a:solidFill>
              </a:rPr>
              <a:t>Evaluator Challenge: Questions external generalizability and multi-dataset testing.</a:t>
            </a:r>
          </a:p>
        </p:txBody>
      </p:sp>
      <p:sp>
        <p:nvSpPr>
          <p:cNvPr id="13" name="TextBox 12"/>
          <p:cNvSpPr txBox="1"/>
          <p:nvPr/>
        </p:nvSpPr>
        <p:spPr>
          <a:xfrm>
            <a:off x="457200" y="2039112"/>
            <a:ext cx="11247120" cy="1463040"/>
          </a:xfrm>
          <a:prstGeom prst="rect">
            <a:avLst/>
          </a:prstGeom>
          <a:noFill/>
        </p:spPr>
        <p:txBody>
          <a:bodyPr wrap="square">
            <a:spAutoFit/>
          </a:bodyPr>
          <a:lstStyle/>
          <a:p>
            <a:pPr algn="l"/>
            <a:r>
              <a:rPr sz="1000" b="0" i="0">
                <a:solidFill>
                  <a:srgbClr val="1F2937"/>
                </a:solidFill>
              </a:rPr>
              <a:t>Defense Response: 'Sir, we evaluated UCI Student Performance and OULAD at project inception, but neither dataset contained the full demographic triad of self-declared Race/Ethnicity, Gender, and Household Income required for an authentic legal fairness audit under the EEOC Four-Fifths rule. To execute a deep 48-experiment benchmark with SHAP, LIME, and an 8-slice intersectional matrix, this 15,084-student institutional dataset was the only one with real, un-anonymized demographic variables. Furthermore, our pipeline is fully modular—plugging in UCI or OULAD is our immediate next step for future multi-institution transfer.'</a:t>
            </a:r>
          </a:p>
        </p:txBody>
      </p:sp>
      <p:sp>
        <p:nvSpPr>
          <p:cNvPr id="14" name="Rectangle 13"/>
          <p:cNvSpPr/>
          <p:nvPr/>
        </p:nvSpPr>
        <p:spPr>
          <a:xfrm>
            <a:off x="320040" y="3840480"/>
            <a:ext cx="11539728" cy="2331720"/>
          </a:xfrm>
          <a:prstGeom prst="rect">
            <a:avLst/>
          </a:prstGeom>
          <a:solidFill>
            <a:srgbClr val="F1F5F9"/>
          </a:solidFill>
          <a:ln w="19050">
            <a:solidFill>
              <a:srgbClr val="312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3840480"/>
            <a:ext cx="11539728" cy="384048"/>
          </a:xfrm>
          <a:prstGeom prst="rect">
            <a:avLst/>
          </a:prstGeom>
          <a:solidFill>
            <a:srgbClr val="312E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95344"/>
            <a:ext cx="11247120" cy="274320"/>
          </a:xfrm>
          <a:prstGeom prst="rect">
            <a:avLst/>
          </a:prstGeom>
          <a:noFill/>
        </p:spPr>
        <p:txBody>
          <a:bodyPr wrap="square">
            <a:spAutoFit/>
          </a:bodyPr>
          <a:lstStyle/>
          <a:p>
            <a:pPr algn="l"/>
            <a:r>
              <a:rPr sz="1100" b="1" i="0">
                <a:solidFill>
                  <a:srgbClr val="FFFFFF"/>
                </a:solidFill>
              </a:rPr>
              <a:t>Q2: Why did you choose Random Forest over Deep Neural Networks or XGBoost?</a:t>
            </a:r>
          </a:p>
        </p:txBody>
      </p:sp>
      <p:sp>
        <p:nvSpPr>
          <p:cNvPr id="17" name="TextBox 16"/>
          <p:cNvSpPr txBox="1"/>
          <p:nvPr/>
        </p:nvSpPr>
        <p:spPr>
          <a:xfrm>
            <a:off x="457200" y="4279392"/>
            <a:ext cx="11247120" cy="228600"/>
          </a:xfrm>
          <a:prstGeom prst="rect">
            <a:avLst/>
          </a:prstGeom>
          <a:noFill/>
        </p:spPr>
        <p:txBody>
          <a:bodyPr wrap="square">
            <a:spAutoFit/>
          </a:bodyPr>
          <a:lstStyle/>
          <a:p>
            <a:pPr algn="l"/>
            <a:r>
              <a:rPr sz="950" b="0" i="1">
                <a:solidFill>
                  <a:srgbClr val="6B7280"/>
                </a:solidFill>
              </a:rPr>
              <a:t>Evaluator Challenge: Asks why advanced deep learning wasn't used for tabular classification.</a:t>
            </a:r>
          </a:p>
        </p:txBody>
      </p:sp>
      <p:sp>
        <p:nvSpPr>
          <p:cNvPr id="18" name="TextBox 17"/>
          <p:cNvSpPr txBox="1"/>
          <p:nvPr/>
        </p:nvSpPr>
        <p:spPr>
          <a:xfrm>
            <a:off x="457200" y="4553712"/>
            <a:ext cx="11247120" cy="1463040"/>
          </a:xfrm>
          <a:prstGeom prst="rect">
            <a:avLst/>
          </a:prstGeom>
          <a:noFill/>
        </p:spPr>
        <p:txBody>
          <a:bodyPr wrap="square">
            <a:spAutoFit/>
          </a:bodyPr>
          <a:lstStyle/>
          <a:p>
            <a:pPr algn="l"/>
            <a:r>
              <a:rPr sz="1000" b="0" i="0">
                <a:solidFill>
                  <a:srgbClr val="1F2937"/>
                </a:solidFill>
              </a:rPr>
              <a:t>Defense Response: 'Extensive empirical literature in tabular educational data (e.g., Grinsztajn et al., NeurIPS 2022) demonstrates that tree-based ensembles consistently match or outperform deep networks on tabular features with unnormalized distributions. Random Forest was selected because: (1) Bagging provides robust resistance to overfitting on imbalanced cohorts, (2) It requires zero uninterpretable latent projection, and (3) It integrates seamlessly with exact TreeExplainer SHAP values with polynomial runtime O(TLD^2), guaranteeing exact Shapley efficiency.'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312E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66928"/>
          </a:xfrm>
          <a:prstGeom prst="rect">
            <a:avLst/>
          </a:prstGeom>
          <a:noFill/>
        </p:spPr>
        <p:txBody>
          <a:bodyPr wrap="square">
            <a:spAutoFit/>
          </a:bodyPr>
          <a:lstStyle/>
          <a:p>
            <a:pPr algn="l"/>
            <a:r>
              <a:rPr sz="2300" b="1" i="0">
                <a:solidFill>
                  <a:srgbClr val="FFFFFF"/>
                </a:solidFill>
              </a:rPr>
              <a:t>Appendix B: Evaluator Defense Battle Card — Features &amp; Data Integrity</a:t>
            </a:r>
          </a:p>
        </p:txBody>
      </p:sp>
      <p:sp>
        <p:nvSpPr>
          <p:cNvPr id="5" name="TextBox 4"/>
          <p:cNvSpPr txBox="1"/>
          <p:nvPr/>
        </p:nvSpPr>
        <p:spPr>
          <a:xfrm>
            <a:off x="365760" y="640080"/>
            <a:ext cx="11430000" cy="411480"/>
          </a:xfrm>
          <a:prstGeom prst="rect">
            <a:avLst/>
          </a:prstGeom>
          <a:noFill/>
        </p:spPr>
        <p:txBody>
          <a:bodyPr wrap="square">
            <a:spAutoFit/>
          </a:bodyPr>
          <a:lstStyle/>
          <a:p>
            <a:pPr algn="l"/>
            <a:r>
              <a:rPr sz="1100" b="0" i="0">
                <a:solidFill>
                  <a:srgbClr val="BFDBFF"/>
                </a:solidFill>
              </a:rPr>
              <a:t>Rigorous defenses for feature prioritization, synthetic data questions, and pipeline reproducibility</a:t>
            </a:r>
          </a:p>
        </p:txBody>
      </p:sp>
      <p:sp>
        <p:nvSpPr>
          <p:cNvPr id="6" name="Rectangle 5"/>
          <p:cNvSpPr/>
          <p:nvPr/>
        </p:nvSpPr>
        <p:spPr>
          <a:xfrm>
            <a:off x="0" y="6565392"/>
            <a:ext cx="12188952"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74536"/>
            <a:ext cx="9601200" cy="256032"/>
          </a:xfrm>
          <a:prstGeom prst="rect">
            <a:avLst/>
          </a:prstGeom>
          <a:noFill/>
        </p:spPr>
        <p:txBody>
          <a:bodyPr wrap="square">
            <a:spAutoFit/>
          </a:bodyPr>
          <a:lstStyle/>
          <a:p>
            <a:pPr algn="l"/>
            <a:r>
              <a:rPr sz="850" b="0" i="0">
                <a:solidFill>
                  <a:srgbClr val="FFFFFF"/>
                </a:solidFill>
              </a:rPr>
              <a:t>Student Dropout XAI &amp; Governance Framework  |  Evaluation Presentation &amp; Defense</a:t>
            </a:r>
          </a:p>
        </p:txBody>
      </p:sp>
      <p:sp>
        <p:nvSpPr>
          <p:cNvPr id="8" name="TextBox 7"/>
          <p:cNvSpPr txBox="1"/>
          <p:nvPr/>
        </p:nvSpPr>
        <p:spPr>
          <a:xfrm>
            <a:off x="10515600" y="6574536"/>
            <a:ext cx="1371600" cy="256032"/>
          </a:xfrm>
          <a:prstGeom prst="rect">
            <a:avLst/>
          </a:prstGeom>
          <a:noFill/>
        </p:spPr>
        <p:txBody>
          <a:bodyPr wrap="square">
            <a:spAutoFit/>
          </a:bodyPr>
          <a:lstStyle/>
          <a:p>
            <a:pPr algn="r"/>
            <a:r>
              <a:rPr sz="850" b="0" i="0">
                <a:solidFill>
                  <a:srgbClr val="FFFFFF"/>
                </a:solidFill>
              </a:rPr>
              <a:t>Appendix B</a:t>
            </a:r>
          </a:p>
        </p:txBody>
      </p:sp>
      <p:sp>
        <p:nvSpPr>
          <p:cNvPr id="9" name="Rectangle 8"/>
          <p:cNvSpPr/>
          <p:nvPr/>
        </p:nvSpPr>
        <p:spPr>
          <a:xfrm>
            <a:off x="320040" y="1325880"/>
            <a:ext cx="11539728" cy="1554480"/>
          </a:xfrm>
          <a:prstGeom prst="rect">
            <a:avLst/>
          </a:prstGeom>
          <a:solidFill>
            <a:srgbClr val="F1F5F9"/>
          </a:solidFill>
          <a:ln w="19050">
            <a:solidFill>
              <a:srgbClr val="312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325880"/>
            <a:ext cx="11539728" cy="347472"/>
          </a:xfrm>
          <a:prstGeom prst="rect">
            <a:avLst/>
          </a:prstGeom>
          <a:solidFill>
            <a:srgbClr val="312E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371600"/>
            <a:ext cx="11247120" cy="256032"/>
          </a:xfrm>
          <a:prstGeom prst="rect">
            <a:avLst/>
          </a:prstGeom>
          <a:noFill/>
        </p:spPr>
        <p:txBody>
          <a:bodyPr wrap="square">
            <a:spAutoFit/>
          </a:bodyPr>
          <a:lstStyle/>
          <a:p>
            <a:pPr algn="l"/>
            <a:r>
              <a:rPr sz="1050" b="1" i="0">
                <a:solidFill>
                  <a:srgbClr val="FFFFFF"/>
                </a:solidFill>
              </a:rPr>
              <a:t>Q3: Why did Silva et al. (IEEE 2025) find Attendance as #1, but your #1 feature is Cumulative GPA (ira)?</a:t>
            </a:r>
          </a:p>
        </p:txBody>
      </p:sp>
      <p:sp>
        <p:nvSpPr>
          <p:cNvPr id="12" name="TextBox 11"/>
          <p:cNvSpPr txBox="1"/>
          <p:nvPr/>
        </p:nvSpPr>
        <p:spPr>
          <a:xfrm>
            <a:off x="457200" y="1737360"/>
            <a:ext cx="11247120" cy="1051560"/>
          </a:xfrm>
          <a:prstGeom prst="rect">
            <a:avLst/>
          </a:prstGeom>
          <a:noFill/>
        </p:spPr>
        <p:txBody>
          <a:bodyPr wrap="square">
            <a:spAutoFit/>
          </a:bodyPr>
          <a:lstStyle/>
          <a:p>
            <a:pPr algn="l"/>
            <a:r>
              <a:rPr sz="950" b="0" i="0">
                <a:solidFill>
                  <a:srgbClr val="1F2937"/>
                </a:solidFill>
              </a:rPr>
              <a:t>Defense Response: 'Silva et al. intentionally excluded GPA because their research objective was strictly a pre-enrollment admission indicator. In contrast, our institutional objective was to build an operational early-warning system during the student's first year. Adding GPA increased test accuracy from 85.2% to 92.9% and precision from 64% to 83.6%, while attendance remained our #2 decisive behavioral factor.'</a:t>
            </a:r>
          </a:p>
        </p:txBody>
      </p:sp>
      <p:sp>
        <p:nvSpPr>
          <p:cNvPr id="13" name="Rectangle 12"/>
          <p:cNvSpPr/>
          <p:nvPr/>
        </p:nvSpPr>
        <p:spPr>
          <a:xfrm>
            <a:off x="320040" y="2990088"/>
            <a:ext cx="11539728" cy="1554480"/>
          </a:xfrm>
          <a:prstGeom prst="rect">
            <a:avLst/>
          </a:prstGeom>
          <a:solidFill>
            <a:srgbClr val="F1F5F9"/>
          </a:solidFill>
          <a:ln w="19050">
            <a:solidFill>
              <a:srgbClr val="312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0040" y="2990088"/>
            <a:ext cx="11539728" cy="347472"/>
          </a:xfrm>
          <a:prstGeom prst="rect">
            <a:avLst/>
          </a:prstGeom>
          <a:solidFill>
            <a:srgbClr val="312E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35808"/>
            <a:ext cx="11247120" cy="256032"/>
          </a:xfrm>
          <a:prstGeom prst="rect">
            <a:avLst/>
          </a:prstGeom>
          <a:noFill/>
        </p:spPr>
        <p:txBody>
          <a:bodyPr wrap="square">
            <a:spAutoFit/>
          </a:bodyPr>
          <a:lstStyle/>
          <a:p>
            <a:pPr algn="l"/>
            <a:r>
              <a:rPr sz="1050" b="1" i="0">
                <a:solidFill>
                  <a:srgbClr val="FFFFFF"/>
                </a:solidFill>
              </a:rPr>
              <a:t>Q4: Did your algorithmic fairness audit evaluate synthetic SMOTE students?</a:t>
            </a:r>
          </a:p>
        </p:txBody>
      </p:sp>
      <p:sp>
        <p:nvSpPr>
          <p:cNvPr id="16" name="TextBox 15"/>
          <p:cNvSpPr txBox="1"/>
          <p:nvPr/>
        </p:nvSpPr>
        <p:spPr>
          <a:xfrm>
            <a:off x="457200" y="3401568"/>
            <a:ext cx="11247120" cy="1051560"/>
          </a:xfrm>
          <a:prstGeom prst="rect">
            <a:avLst/>
          </a:prstGeom>
          <a:noFill/>
        </p:spPr>
        <p:txBody>
          <a:bodyPr wrap="square">
            <a:spAutoFit/>
          </a:bodyPr>
          <a:lstStyle/>
          <a:p>
            <a:pPr algn="l"/>
            <a:r>
              <a:rPr sz="950" b="0" i="0">
                <a:solidFill>
                  <a:srgbClr val="1F2937"/>
                </a:solidFill>
              </a:rPr>
              <a:t>Defense Response: 'Absolutely not! While SMOTE was evaluated during training balancing in Phase 2, all fairness audits in Phase 4 were conducted strictly on 100% real human records by matching the 3,017 held-out test indices back to the raw administrative records. All compound subgroup numbers (e.g., 753 Female Minority Low-Income students) represent authentic human students.'</a:t>
            </a:r>
          </a:p>
        </p:txBody>
      </p:sp>
      <p:sp>
        <p:nvSpPr>
          <p:cNvPr id="17" name="Rectangle 16"/>
          <p:cNvSpPr/>
          <p:nvPr/>
        </p:nvSpPr>
        <p:spPr>
          <a:xfrm>
            <a:off x="320040" y="4654296"/>
            <a:ext cx="11539728" cy="1554480"/>
          </a:xfrm>
          <a:prstGeom prst="rect">
            <a:avLst/>
          </a:prstGeom>
          <a:solidFill>
            <a:srgbClr val="F1F5F9"/>
          </a:solidFill>
          <a:ln w="19050">
            <a:solidFill>
              <a:srgbClr val="312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0040" y="4654296"/>
            <a:ext cx="11539728" cy="347472"/>
          </a:xfrm>
          <a:prstGeom prst="rect">
            <a:avLst/>
          </a:prstGeom>
          <a:solidFill>
            <a:srgbClr val="312E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700016"/>
            <a:ext cx="11247120" cy="256032"/>
          </a:xfrm>
          <a:prstGeom prst="rect">
            <a:avLst/>
          </a:prstGeom>
          <a:noFill/>
        </p:spPr>
        <p:txBody>
          <a:bodyPr wrap="square">
            <a:spAutoFit/>
          </a:bodyPr>
          <a:lstStyle/>
          <a:p>
            <a:pPr algn="l"/>
            <a:r>
              <a:rPr sz="1050" b="1" i="0">
                <a:solidFill>
                  <a:srgbClr val="FFFFFF"/>
                </a:solidFill>
              </a:rPr>
              <a:t>Q5: Can you prove the integrity between raw institutional files and your clean matrix?</a:t>
            </a:r>
          </a:p>
        </p:txBody>
      </p:sp>
      <p:sp>
        <p:nvSpPr>
          <p:cNvPr id="20" name="TextBox 19"/>
          <p:cNvSpPr txBox="1"/>
          <p:nvPr/>
        </p:nvSpPr>
        <p:spPr>
          <a:xfrm>
            <a:off x="457200" y="5065776"/>
            <a:ext cx="11247120" cy="1051560"/>
          </a:xfrm>
          <a:prstGeom prst="rect">
            <a:avLst/>
          </a:prstGeom>
          <a:noFill/>
        </p:spPr>
        <p:txBody>
          <a:bodyPr wrap="square">
            <a:spAutoFit/>
          </a:bodyPr>
          <a:lstStyle/>
          <a:p>
            <a:pPr algn="l"/>
            <a:r>
              <a:rPr sz="950" b="0" i="0">
                <a:solidFill>
                  <a:srgbClr val="1F2937"/>
                </a:solidFill>
              </a:rPr>
              <a:t>Defense Response: 'Yes! Both are preserved in phase1_outputs/. The raw administrative file contains 48,311 rows with Portuguese institutional strings, while preprocessed_dataset_english.csv contains the clean, Winsorized, 15,084 terminal student matrix with 33 encoded features and target_dropout_class.'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